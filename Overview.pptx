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8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303" r:id="rId2"/>
    <p:sldId id="264" r:id="rId3"/>
    <p:sldId id="305" r:id="rId4"/>
    <p:sldId id="321" r:id="rId5"/>
    <p:sldId id="272" r:id="rId6"/>
    <p:sldId id="277" r:id="rId7"/>
    <p:sldId id="319" r:id="rId8"/>
    <p:sldId id="320" r:id="rId9"/>
    <p:sldId id="306" r:id="rId10"/>
    <p:sldId id="296" r:id="rId11"/>
    <p:sldId id="300" r:id="rId12"/>
    <p:sldId id="310" r:id="rId13"/>
    <p:sldId id="256" r:id="rId14"/>
    <p:sldId id="292" r:id="rId15"/>
    <p:sldId id="323" r:id="rId16"/>
    <p:sldId id="288" r:id="rId17"/>
    <p:sldId id="289" r:id="rId18"/>
    <p:sldId id="290" r:id="rId19"/>
    <p:sldId id="316" r:id="rId20"/>
    <p:sldId id="295" r:id="rId21"/>
    <p:sldId id="309" r:id="rId22"/>
    <p:sldId id="304" r:id="rId23"/>
    <p:sldId id="269" r:id="rId24"/>
    <p:sldId id="271" r:id="rId25"/>
    <p:sldId id="270" r:id="rId26"/>
    <p:sldId id="315" r:id="rId27"/>
    <p:sldId id="317" r:id="rId28"/>
    <p:sldId id="318" r:id="rId29"/>
    <p:sldId id="283" r:id="rId30"/>
    <p:sldId id="301" r:id="rId31"/>
    <p:sldId id="284" r:id="rId32"/>
    <p:sldId id="302" r:id="rId33"/>
    <p:sldId id="307" r:id="rId34"/>
    <p:sldId id="312" r:id="rId35"/>
    <p:sldId id="286" r:id="rId36"/>
    <p:sldId id="324" r:id="rId37"/>
    <p:sldId id="314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0C4958-65C6-4BB2-84C8-29C74AE2C827}" v="2" dt="2025-06-11T22:25:55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97" autoAdjust="0"/>
    <p:restoredTop sz="95223" autoAdjust="0"/>
  </p:normalViewPr>
  <p:slideViewPr>
    <p:cSldViewPr snapToGrid="0">
      <p:cViewPr varScale="1">
        <p:scale>
          <a:sx n="102" d="100"/>
          <a:sy n="102" d="100"/>
        </p:scale>
        <p:origin x="68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4" Type="http://schemas.openxmlformats.org/officeDocument/2006/relationships/image" Target="../media/image34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38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4" Type="http://schemas.openxmlformats.org/officeDocument/2006/relationships/image" Target="../media/image50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4" Type="http://schemas.openxmlformats.org/officeDocument/2006/relationships/image" Target="../media/image3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38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4" Type="http://schemas.openxmlformats.org/officeDocument/2006/relationships/image" Target="../media/image50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A8949E-9643-4530-AC6A-BAC754BE82A7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A20DB057-4DC6-41AC-A147-4E050D3D53D1}">
      <dgm:prSet/>
      <dgm:spPr/>
      <dgm:t>
        <a:bodyPr/>
        <a:lstStyle/>
        <a:p>
          <a:r>
            <a:rPr lang="en-US" b="1" dirty="0"/>
            <a:t>Culture risk and linguistic signals</a:t>
          </a:r>
        </a:p>
      </dgm:t>
    </dgm:pt>
    <dgm:pt modelId="{C4FDC9B2-2F04-45C2-A1BD-2C32B90E87AF}" type="parTrans" cxnId="{404672AF-C1C6-4EB6-962A-F6BC4C4067AC}">
      <dgm:prSet/>
      <dgm:spPr/>
      <dgm:t>
        <a:bodyPr/>
        <a:lstStyle/>
        <a:p>
          <a:endParaRPr lang="en-AU"/>
        </a:p>
      </dgm:t>
    </dgm:pt>
    <dgm:pt modelId="{7BCBC4CE-3503-447D-9279-78D83F149843}" type="sibTrans" cxnId="{404672AF-C1C6-4EB6-962A-F6BC4C4067AC}">
      <dgm:prSet/>
      <dgm:spPr/>
      <dgm:t>
        <a:bodyPr/>
        <a:lstStyle/>
        <a:p>
          <a:endParaRPr lang="en-AU"/>
        </a:p>
      </dgm:t>
    </dgm:pt>
    <dgm:pt modelId="{4D7347F0-64BD-4BEE-95B5-C6BB80252B9E}">
      <dgm:prSet/>
      <dgm:spPr/>
      <dgm:t>
        <a:bodyPr/>
        <a:lstStyle/>
        <a:p>
          <a:r>
            <a:rPr lang="en-AU" b="1" dirty="0"/>
            <a:t>Designing the model and prototyping phases</a:t>
          </a:r>
          <a:endParaRPr lang="en-US" b="1" dirty="0"/>
        </a:p>
      </dgm:t>
    </dgm:pt>
    <dgm:pt modelId="{2BF36AF4-5E85-4F0D-B458-5E75962E1A68}" type="parTrans" cxnId="{FB38B9D4-0D9A-4CE3-B3BE-E4D427A79049}">
      <dgm:prSet/>
      <dgm:spPr/>
      <dgm:t>
        <a:bodyPr/>
        <a:lstStyle/>
        <a:p>
          <a:endParaRPr lang="en-AU"/>
        </a:p>
      </dgm:t>
    </dgm:pt>
    <dgm:pt modelId="{90BD1CE7-68B5-42B8-A805-2CDC00F4CFF2}" type="sibTrans" cxnId="{FB38B9D4-0D9A-4CE3-B3BE-E4D427A79049}">
      <dgm:prSet/>
      <dgm:spPr/>
      <dgm:t>
        <a:bodyPr/>
        <a:lstStyle/>
        <a:p>
          <a:endParaRPr lang="en-AU"/>
        </a:p>
      </dgm:t>
    </dgm:pt>
    <dgm:pt modelId="{AAB28B30-7412-4E74-A57B-FFD820B0B07F}">
      <dgm:prSet/>
      <dgm:spPr/>
      <dgm:t>
        <a:bodyPr/>
        <a:lstStyle/>
        <a:p>
          <a:r>
            <a:rPr lang="en-AU" b="1" dirty="0"/>
            <a:t>Demonstrating reporting -  culture risk index</a:t>
          </a:r>
        </a:p>
      </dgm:t>
    </dgm:pt>
    <dgm:pt modelId="{467FE5CF-D700-44D6-9EA2-3173838771C3}" type="parTrans" cxnId="{4CC43A04-38E8-4A1F-B422-18C2A31363E4}">
      <dgm:prSet/>
      <dgm:spPr/>
      <dgm:t>
        <a:bodyPr/>
        <a:lstStyle/>
        <a:p>
          <a:endParaRPr lang="en-AU"/>
        </a:p>
      </dgm:t>
    </dgm:pt>
    <dgm:pt modelId="{5C9996C0-B032-48FB-BFCF-D5C51922AE7B}" type="sibTrans" cxnId="{4CC43A04-38E8-4A1F-B422-18C2A31363E4}">
      <dgm:prSet/>
      <dgm:spPr/>
      <dgm:t>
        <a:bodyPr/>
        <a:lstStyle/>
        <a:p>
          <a:endParaRPr lang="en-AU"/>
        </a:p>
      </dgm:t>
    </dgm:pt>
    <dgm:pt modelId="{28D76450-5211-42BE-8F4D-D840ABCC6BE5}">
      <dgm:prSet/>
      <dgm:spPr/>
      <dgm:t>
        <a:bodyPr/>
        <a:lstStyle/>
        <a:p>
          <a:r>
            <a:rPr lang="en-AU" b="1"/>
            <a:t>Post project reflection and insights</a:t>
          </a:r>
          <a:endParaRPr lang="en-US" b="1" dirty="0"/>
        </a:p>
      </dgm:t>
    </dgm:pt>
    <dgm:pt modelId="{21009A1B-6C6D-475C-97EC-80E95FE175FE}" type="parTrans" cxnId="{1124D658-A015-4C7A-960E-558A64D5ED58}">
      <dgm:prSet/>
      <dgm:spPr/>
      <dgm:t>
        <a:bodyPr/>
        <a:lstStyle/>
        <a:p>
          <a:endParaRPr lang="en-AU"/>
        </a:p>
      </dgm:t>
    </dgm:pt>
    <dgm:pt modelId="{57CF2EEB-EE28-4253-A7FE-E9D9F88BFAF6}" type="sibTrans" cxnId="{1124D658-A015-4C7A-960E-558A64D5ED58}">
      <dgm:prSet/>
      <dgm:spPr/>
      <dgm:t>
        <a:bodyPr/>
        <a:lstStyle/>
        <a:p>
          <a:endParaRPr lang="en-AU"/>
        </a:p>
      </dgm:t>
    </dgm:pt>
    <dgm:pt modelId="{35BBDB4B-4DE4-45D2-80DE-77613635EEF0}">
      <dgm:prSet/>
      <dgm:spPr/>
      <dgm:t>
        <a:bodyPr/>
        <a:lstStyle/>
        <a:p>
          <a:r>
            <a:rPr lang="en-US" b="1" dirty="0"/>
            <a:t>Feature engineering</a:t>
          </a:r>
        </a:p>
      </dgm:t>
    </dgm:pt>
    <dgm:pt modelId="{06C70DFA-6E16-4500-8F8B-329894641E5A}" type="parTrans" cxnId="{9EEE4CD1-DF30-4BF6-BFE0-E85600CD272A}">
      <dgm:prSet/>
      <dgm:spPr/>
      <dgm:t>
        <a:bodyPr/>
        <a:lstStyle/>
        <a:p>
          <a:endParaRPr lang="en-AU"/>
        </a:p>
      </dgm:t>
    </dgm:pt>
    <dgm:pt modelId="{5D61D663-D85E-44F2-ACBA-53642AC13FA5}" type="sibTrans" cxnId="{9EEE4CD1-DF30-4BF6-BFE0-E85600CD272A}">
      <dgm:prSet/>
      <dgm:spPr/>
      <dgm:t>
        <a:bodyPr/>
        <a:lstStyle/>
        <a:p>
          <a:endParaRPr lang="en-AU"/>
        </a:p>
      </dgm:t>
    </dgm:pt>
    <dgm:pt modelId="{6E1B5B26-AEDD-49C9-9257-0180E6659A56}">
      <dgm:prSet/>
      <dgm:spPr/>
      <dgm:t>
        <a:bodyPr/>
        <a:lstStyle/>
        <a:p>
          <a:r>
            <a:rPr lang="en-US" b="1" dirty="0"/>
            <a:t>Personas and exemplars</a:t>
          </a:r>
        </a:p>
      </dgm:t>
    </dgm:pt>
    <dgm:pt modelId="{6EFC6249-6567-4887-9370-015261E12B03}" type="parTrans" cxnId="{43F85C4B-EB30-4CC7-90F8-FBC63D80F0C6}">
      <dgm:prSet/>
      <dgm:spPr/>
      <dgm:t>
        <a:bodyPr/>
        <a:lstStyle/>
        <a:p>
          <a:endParaRPr lang="en-AU"/>
        </a:p>
      </dgm:t>
    </dgm:pt>
    <dgm:pt modelId="{6824EC71-3053-4F4B-8689-D9B97A0DFBC9}" type="sibTrans" cxnId="{43F85C4B-EB30-4CC7-90F8-FBC63D80F0C6}">
      <dgm:prSet/>
      <dgm:spPr/>
      <dgm:t>
        <a:bodyPr/>
        <a:lstStyle/>
        <a:p>
          <a:endParaRPr lang="en-AU"/>
        </a:p>
      </dgm:t>
    </dgm:pt>
    <dgm:pt modelId="{C1EBC7D9-751D-4651-8F6D-CA8C95EBE119}" type="pres">
      <dgm:prSet presAssocID="{7DA8949E-9643-4530-AC6A-BAC754BE82A7}" presName="rootnode" presStyleCnt="0">
        <dgm:presLayoutVars>
          <dgm:chMax/>
          <dgm:chPref/>
          <dgm:dir/>
          <dgm:animLvl val="lvl"/>
        </dgm:presLayoutVars>
      </dgm:prSet>
      <dgm:spPr/>
    </dgm:pt>
    <dgm:pt modelId="{30AF0F9B-DEC1-4AA1-A003-97E5CE31CDA9}" type="pres">
      <dgm:prSet presAssocID="{A20DB057-4DC6-41AC-A147-4E050D3D53D1}" presName="composite" presStyleCnt="0"/>
      <dgm:spPr/>
    </dgm:pt>
    <dgm:pt modelId="{4D476829-1FD0-4C13-9571-E3C695EC71F2}" type="pres">
      <dgm:prSet presAssocID="{A20DB057-4DC6-41AC-A147-4E050D3D53D1}" presName="bentUpArrow1" presStyleLbl="alignImgPlace1" presStyleIdx="0" presStyleCnt="5"/>
      <dgm:spPr/>
    </dgm:pt>
    <dgm:pt modelId="{0F9B7486-DB65-4804-B17E-D4DF90A2F17A}" type="pres">
      <dgm:prSet presAssocID="{A20DB057-4DC6-41AC-A147-4E050D3D53D1}" presName="ParentText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C66705B4-6A52-4F39-B6C1-28EBA1FB549D}" type="pres">
      <dgm:prSet presAssocID="{A20DB057-4DC6-41AC-A147-4E050D3D53D1}" presName="Child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FC91D028-BD47-45B8-B1E7-AEC4C1630257}" type="pres">
      <dgm:prSet presAssocID="{7BCBC4CE-3503-447D-9279-78D83F149843}" presName="sibTrans" presStyleCnt="0"/>
      <dgm:spPr/>
    </dgm:pt>
    <dgm:pt modelId="{E191FC92-04ED-4A40-8996-4620185016AD}" type="pres">
      <dgm:prSet presAssocID="{4D7347F0-64BD-4BEE-95B5-C6BB80252B9E}" presName="composite" presStyleCnt="0"/>
      <dgm:spPr/>
    </dgm:pt>
    <dgm:pt modelId="{E9D343D5-1518-4308-A812-315CC91C90F8}" type="pres">
      <dgm:prSet presAssocID="{4D7347F0-64BD-4BEE-95B5-C6BB80252B9E}" presName="bentUpArrow1" presStyleLbl="alignImgPlace1" presStyleIdx="1" presStyleCnt="5"/>
      <dgm:spPr/>
    </dgm:pt>
    <dgm:pt modelId="{0E3F8FE4-D65D-486F-A26F-0B5A74E8548E}" type="pres">
      <dgm:prSet presAssocID="{4D7347F0-64BD-4BEE-95B5-C6BB80252B9E}" presName="ParentText" presStyleLbl="node1" presStyleIdx="1" presStyleCnt="6">
        <dgm:presLayoutVars>
          <dgm:chMax val="1"/>
          <dgm:chPref val="1"/>
          <dgm:bulletEnabled val="1"/>
        </dgm:presLayoutVars>
      </dgm:prSet>
      <dgm:spPr/>
    </dgm:pt>
    <dgm:pt modelId="{9C42DE26-FF04-4AE3-83D7-62E1DA74350E}" type="pres">
      <dgm:prSet presAssocID="{4D7347F0-64BD-4BEE-95B5-C6BB80252B9E}" presName="Child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83EC6F35-F935-4F1F-BE60-FABEB17A3378}" type="pres">
      <dgm:prSet presAssocID="{90BD1CE7-68B5-42B8-A805-2CDC00F4CFF2}" presName="sibTrans" presStyleCnt="0"/>
      <dgm:spPr/>
    </dgm:pt>
    <dgm:pt modelId="{B70F2C41-B3CD-481D-8081-306C6E99A360}" type="pres">
      <dgm:prSet presAssocID="{35BBDB4B-4DE4-45D2-80DE-77613635EEF0}" presName="composite" presStyleCnt="0"/>
      <dgm:spPr/>
    </dgm:pt>
    <dgm:pt modelId="{AE146F33-086C-4771-9861-0FDC4E991B04}" type="pres">
      <dgm:prSet presAssocID="{35BBDB4B-4DE4-45D2-80DE-77613635EEF0}" presName="bentUpArrow1" presStyleLbl="alignImgPlace1" presStyleIdx="2" presStyleCnt="5"/>
      <dgm:spPr/>
    </dgm:pt>
    <dgm:pt modelId="{800C84BF-3D34-4AC6-B85D-C3B72F54FA71}" type="pres">
      <dgm:prSet presAssocID="{35BBDB4B-4DE4-45D2-80DE-77613635EEF0}" presName="ParentText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D314715B-0998-40E4-85F1-983B9F6D0C51}" type="pres">
      <dgm:prSet presAssocID="{35BBDB4B-4DE4-45D2-80DE-77613635EEF0}" presName="Child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D003E401-7ABD-4004-B65C-8E7D6D89207A}" type="pres">
      <dgm:prSet presAssocID="{5D61D663-D85E-44F2-ACBA-53642AC13FA5}" presName="sibTrans" presStyleCnt="0"/>
      <dgm:spPr/>
    </dgm:pt>
    <dgm:pt modelId="{7CB20081-D37F-4657-A1D7-B5FDB5101563}" type="pres">
      <dgm:prSet presAssocID="{6E1B5B26-AEDD-49C9-9257-0180E6659A56}" presName="composite" presStyleCnt="0"/>
      <dgm:spPr/>
    </dgm:pt>
    <dgm:pt modelId="{1CA0B5B9-11E5-4664-902E-183C0FBBEF37}" type="pres">
      <dgm:prSet presAssocID="{6E1B5B26-AEDD-49C9-9257-0180E6659A56}" presName="bentUpArrow1" presStyleLbl="alignImgPlace1" presStyleIdx="3" presStyleCnt="5"/>
      <dgm:spPr/>
    </dgm:pt>
    <dgm:pt modelId="{8F463F78-457F-4C9F-AFBB-739547E93E12}" type="pres">
      <dgm:prSet presAssocID="{6E1B5B26-AEDD-49C9-9257-0180E6659A56}" presName="ParentText" presStyleLbl="node1" presStyleIdx="3" presStyleCnt="6">
        <dgm:presLayoutVars>
          <dgm:chMax val="1"/>
          <dgm:chPref val="1"/>
          <dgm:bulletEnabled val="1"/>
        </dgm:presLayoutVars>
      </dgm:prSet>
      <dgm:spPr/>
    </dgm:pt>
    <dgm:pt modelId="{1EEDDC01-29AE-4913-989F-D47C0864B08F}" type="pres">
      <dgm:prSet presAssocID="{6E1B5B26-AEDD-49C9-9257-0180E6659A56}" presName="Child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105708DB-E880-4D28-9920-C6FF75285E92}" type="pres">
      <dgm:prSet presAssocID="{6824EC71-3053-4F4B-8689-D9B97A0DFBC9}" presName="sibTrans" presStyleCnt="0"/>
      <dgm:spPr/>
    </dgm:pt>
    <dgm:pt modelId="{9B28BFDC-C462-4FAF-8C08-6906DE2AADB9}" type="pres">
      <dgm:prSet presAssocID="{AAB28B30-7412-4E74-A57B-FFD820B0B07F}" presName="composite" presStyleCnt="0"/>
      <dgm:spPr/>
    </dgm:pt>
    <dgm:pt modelId="{734D37CA-454B-466E-9B43-9C98E2833614}" type="pres">
      <dgm:prSet presAssocID="{AAB28B30-7412-4E74-A57B-FFD820B0B07F}" presName="bentUpArrow1" presStyleLbl="alignImgPlace1" presStyleIdx="4" presStyleCnt="5"/>
      <dgm:spPr/>
    </dgm:pt>
    <dgm:pt modelId="{0A043470-BF68-4F71-8D62-34ECBEF30A4A}" type="pres">
      <dgm:prSet presAssocID="{AAB28B30-7412-4E74-A57B-FFD820B0B07F}" presName="ParentText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11B3F71F-5DC9-47F5-92B9-D9C13B10F0CA}" type="pres">
      <dgm:prSet presAssocID="{AAB28B30-7412-4E74-A57B-FFD820B0B07F}" presName="ChildText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1EE0305D-7AF4-4731-B79F-390529297444}" type="pres">
      <dgm:prSet presAssocID="{5C9996C0-B032-48FB-BFCF-D5C51922AE7B}" presName="sibTrans" presStyleCnt="0"/>
      <dgm:spPr/>
    </dgm:pt>
    <dgm:pt modelId="{63766FFB-1C30-4463-A09E-659481554010}" type="pres">
      <dgm:prSet presAssocID="{28D76450-5211-42BE-8F4D-D840ABCC6BE5}" presName="composite" presStyleCnt="0"/>
      <dgm:spPr/>
    </dgm:pt>
    <dgm:pt modelId="{B4A74AB5-364C-4A4E-8C7E-F5A60D9A42D5}" type="pres">
      <dgm:prSet presAssocID="{28D76450-5211-42BE-8F4D-D840ABCC6BE5}" presName="ParentText" presStyleLbl="node1" presStyleIdx="5" presStyleCnt="6">
        <dgm:presLayoutVars>
          <dgm:chMax val="1"/>
          <dgm:chPref val="1"/>
          <dgm:bulletEnabled val="1"/>
        </dgm:presLayoutVars>
      </dgm:prSet>
      <dgm:spPr/>
    </dgm:pt>
  </dgm:ptLst>
  <dgm:cxnLst>
    <dgm:cxn modelId="{4CC43A04-38E8-4A1F-B422-18C2A31363E4}" srcId="{7DA8949E-9643-4530-AC6A-BAC754BE82A7}" destId="{AAB28B30-7412-4E74-A57B-FFD820B0B07F}" srcOrd="4" destOrd="0" parTransId="{467FE5CF-D700-44D6-9EA2-3173838771C3}" sibTransId="{5C9996C0-B032-48FB-BFCF-D5C51922AE7B}"/>
    <dgm:cxn modelId="{16FB3743-6431-4C8C-A1E5-BA45832E9CFC}" type="presOf" srcId="{28D76450-5211-42BE-8F4D-D840ABCC6BE5}" destId="{B4A74AB5-364C-4A4E-8C7E-F5A60D9A42D5}" srcOrd="0" destOrd="0" presId="urn:microsoft.com/office/officeart/2005/8/layout/StepDownProcess"/>
    <dgm:cxn modelId="{43F85C4B-EB30-4CC7-90F8-FBC63D80F0C6}" srcId="{7DA8949E-9643-4530-AC6A-BAC754BE82A7}" destId="{6E1B5B26-AEDD-49C9-9257-0180E6659A56}" srcOrd="3" destOrd="0" parTransId="{6EFC6249-6567-4887-9370-015261E12B03}" sibTransId="{6824EC71-3053-4F4B-8689-D9B97A0DFBC9}"/>
    <dgm:cxn modelId="{56CA2D4F-6D1D-4F40-8E1F-338492A820D5}" type="presOf" srcId="{7DA8949E-9643-4530-AC6A-BAC754BE82A7}" destId="{C1EBC7D9-751D-4651-8F6D-CA8C95EBE119}" srcOrd="0" destOrd="0" presId="urn:microsoft.com/office/officeart/2005/8/layout/StepDownProcess"/>
    <dgm:cxn modelId="{AF0C4B55-83CA-400E-8C8F-61E80829A7B5}" type="presOf" srcId="{6E1B5B26-AEDD-49C9-9257-0180E6659A56}" destId="{8F463F78-457F-4C9F-AFBB-739547E93E12}" srcOrd="0" destOrd="0" presId="urn:microsoft.com/office/officeart/2005/8/layout/StepDownProcess"/>
    <dgm:cxn modelId="{1124D658-A015-4C7A-960E-558A64D5ED58}" srcId="{7DA8949E-9643-4530-AC6A-BAC754BE82A7}" destId="{28D76450-5211-42BE-8F4D-D840ABCC6BE5}" srcOrd="5" destOrd="0" parTransId="{21009A1B-6C6D-475C-97EC-80E95FE175FE}" sibTransId="{57CF2EEB-EE28-4253-A7FE-E9D9F88BFAF6}"/>
    <dgm:cxn modelId="{70F9967A-2C4C-4219-B60C-CAD273DE5F90}" type="presOf" srcId="{AAB28B30-7412-4E74-A57B-FFD820B0B07F}" destId="{0A043470-BF68-4F71-8D62-34ECBEF30A4A}" srcOrd="0" destOrd="0" presId="urn:microsoft.com/office/officeart/2005/8/layout/StepDownProcess"/>
    <dgm:cxn modelId="{CFB1F980-54F0-4174-A30D-CBCD1AAE0F32}" type="presOf" srcId="{A20DB057-4DC6-41AC-A147-4E050D3D53D1}" destId="{0F9B7486-DB65-4804-B17E-D4DF90A2F17A}" srcOrd="0" destOrd="0" presId="urn:microsoft.com/office/officeart/2005/8/layout/StepDownProcess"/>
    <dgm:cxn modelId="{404672AF-C1C6-4EB6-962A-F6BC4C4067AC}" srcId="{7DA8949E-9643-4530-AC6A-BAC754BE82A7}" destId="{A20DB057-4DC6-41AC-A147-4E050D3D53D1}" srcOrd="0" destOrd="0" parTransId="{C4FDC9B2-2F04-45C2-A1BD-2C32B90E87AF}" sibTransId="{7BCBC4CE-3503-447D-9279-78D83F149843}"/>
    <dgm:cxn modelId="{9EEE4CD1-DF30-4BF6-BFE0-E85600CD272A}" srcId="{7DA8949E-9643-4530-AC6A-BAC754BE82A7}" destId="{35BBDB4B-4DE4-45D2-80DE-77613635EEF0}" srcOrd="2" destOrd="0" parTransId="{06C70DFA-6E16-4500-8F8B-329894641E5A}" sibTransId="{5D61D663-D85E-44F2-ACBA-53642AC13FA5}"/>
    <dgm:cxn modelId="{FB38B9D4-0D9A-4CE3-B3BE-E4D427A79049}" srcId="{7DA8949E-9643-4530-AC6A-BAC754BE82A7}" destId="{4D7347F0-64BD-4BEE-95B5-C6BB80252B9E}" srcOrd="1" destOrd="0" parTransId="{2BF36AF4-5E85-4F0D-B458-5E75962E1A68}" sibTransId="{90BD1CE7-68B5-42B8-A805-2CDC00F4CFF2}"/>
    <dgm:cxn modelId="{9A0D18E8-DB95-46CA-B938-C5826DC343AB}" type="presOf" srcId="{4D7347F0-64BD-4BEE-95B5-C6BB80252B9E}" destId="{0E3F8FE4-D65D-486F-A26F-0B5A74E8548E}" srcOrd="0" destOrd="0" presId="urn:microsoft.com/office/officeart/2005/8/layout/StepDownProcess"/>
    <dgm:cxn modelId="{0FECE9F3-7D01-4E8F-B732-4357F701C14E}" type="presOf" srcId="{35BBDB4B-4DE4-45D2-80DE-77613635EEF0}" destId="{800C84BF-3D34-4AC6-B85D-C3B72F54FA71}" srcOrd="0" destOrd="0" presId="urn:microsoft.com/office/officeart/2005/8/layout/StepDownProcess"/>
    <dgm:cxn modelId="{499BA7F3-CBAC-42C2-994F-B780C3D71112}" type="presParOf" srcId="{C1EBC7D9-751D-4651-8F6D-CA8C95EBE119}" destId="{30AF0F9B-DEC1-4AA1-A003-97E5CE31CDA9}" srcOrd="0" destOrd="0" presId="urn:microsoft.com/office/officeart/2005/8/layout/StepDownProcess"/>
    <dgm:cxn modelId="{FD1DC5E4-558B-4239-827A-723175CB15D2}" type="presParOf" srcId="{30AF0F9B-DEC1-4AA1-A003-97E5CE31CDA9}" destId="{4D476829-1FD0-4C13-9571-E3C695EC71F2}" srcOrd="0" destOrd="0" presId="urn:microsoft.com/office/officeart/2005/8/layout/StepDownProcess"/>
    <dgm:cxn modelId="{DCC14740-1F5E-44A3-AA23-F5E1E066E2F3}" type="presParOf" srcId="{30AF0F9B-DEC1-4AA1-A003-97E5CE31CDA9}" destId="{0F9B7486-DB65-4804-B17E-D4DF90A2F17A}" srcOrd="1" destOrd="0" presId="urn:microsoft.com/office/officeart/2005/8/layout/StepDownProcess"/>
    <dgm:cxn modelId="{ADAD7FF7-D770-4FDA-87EC-D52A295EAB05}" type="presParOf" srcId="{30AF0F9B-DEC1-4AA1-A003-97E5CE31CDA9}" destId="{C66705B4-6A52-4F39-B6C1-28EBA1FB549D}" srcOrd="2" destOrd="0" presId="urn:microsoft.com/office/officeart/2005/8/layout/StepDownProcess"/>
    <dgm:cxn modelId="{2DC728C2-324A-4BD8-806D-DE168FE1CF34}" type="presParOf" srcId="{C1EBC7D9-751D-4651-8F6D-CA8C95EBE119}" destId="{FC91D028-BD47-45B8-B1E7-AEC4C1630257}" srcOrd="1" destOrd="0" presId="urn:microsoft.com/office/officeart/2005/8/layout/StepDownProcess"/>
    <dgm:cxn modelId="{68ABCFD1-0355-4E5F-8800-B1F16A49A5D2}" type="presParOf" srcId="{C1EBC7D9-751D-4651-8F6D-CA8C95EBE119}" destId="{E191FC92-04ED-4A40-8996-4620185016AD}" srcOrd="2" destOrd="0" presId="urn:microsoft.com/office/officeart/2005/8/layout/StepDownProcess"/>
    <dgm:cxn modelId="{5992BFE0-74A7-4B6A-8D2D-5667236BE4BD}" type="presParOf" srcId="{E191FC92-04ED-4A40-8996-4620185016AD}" destId="{E9D343D5-1518-4308-A812-315CC91C90F8}" srcOrd="0" destOrd="0" presId="urn:microsoft.com/office/officeart/2005/8/layout/StepDownProcess"/>
    <dgm:cxn modelId="{0814E61B-A5AB-49C4-A083-52B70895AECA}" type="presParOf" srcId="{E191FC92-04ED-4A40-8996-4620185016AD}" destId="{0E3F8FE4-D65D-486F-A26F-0B5A74E8548E}" srcOrd="1" destOrd="0" presId="urn:microsoft.com/office/officeart/2005/8/layout/StepDownProcess"/>
    <dgm:cxn modelId="{6CC8B63A-77D2-4621-B92C-5A2C03E2770A}" type="presParOf" srcId="{E191FC92-04ED-4A40-8996-4620185016AD}" destId="{9C42DE26-FF04-4AE3-83D7-62E1DA74350E}" srcOrd="2" destOrd="0" presId="urn:microsoft.com/office/officeart/2005/8/layout/StepDownProcess"/>
    <dgm:cxn modelId="{391419BC-90D9-449C-95B7-44ACC01C02D4}" type="presParOf" srcId="{C1EBC7D9-751D-4651-8F6D-CA8C95EBE119}" destId="{83EC6F35-F935-4F1F-BE60-FABEB17A3378}" srcOrd="3" destOrd="0" presId="urn:microsoft.com/office/officeart/2005/8/layout/StepDownProcess"/>
    <dgm:cxn modelId="{7477C21D-0184-457F-80AD-63D31450AC76}" type="presParOf" srcId="{C1EBC7D9-751D-4651-8F6D-CA8C95EBE119}" destId="{B70F2C41-B3CD-481D-8081-306C6E99A360}" srcOrd="4" destOrd="0" presId="urn:microsoft.com/office/officeart/2005/8/layout/StepDownProcess"/>
    <dgm:cxn modelId="{095D5011-D826-42A6-9D2D-4EC585592812}" type="presParOf" srcId="{B70F2C41-B3CD-481D-8081-306C6E99A360}" destId="{AE146F33-086C-4771-9861-0FDC4E991B04}" srcOrd="0" destOrd="0" presId="urn:microsoft.com/office/officeart/2005/8/layout/StepDownProcess"/>
    <dgm:cxn modelId="{ACD95B70-94D1-47B5-BCEC-D3ACE0E0183B}" type="presParOf" srcId="{B70F2C41-B3CD-481D-8081-306C6E99A360}" destId="{800C84BF-3D34-4AC6-B85D-C3B72F54FA71}" srcOrd="1" destOrd="0" presId="urn:microsoft.com/office/officeart/2005/8/layout/StepDownProcess"/>
    <dgm:cxn modelId="{81CCB3E7-A852-48DB-838D-47A4A8B29AE1}" type="presParOf" srcId="{B70F2C41-B3CD-481D-8081-306C6E99A360}" destId="{D314715B-0998-40E4-85F1-983B9F6D0C51}" srcOrd="2" destOrd="0" presId="urn:microsoft.com/office/officeart/2005/8/layout/StepDownProcess"/>
    <dgm:cxn modelId="{3D5D1A3D-1B56-480A-B586-A5B03B1DE6BE}" type="presParOf" srcId="{C1EBC7D9-751D-4651-8F6D-CA8C95EBE119}" destId="{D003E401-7ABD-4004-B65C-8E7D6D89207A}" srcOrd="5" destOrd="0" presId="urn:microsoft.com/office/officeart/2005/8/layout/StepDownProcess"/>
    <dgm:cxn modelId="{7F3631D8-A970-409D-B82A-10025F445321}" type="presParOf" srcId="{C1EBC7D9-751D-4651-8F6D-CA8C95EBE119}" destId="{7CB20081-D37F-4657-A1D7-B5FDB5101563}" srcOrd="6" destOrd="0" presId="urn:microsoft.com/office/officeart/2005/8/layout/StepDownProcess"/>
    <dgm:cxn modelId="{49313FD5-C6AE-40D6-84E4-01442CF0D826}" type="presParOf" srcId="{7CB20081-D37F-4657-A1D7-B5FDB5101563}" destId="{1CA0B5B9-11E5-4664-902E-183C0FBBEF37}" srcOrd="0" destOrd="0" presId="urn:microsoft.com/office/officeart/2005/8/layout/StepDownProcess"/>
    <dgm:cxn modelId="{2C8FDFED-8B21-465D-8D79-3506D269CA7D}" type="presParOf" srcId="{7CB20081-D37F-4657-A1D7-B5FDB5101563}" destId="{8F463F78-457F-4C9F-AFBB-739547E93E12}" srcOrd="1" destOrd="0" presId="urn:microsoft.com/office/officeart/2005/8/layout/StepDownProcess"/>
    <dgm:cxn modelId="{75E61091-7D6F-4147-B104-08D12BBBA38D}" type="presParOf" srcId="{7CB20081-D37F-4657-A1D7-B5FDB5101563}" destId="{1EEDDC01-29AE-4913-989F-D47C0864B08F}" srcOrd="2" destOrd="0" presId="urn:microsoft.com/office/officeart/2005/8/layout/StepDownProcess"/>
    <dgm:cxn modelId="{4C370EE9-13C9-4603-ACAC-285EDF33C059}" type="presParOf" srcId="{C1EBC7D9-751D-4651-8F6D-CA8C95EBE119}" destId="{105708DB-E880-4D28-9920-C6FF75285E92}" srcOrd="7" destOrd="0" presId="urn:microsoft.com/office/officeart/2005/8/layout/StepDownProcess"/>
    <dgm:cxn modelId="{B1C1E0D9-D281-4107-B891-6E7061F4FFB5}" type="presParOf" srcId="{C1EBC7D9-751D-4651-8F6D-CA8C95EBE119}" destId="{9B28BFDC-C462-4FAF-8C08-6906DE2AADB9}" srcOrd="8" destOrd="0" presId="urn:microsoft.com/office/officeart/2005/8/layout/StepDownProcess"/>
    <dgm:cxn modelId="{E8311C7A-4D46-4565-8E11-BF0B72365AD8}" type="presParOf" srcId="{9B28BFDC-C462-4FAF-8C08-6906DE2AADB9}" destId="{734D37CA-454B-466E-9B43-9C98E2833614}" srcOrd="0" destOrd="0" presId="urn:microsoft.com/office/officeart/2005/8/layout/StepDownProcess"/>
    <dgm:cxn modelId="{542796E8-B50C-43F8-8293-0F45388EFCA0}" type="presParOf" srcId="{9B28BFDC-C462-4FAF-8C08-6906DE2AADB9}" destId="{0A043470-BF68-4F71-8D62-34ECBEF30A4A}" srcOrd="1" destOrd="0" presId="urn:microsoft.com/office/officeart/2005/8/layout/StepDownProcess"/>
    <dgm:cxn modelId="{66FFE996-CC4E-4673-9D03-5AF5DA48FF46}" type="presParOf" srcId="{9B28BFDC-C462-4FAF-8C08-6906DE2AADB9}" destId="{11B3F71F-5DC9-47F5-92B9-D9C13B10F0CA}" srcOrd="2" destOrd="0" presId="urn:microsoft.com/office/officeart/2005/8/layout/StepDownProcess"/>
    <dgm:cxn modelId="{933C48CB-3F8D-4D04-BC45-C81DC15F3EB7}" type="presParOf" srcId="{C1EBC7D9-751D-4651-8F6D-CA8C95EBE119}" destId="{1EE0305D-7AF4-4731-B79F-390529297444}" srcOrd="9" destOrd="0" presId="urn:microsoft.com/office/officeart/2005/8/layout/StepDownProcess"/>
    <dgm:cxn modelId="{590E3152-47F1-4086-B5BC-62826E8E9CBA}" type="presParOf" srcId="{C1EBC7D9-751D-4651-8F6D-CA8C95EBE119}" destId="{63766FFB-1C30-4463-A09E-659481554010}" srcOrd="10" destOrd="0" presId="urn:microsoft.com/office/officeart/2005/8/layout/StepDownProcess"/>
    <dgm:cxn modelId="{EA4FC9B6-4B77-4909-9EEB-8691A46D59D0}" type="presParOf" srcId="{63766FFB-1C30-4463-A09E-659481554010}" destId="{B4A74AB5-364C-4A4E-8C7E-F5A60D9A42D5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03D97B-363B-408C-9370-BA4FBDCBD56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68D96CD-2A0D-4101-9312-6571DAEDCC0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 dirty="0"/>
            <a:t>Early warning signals TO IMPROVE COMPLIANCE AND MINIMISE ‘RISKY BEHAVIOURS’ AS CONTRIBUTORS OF INCIDENTS</a:t>
          </a:r>
          <a:endParaRPr lang="en-US" b="0" dirty="0"/>
        </a:p>
      </dgm:t>
    </dgm:pt>
    <dgm:pt modelId="{EFFA8988-0C72-41EF-97EB-E607BFB7A3DE}" type="parTrans" cxnId="{706E3C9A-64BB-4977-93B5-27601855A445}">
      <dgm:prSet/>
      <dgm:spPr/>
      <dgm:t>
        <a:bodyPr/>
        <a:lstStyle/>
        <a:p>
          <a:endParaRPr lang="en-US"/>
        </a:p>
      </dgm:t>
    </dgm:pt>
    <dgm:pt modelId="{A935742C-C1FC-405E-BF4B-0FB5B43E97E6}" type="sibTrans" cxnId="{706E3C9A-64BB-4977-93B5-27601855A445}">
      <dgm:prSet phldrT="01"/>
      <dgm:spPr/>
      <dgm:t>
        <a:bodyPr/>
        <a:lstStyle/>
        <a:p>
          <a:endParaRPr lang="en-US"/>
        </a:p>
      </dgm:t>
    </dgm:pt>
    <dgm:pt modelId="{B95C6A82-5840-455D-979F-1B0A62F8664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baseline="0" dirty="0"/>
            <a:t>Sharper models and forecasts</a:t>
          </a:r>
          <a:endParaRPr lang="en-US" dirty="0"/>
        </a:p>
      </dgm:t>
    </dgm:pt>
    <dgm:pt modelId="{58306C43-2AFB-4315-89A8-A99FC1CF7C3C}" type="parTrans" cxnId="{0612C2E4-B267-4305-ADA9-D47816B0A6B2}">
      <dgm:prSet/>
      <dgm:spPr/>
      <dgm:t>
        <a:bodyPr/>
        <a:lstStyle/>
        <a:p>
          <a:endParaRPr lang="en-US"/>
        </a:p>
      </dgm:t>
    </dgm:pt>
    <dgm:pt modelId="{AD875804-5663-40DE-BD8D-664FAB9FB5E3}" type="sibTrans" cxnId="{0612C2E4-B267-4305-ADA9-D47816B0A6B2}">
      <dgm:prSet phldrT="02"/>
      <dgm:spPr/>
      <dgm:t>
        <a:bodyPr/>
        <a:lstStyle/>
        <a:p>
          <a:endParaRPr lang="en-US"/>
        </a:p>
      </dgm:t>
    </dgm:pt>
    <dgm:pt modelId="{D0343A5F-E55B-4DBE-944B-90E63A77A95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 dirty="0"/>
            <a:t>Explainability and storytelling</a:t>
          </a:r>
          <a:endParaRPr lang="en-US" dirty="0"/>
        </a:p>
      </dgm:t>
    </dgm:pt>
    <dgm:pt modelId="{0E71D58B-8216-4626-A0D7-62AAD13536E4}" type="parTrans" cxnId="{941BF5E1-7187-4DE0-9BB9-9E2B23CD6DBA}">
      <dgm:prSet/>
      <dgm:spPr/>
      <dgm:t>
        <a:bodyPr/>
        <a:lstStyle/>
        <a:p>
          <a:endParaRPr lang="en-US"/>
        </a:p>
      </dgm:t>
    </dgm:pt>
    <dgm:pt modelId="{54DBF78C-3AD6-4AED-8346-8B45488E00E3}" type="sibTrans" cxnId="{941BF5E1-7187-4DE0-9BB9-9E2B23CD6DBA}">
      <dgm:prSet phldrT="03"/>
      <dgm:spPr/>
      <dgm:t>
        <a:bodyPr/>
        <a:lstStyle/>
        <a:p>
          <a:endParaRPr lang="en-US"/>
        </a:p>
      </dgm:t>
    </dgm:pt>
    <dgm:pt modelId="{7CBDFAF4-CBEA-4714-B530-E3486BBECA7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BENCHMARKING ACROSS BUSINESS UNITS AND TIME</a:t>
          </a:r>
        </a:p>
      </dgm:t>
    </dgm:pt>
    <dgm:pt modelId="{D0ADEBC5-1EB3-4C9B-A307-EF6C4603D969}" type="parTrans" cxnId="{929ACCC8-9774-4AF8-B1DE-22E3EA3759EA}">
      <dgm:prSet/>
      <dgm:spPr/>
      <dgm:t>
        <a:bodyPr/>
        <a:lstStyle/>
        <a:p>
          <a:endParaRPr lang="en-AU"/>
        </a:p>
      </dgm:t>
    </dgm:pt>
    <dgm:pt modelId="{C71E725A-1A52-42B7-A1ED-4B7D8462A849}" type="sibTrans" cxnId="{929ACCC8-9774-4AF8-B1DE-22E3EA3759EA}">
      <dgm:prSet/>
      <dgm:spPr/>
      <dgm:t>
        <a:bodyPr/>
        <a:lstStyle/>
        <a:p>
          <a:endParaRPr lang="en-AU"/>
        </a:p>
      </dgm:t>
    </dgm:pt>
    <dgm:pt modelId="{9EE1130F-946B-4DA6-9315-EF62C59D153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TARGETED INVENTIONS</a:t>
          </a:r>
        </a:p>
      </dgm:t>
    </dgm:pt>
    <dgm:pt modelId="{DF263095-03A5-4F50-AA22-75FB1EA09170}" type="parTrans" cxnId="{1FD1809A-0B81-4D2C-BB36-3E8FB6E81DD9}">
      <dgm:prSet/>
      <dgm:spPr/>
      <dgm:t>
        <a:bodyPr/>
        <a:lstStyle/>
        <a:p>
          <a:endParaRPr lang="en-AU"/>
        </a:p>
      </dgm:t>
    </dgm:pt>
    <dgm:pt modelId="{BDBB311D-37CD-44A6-BF51-FEAD1D2546B6}" type="sibTrans" cxnId="{1FD1809A-0B81-4D2C-BB36-3E8FB6E81DD9}">
      <dgm:prSet/>
      <dgm:spPr/>
      <dgm:t>
        <a:bodyPr/>
        <a:lstStyle/>
        <a:p>
          <a:endParaRPr lang="en-AU"/>
        </a:p>
      </dgm:t>
    </dgm:pt>
    <dgm:pt modelId="{534CAD2B-84E8-4464-9578-ADC86F6398C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BRIDGING SOLOS BETWEEN SAFETY, AND OTHER DISCIPLINES</a:t>
          </a:r>
        </a:p>
      </dgm:t>
    </dgm:pt>
    <dgm:pt modelId="{484B79CC-C4C1-4120-B3E9-D816DBB10715}" type="parTrans" cxnId="{3CA69B40-7D49-4022-8F8B-B22C67087DF6}">
      <dgm:prSet/>
      <dgm:spPr/>
      <dgm:t>
        <a:bodyPr/>
        <a:lstStyle/>
        <a:p>
          <a:endParaRPr lang="en-AU"/>
        </a:p>
      </dgm:t>
    </dgm:pt>
    <dgm:pt modelId="{3C7D1A69-21A0-4EEF-B0C8-88E43F17F176}" type="sibTrans" cxnId="{3CA69B40-7D49-4022-8F8B-B22C67087DF6}">
      <dgm:prSet/>
      <dgm:spPr/>
      <dgm:t>
        <a:bodyPr/>
        <a:lstStyle/>
        <a:p>
          <a:endParaRPr lang="en-AU"/>
        </a:p>
      </dgm:t>
    </dgm:pt>
    <dgm:pt modelId="{C948A3C1-E20A-4FA7-B197-C31A25DC169C}" type="pres">
      <dgm:prSet presAssocID="{A403D97B-363B-408C-9370-BA4FBDCBD567}" presName="root" presStyleCnt="0">
        <dgm:presLayoutVars>
          <dgm:dir/>
          <dgm:resizeHandles val="exact"/>
        </dgm:presLayoutVars>
      </dgm:prSet>
      <dgm:spPr/>
    </dgm:pt>
    <dgm:pt modelId="{82629C67-128D-479E-9557-C3AFAA4F04B4}" type="pres">
      <dgm:prSet presAssocID="{368D96CD-2A0D-4101-9312-6571DAEDCC04}" presName="compNode" presStyleCnt="0"/>
      <dgm:spPr/>
    </dgm:pt>
    <dgm:pt modelId="{267D21B2-253B-4412-9741-312A59010E8E}" type="pres">
      <dgm:prSet presAssocID="{368D96CD-2A0D-4101-9312-6571DAEDCC04}" presName="iconBgRect" presStyleLbl="bgShp" presStyleIdx="0" presStyleCnt="6"/>
      <dgm:spPr/>
    </dgm:pt>
    <dgm:pt modelId="{28FFB627-3989-49AD-850C-723CA33A4A0D}" type="pres">
      <dgm:prSet presAssocID="{368D96CD-2A0D-4101-9312-6571DAEDCC0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ger"/>
        </a:ext>
      </dgm:extLst>
    </dgm:pt>
    <dgm:pt modelId="{CC6243AD-1E1A-479C-AB53-19E2646131A5}" type="pres">
      <dgm:prSet presAssocID="{368D96CD-2A0D-4101-9312-6571DAEDCC04}" presName="spaceRect" presStyleCnt="0"/>
      <dgm:spPr/>
    </dgm:pt>
    <dgm:pt modelId="{630D4C31-98D5-41E2-90FD-04AFC4A73EE3}" type="pres">
      <dgm:prSet presAssocID="{368D96CD-2A0D-4101-9312-6571DAEDCC04}" presName="textRect" presStyleLbl="revTx" presStyleIdx="0" presStyleCnt="6">
        <dgm:presLayoutVars>
          <dgm:chMax val="1"/>
          <dgm:chPref val="1"/>
        </dgm:presLayoutVars>
      </dgm:prSet>
      <dgm:spPr/>
    </dgm:pt>
    <dgm:pt modelId="{0A407FD7-82C9-4FF1-949B-3CC79088049B}" type="pres">
      <dgm:prSet presAssocID="{A935742C-C1FC-405E-BF4B-0FB5B43E97E6}" presName="sibTrans" presStyleCnt="0"/>
      <dgm:spPr/>
    </dgm:pt>
    <dgm:pt modelId="{B452FC9D-0697-48C0-BF65-11EF5379A5C0}" type="pres">
      <dgm:prSet presAssocID="{B95C6A82-5840-455D-979F-1B0A62F86649}" presName="compNode" presStyleCnt="0"/>
      <dgm:spPr/>
    </dgm:pt>
    <dgm:pt modelId="{D8AF051B-8940-48F5-A505-DC73C0E395F7}" type="pres">
      <dgm:prSet presAssocID="{B95C6A82-5840-455D-979F-1B0A62F86649}" presName="iconBgRect" presStyleLbl="bgShp" presStyleIdx="1" presStyleCnt="6"/>
      <dgm:spPr/>
    </dgm:pt>
    <dgm:pt modelId="{CC0D7E84-F974-4DDB-AAE1-BE909BCE7FF2}" type="pres">
      <dgm:prSet presAssocID="{B95C6A82-5840-455D-979F-1B0A62F8664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2611314-ED6C-49EB-81A4-94C27A34C2DC}" type="pres">
      <dgm:prSet presAssocID="{B95C6A82-5840-455D-979F-1B0A62F86649}" presName="spaceRect" presStyleCnt="0"/>
      <dgm:spPr/>
    </dgm:pt>
    <dgm:pt modelId="{639E9387-19F4-482C-9531-6D9E0C63B46F}" type="pres">
      <dgm:prSet presAssocID="{B95C6A82-5840-455D-979F-1B0A62F86649}" presName="textRect" presStyleLbl="revTx" presStyleIdx="1" presStyleCnt="6">
        <dgm:presLayoutVars>
          <dgm:chMax val="1"/>
          <dgm:chPref val="1"/>
        </dgm:presLayoutVars>
      </dgm:prSet>
      <dgm:spPr/>
    </dgm:pt>
    <dgm:pt modelId="{65414218-D981-4E31-A085-CA63A84E3B97}" type="pres">
      <dgm:prSet presAssocID="{AD875804-5663-40DE-BD8D-664FAB9FB5E3}" presName="sibTrans" presStyleCnt="0"/>
      <dgm:spPr/>
    </dgm:pt>
    <dgm:pt modelId="{8F16ED19-7F9F-4C8E-96B1-E4AA4EBD90F0}" type="pres">
      <dgm:prSet presAssocID="{D0343A5F-E55B-4DBE-944B-90E63A77A95C}" presName="compNode" presStyleCnt="0"/>
      <dgm:spPr/>
    </dgm:pt>
    <dgm:pt modelId="{BA5F48D7-8AB2-4374-8794-25474B941314}" type="pres">
      <dgm:prSet presAssocID="{D0343A5F-E55B-4DBE-944B-90E63A77A95C}" presName="iconBgRect" presStyleLbl="bgShp" presStyleIdx="2" presStyleCnt="6"/>
      <dgm:spPr/>
    </dgm:pt>
    <dgm:pt modelId="{BEFCD68C-B991-41A8-ACD1-BA883690E935}" type="pres">
      <dgm:prSet presAssocID="{D0343A5F-E55B-4DBE-944B-90E63A77A95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88FD1998-CB9F-411B-AB0A-64F73B56C7B7}" type="pres">
      <dgm:prSet presAssocID="{D0343A5F-E55B-4DBE-944B-90E63A77A95C}" presName="spaceRect" presStyleCnt="0"/>
      <dgm:spPr/>
    </dgm:pt>
    <dgm:pt modelId="{080B9675-2E67-427F-A967-E3D9E6033E6A}" type="pres">
      <dgm:prSet presAssocID="{D0343A5F-E55B-4DBE-944B-90E63A77A95C}" presName="textRect" presStyleLbl="revTx" presStyleIdx="2" presStyleCnt="6">
        <dgm:presLayoutVars>
          <dgm:chMax val="1"/>
          <dgm:chPref val="1"/>
        </dgm:presLayoutVars>
      </dgm:prSet>
      <dgm:spPr/>
    </dgm:pt>
    <dgm:pt modelId="{2C76A513-D1EE-40DD-A353-21A329EBABF0}" type="pres">
      <dgm:prSet presAssocID="{54DBF78C-3AD6-4AED-8346-8B45488E00E3}" presName="sibTrans" presStyleCnt="0"/>
      <dgm:spPr/>
    </dgm:pt>
    <dgm:pt modelId="{9EB80CB5-FF5C-440C-8884-FF31935EFC70}" type="pres">
      <dgm:prSet presAssocID="{7CBDFAF4-CBEA-4714-B530-E3486BBECA76}" presName="compNode" presStyleCnt="0"/>
      <dgm:spPr/>
    </dgm:pt>
    <dgm:pt modelId="{6706F9A6-A12F-4761-9700-A3DB80850E05}" type="pres">
      <dgm:prSet presAssocID="{7CBDFAF4-CBEA-4714-B530-E3486BBECA76}" presName="iconBgRect" presStyleLbl="bgShp" presStyleIdx="3" presStyleCnt="6"/>
      <dgm:spPr/>
    </dgm:pt>
    <dgm:pt modelId="{74BEDEF5-8AC3-45C3-AB0E-16435F6E9434}" type="pres">
      <dgm:prSet presAssocID="{7CBDFAF4-CBEA-4714-B530-E3486BBECA7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69543AC2-9C4B-4C18-97F7-CDC905564B9E}" type="pres">
      <dgm:prSet presAssocID="{7CBDFAF4-CBEA-4714-B530-E3486BBECA76}" presName="spaceRect" presStyleCnt="0"/>
      <dgm:spPr/>
    </dgm:pt>
    <dgm:pt modelId="{B4CDC5E0-E532-4940-9B24-10380D033B4C}" type="pres">
      <dgm:prSet presAssocID="{7CBDFAF4-CBEA-4714-B530-E3486BBECA76}" presName="textRect" presStyleLbl="revTx" presStyleIdx="3" presStyleCnt="6">
        <dgm:presLayoutVars>
          <dgm:chMax val="1"/>
          <dgm:chPref val="1"/>
        </dgm:presLayoutVars>
      </dgm:prSet>
      <dgm:spPr/>
    </dgm:pt>
    <dgm:pt modelId="{3FF7753B-39C8-47CF-B708-59E9186B63BE}" type="pres">
      <dgm:prSet presAssocID="{C71E725A-1A52-42B7-A1ED-4B7D8462A849}" presName="sibTrans" presStyleCnt="0"/>
      <dgm:spPr/>
    </dgm:pt>
    <dgm:pt modelId="{F58F5EBA-7CED-43BC-87B5-738A66DF204A}" type="pres">
      <dgm:prSet presAssocID="{9EE1130F-946B-4DA6-9315-EF62C59D153F}" presName="compNode" presStyleCnt="0"/>
      <dgm:spPr/>
    </dgm:pt>
    <dgm:pt modelId="{B8F073A8-8289-444B-A915-A7318CBE2C7C}" type="pres">
      <dgm:prSet presAssocID="{9EE1130F-946B-4DA6-9315-EF62C59D153F}" presName="iconBgRect" presStyleLbl="bgShp" presStyleIdx="4" presStyleCnt="6"/>
      <dgm:spPr/>
    </dgm:pt>
    <dgm:pt modelId="{90345211-CD2F-43A2-870B-D9E269758D95}" type="pres">
      <dgm:prSet presAssocID="{9EE1130F-946B-4DA6-9315-EF62C59D153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6D4219E-0428-451D-9A2C-19F90DE28290}" type="pres">
      <dgm:prSet presAssocID="{9EE1130F-946B-4DA6-9315-EF62C59D153F}" presName="spaceRect" presStyleCnt="0"/>
      <dgm:spPr/>
    </dgm:pt>
    <dgm:pt modelId="{DD9469F3-F2D4-4BF0-B533-4F664CD31578}" type="pres">
      <dgm:prSet presAssocID="{9EE1130F-946B-4DA6-9315-EF62C59D153F}" presName="textRect" presStyleLbl="revTx" presStyleIdx="4" presStyleCnt="6">
        <dgm:presLayoutVars>
          <dgm:chMax val="1"/>
          <dgm:chPref val="1"/>
        </dgm:presLayoutVars>
      </dgm:prSet>
      <dgm:spPr/>
    </dgm:pt>
    <dgm:pt modelId="{90705A99-B49E-441C-9060-C784CF62C2A9}" type="pres">
      <dgm:prSet presAssocID="{BDBB311D-37CD-44A6-BF51-FEAD1D2546B6}" presName="sibTrans" presStyleCnt="0"/>
      <dgm:spPr/>
    </dgm:pt>
    <dgm:pt modelId="{938EDC74-1633-4DA9-BFA2-E9644EA57793}" type="pres">
      <dgm:prSet presAssocID="{534CAD2B-84E8-4464-9578-ADC86F6398C4}" presName="compNode" presStyleCnt="0"/>
      <dgm:spPr/>
    </dgm:pt>
    <dgm:pt modelId="{E3909B8F-35F0-4FFA-BCA0-347A90163FF7}" type="pres">
      <dgm:prSet presAssocID="{534CAD2B-84E8-4464-9578-ADC86F6398C4}" presName="iconBgRect" presStyleLbl="bgShp" presStyleIdx="5" presStyleCnt="6"/>
      <dgm:spPr/>
    </dgm:pt>
    <dgm:pt modelId="{D97F2C7E-8BF1-4191-A4FB-E3A348ACA395}" type="pres">
      <dgm:prSet presAssocID="{534CAD2B-84E8-4464-9578-ADC86F6398C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olin"/>
        </a:ext>
      </dgm:extLst>
    </dgm:pt>
    <dgm:pt modelId="{0D6FFC53-D9BA-4212-AC73-578F7974E3E9}" type="pres">
      <dgm:prSet presAssocID="{534CAD2B-84E8-4464-9578-ADC86F6398C4}" presName="spaceRect" presStyleCnt="0"/>
      <dgm:spPr/>
    </dgm:pt>
    <dgm:pt modelId="{3A3A760B-7532-4674-A09A-2B6B53B0BCD9}" type="pres">
      <dgm:prSet presAssocID="{534CAD2B-84E8-4464-9578-ADC86F6398C4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08E2B0B-0CDA-46C7-BA44-E53F5327D8AA}" type="presOf" srcId="{9EE1130F-946B-4DA6-9315-EF62C59D153F}" destId="{DD9469F3-F2D4-4BF0-B533-4F664CD31578}" srcOrd="0" destOrd="0" presId="urn:microsoft.com/office/officeart/2018/5/layout/IconCircleLabelList"/>
    <dgm:cxn modelId="{773C2D0C-173B-4A60-9ADB-BCA5D5850CB7}" type="presOf" srcId="{534CAD2B-84E8-4464-9578-ADC86F6398C4}" destId="{3A3A760B-7532-4674-A09A-2B6B53B0BCD9}" srcOrd="0" destOrd="0" presId="urn:microsoft.com/office/officeart/2018/5/layout/IconCircleLabelList"/>
    <dgm:cxn modelId="{3CA69B40-7D49-4022-8F8B-B22C67087DF6}" srcId="{A403D97B-363B-408C-9370-BA4FBDCBD567}" destId="{534CAD2B-84E8-4464-9578-ADC86F6398C4}" srcOrd="5" destOrd="0" parTransId="{484B79CC-C4C1-4120-B3E9-D816DBB10715}" sibTransId="{3C7D1A69-21A0-4EEF-B0C8-88E43F17F176}"/>
    <dgm:cxn modelId="{67CB3644-2E43-4A81-95A9-9E9BEF37B018}" type="presOf" srcId="{368D96CD-2A0D-4101-9312-6571DAEDCC04}" destId="{630D4C31-98D5-41E2-90FD-04AFC4A73EE3}" srcOrd="0" destOrd="0" presId="urn:microsoft.com/office/officeart/2018/5/layout/IconCircleLabelList"/>
    <dgm:cxn modelId="{C404BA68-5611-4323-B53B-B5DF45A1FE3B}" type="presOf" srcId="{7CBDFAF4-CBEA-4714-B530-E3486BBECA76}" destId="{B4CDC5E0-E532-4940-9B24-10380D033B4C}" srcOrd="0" destOrd="0" presId="urn:microsoft.com/office/officeart/2018/5/layout/IconCircleLabelList"/>
    <dgm:cxn modelId="{706E3C9A-64BB-4977-93B5-27601855A445}" srcId="{A403D97B-363B-408C-9370-BA4FBDCBD567}" destId="{368D96CD-2A0D-4101-9312-6571DAEDCC04}" srcOrd="0" destOrd="0" parTransId="{EFFA8988-0C72-41EF-97EB-E607BFB7A3DE}" sibTransId="{A935742C-C1FC-405E-BF4B-0FB5B43E97E6}"/>
    <dgm:cxn modelId="{1FD1809A-0B81-4D2C-BB36-3E8FB6E81DD9}" srcId="{A403D97B-363B-408C-9370-BA4FBDCBD567}" destId="{9EE1130F-946B-4DA6-9315-EF62C59D153F}" srcOrd="4" destOrd="0" parTransId="{DF263095-03A5-4F50-AA22-75FB1EA09170}" sibTransId="{BDBB311D-37CD-44A6-BF51-FEAD1D2546B6}"/>
    <dgm:cxn modelId="{706ED19F-A01A-4EF3-B202-BEA875D68DBA}" type="presOf" srcId="{B95C6A82-5840-455D-979F-1B0A62F86649}" destId="{639E9387-19F4-482C-9531-6D9E0C63B46F}" srcOrd="0" destOrd="0" presId="urn:microsoft.com/office/officeart/2018/5/layout/IconCircleLabelList"/>
    <dgm:cxn modelId="{C2D38DB3-22E4-4F89-AB1A-26526F3B3512}" type="presOf" srcId="{A403D97B-363B-408C-9370-BA4FBDCBD567}" destId="{C948A3C1-E20A-4FA7-B197-C31A25DC169C}" srcOrd="0" destOrd="0" presId="urn:microsoft.com/office/officeart/2018/5/layout/IconCircleLabelList"/>
    <dgm:cxn modelId="{929ACCC8-9774-4AF8-B1DE-22E3EA3759EA}" srcId="{A403D97B-363B-408C-9370-BA4FBDCBD567}" destId="{7CBDFAF4-CBEA-4714-B530-E3486BBECA76}" srcOrd="3" destOrd="0" parTransId="{D0ADEBC5-1EB3-4C9B-A307-EF6C4603D969}" sibTransId="{C71E725A-1A52-42B7-A1ED-4B7D8462A849}"/>
    <dgm:cxn modelId="{941BF5E1-7187-4DE0-9BB9-9E2B23CD6DBA}" srcId="{A403D97B-363B-408C-9370-BA4FBDCBD567}" destId="{D0343A5F-E55B-4DBE-944B-90E63A77A95C}" srcOrd="2" destOrd="0" parTransId="{0E71D58B-8216-4626-A0D7-62AAD13536E4}" sibTransId="{54DBF78C-3AD6-4AED-8346-8B45488E00E3}"/>
    <dgm:cxn modelId="{0612C2E4-B267-4305-ADA9-D47816B0A6B2}" srcId="{A403D97B-363B-408C-9370-BA4FBDCBD567}" destId="{B95C6A82-5840-455D-979F-1B0A62F86649}" srcOrd="1" destOrd="0" parTransId="{58306C43-2AFB-4315-89A8-A99FC1CF7C3C}" sibTransId="{AD875804-5663-40DE-BD8D-664FAB9FB5E3}"/>
    <dgm:cxn modelId="{58705AF7-AC4E-43E1-9506-4B67004E013D}" type="presOf" srcId="{D0343A5F-E55B-4DBE-944B-90E63A77A95C}" destId="{080B9675-2E67-427F-A967-E3D9E6033E6A}" srcOrd="0" destOrd="0" presId="urn:microsoft.com/office/officeart/2018/5/layout/IconCircleLabelList"/>
    <dgm:cxn modelId="{31AE0AA5-3630-4501-9386-5B7AF9E6D35A}" type="presParOf" srcId="{C948A3C1-E20A-4FA7-B197-C31A25DC169C}" destId="{82629C67-128D-479E-9557-C3AFAA4F04B4}" srcOrd="0" destOrd="0" presId="urn:microsoft.com/office/officeart/2018/5/layout/IconCircleLabelList"/>
    <dgm:cxn modelId="{4EEC7C73-E3C7-402F-AA6E-0D458BF63797}" type="presParOf" srcId="{82629C67-128D-479E-9557-C3AFAA4F04B4}" destId="{267D21B2-253B-4412-9741-312A59010E8E}" srcOrd="0" destOrd="0" presId="urn:microsoft.com/office/officeart/2018/5/layout/IconCircleLabelList"/>
    <dgm:cxn modelId="{B4FE18BC-352D-4AD7-A8D4-EB8E53AFD4EE}" type="presParOf" srcId="{82629C67-128D-479E-9557-C3AFAA4F04B4}" destId="{28FFB627-3989-49AD-850C-723CA33A4A0D}" srcOrd="1" destOrd="0" presId="urn:microsoft.com/office/officeart/2018/5/layout/IconCircleLabelList"/>
    <dgm:cxn modelId="{F7E29DE3-41BE-404B-98F2-6686F1C43B73}" type="presParOf" srcId="{82629C67-128D-479E-9557-C3AFAA4F04B4}" destId="{CC6243AD-1E1A-479C-AB53-19E2646131A5}" srcOrd="2" destOrd="0" presId="urn:microsoft.com/office/officeart/2018/5/layout/IconCircleLabelList"/>
    <dgm:cxn modelId="{00109D95-BD30-491B-9434-9031017F8587}" type="presParOf" srcId="{82629C67-128D-479E-9557-C3AFAA4F04B4}" destId="{630D4C31-98D5-41E2-90FD-04AFC4A73EE3}" srcOrd="3" destOrd="0" presId="urn:microsoft.com/office/officeart/2018/5/layout/IconCircleLabelList"/>
    <dgm:cxn modelId="{3510765E-F4B0-453A-B59A-EED2CEF2AFF8}" type="presParOf" srcId="{C948A3C1-E20A-4FA7-B197-C31A25DC169C}" destId="{0A407FD7-82C9-4FF1-949B-3CC79088049B}" srcOrd="1" destOrd="0" presId="urn:microsoft.com/office/officeart/2018/5/layout/IconCircleLabelList"/>
    <dgm:cxn modelId="{EA6131AC-29FE-442B-8114-D985CA133C37}" type="presParOf" srcId="{C948A3C1-E20A-4FA7-B197-C31A25DC169C}" destId="{B452FC9D-0697-48C0-BF65-11EF5379A5C0}" srcOrd="2" destOrd="0" presId="urn:microsoft.com/office/officeart/2018/5/layout/IconCircleLabelList"/>
    <dgm:cxn modelId="{8F7A3B30-15C8-49BD-BD22-07EB9AE644B9}" type="presParOf" srcId="{B452FC9D-0697-48C0-BF65-11EF5379A5C0}" destId="{D8AF051B-8940-48F5-A505-DC73C0E395F7}" srcOrd="0" destOrd="0" presId="urn:microsoft.com/office/officeart/2018/5/layout/IconCircleLabelList"/>
    <dgm:cxn modelId="{4187F1CD-BF84-4AC6-9EDF-73168DFB08AF}" type="presParOf" srcId="{B452FC9D-0697-48C0-BF65-11EF5379A5C0}" destId="{CC0D7E84-F974-4DDB-AAE1-BE909BCE7FF2}" srcOrd="1" destOrd="0" presId="urn:microsoft.com/office/officeart/2018/5/layout/IconCircleLabelList"/>
    <dgm:cxn modelId="{39F6DA47-5083-46DB-8A9D-D5FE5FC0963C}" type="presParOf" srcId="{B452FC9D-0697-48C0-BF65-11EF5379A5C0}" destId="{B2611314-ED6C-49EB-81A4-94C27A34C2DC}" srcOrd="2" destOrd="0" presId="urn:microsoft.com/office/officeart/2018/5/layout/IconCircleLabelList"/>
    <dgm:cxn modelId="{C2978529-2E21-454C-8F98-CF058EE155FB}" type="presParOf" srcId="{B452FC9D-0697-48C0-BF65-11EF5379A5C0}" destId="{639E9387-19F4-482C-9531-6D9E0C63B46F}" srcOrd="3" destOrd="0" presId="urn:microsoft.com/office/officeart/2018/5/layout/IconCircleLabelList"/>
    <dgm:cxn modelId="{FB3D88FC-0871-4D32-904B-182ACD265166}" type="presParOf" srcId="{C948A3C1-E20A-4FA7-B197-C31A25DC169C}" destId="{65414218-D981-4E31-A085-CA63A84E3B97}" srcOrd="3" destOrd="0" presId="urn:microsoft.com/office/officeart/2018/5/layout/IconCircleLabelList"/>
    <dgm:cxn modelId="{834DA72C-E65A-4172-96FA-5D1D2B674CE1}" type="presParOf" srcId="{C948A3C1-E20A-4FA7-B197-C31A25DC169C}" destId="{8F16ED19-7F9F-4C8E-96B1-E4AA4EBD90F0}" srcOrd="4" destOrd="0" presId="urn:microsoft.com/office/officeart/2018/5/layout/IconCircleLabelList"/>
    <dgm:cxn modelId="{4B166C58-F312-459A-A492-48F493435E7D}" type="presParOf" srcId="{8F16ED19-7F9F-4C8E-96B1-E4AA4EBD90F0}" destId="{BA5F48D7-8AB2-4374-8794-25474B941314}" srcOrd="0" destOrd="0" presId="urn:microsoft.com/office/officeart/2018/5/layout/IconCircleLabelList"/>
    <dgm:cxn modelId="{BD07E91A-A1B7-4F9B-8DF9-33BC09932B23}" type="presParOf" srcId="{8F16ED19-7F9F-4C8E-96B1-E4AA4EBD90F0}" destId="{BEFCD68C-B991-41A8-ACD1-BA883690E935}" srcOrd="1" destOrd="0" presId="urn:microsoft.com/office/officeart/2018/5/layout/IconCircleLabelList"/>
    <dgm:cxn modelId="{EA8181FB-AB54-436E-B50D-40B97D1CF1F3}" type="presParOf" srcId="{8F16ED19-7F9F-4C8E-96B1-E4AA4EBD90F0}" destId="{88FD1998-CB9F-411B-AB0A-64F73B56C7B7}" srcOrd="2" destOrd="0" presId="urn:microsoft.com/office/officeart/2018/5/layout/IconCircleLabelList"/>
    <dgm:cxn modelId="{D8E030B8-2F22-4418-8B93-EA57DD58AD10}" type="presParOf" srcId="{8F16ED19-7F9F-4C8E-96B1-E4AA4EBD90F0}" destId="{080B9675-2E67-427F-A967-E3D9E6033E6A}" srcOrd="3" destOrd="0" presId="urn:microsoft.com/office/officeart/2018/5/layout/IconCircleLabelList"/>
    <dgm:cxn modelId="{BC279213-FEDF-4886-9B22-6E62657B3ED5}" type="presParOf" srcId="{C948A3C1-E20A-4FA7-B197-C31A25DC169C}" destId="{2C76A513-D1EE-40DD-A353-21A329EBABF0}" srcOrd="5" destOrd="0" presId="urn:microsoft.com/office/officeart/2018/5/layout/IconCircleLabelList"/>
    <dgm:cxn modelId="{0A65CBB1-A83C-41C9-B4ED-BCD28DBCF681}" type="presParOf" srcId="{C948A3C1-E20A-4FA7-B197-C31A25DC169C}" destId="{9EB80CB5-FF5C-440C-8884-FF31935EFC70}" srcOrd="6" destOrd="0" presId="urn:microsoft.com/office/officeart/2018/5/layout/IconCircleLabelList"/>
    <dgm:cxn modelId="{D42346A9-9FC2-493E-9760-2573A51CE292}" type="presParOf" srcId="{9EB80CB5-FF5C-440C-8884-FF31935EFC70}" destId="{6706F9A6-A12F-4761-9700-A3DB80850E05}" srcOrd="0" destOrd="0" presId="urn:microsoft.com/office/officeart/2018/5/layout/IconCircleLabelList"/>
    <dgm:cxn modelId="{250C1782-4C53-496D-8AFE-2D39D3ED5FB2}" type="presParOf" srcId="{9EB80CB5-FF5C-440C-8884-FF31935EFC70}" destId="{74BEDEF5-8AC3-45C3-AB0E-16435F6E9434}" srcOrd="1" destOrd="0" presId="urn:microsoft.com/office/officeart/2018/5/layout/IconCircleLabelList"/>
    <dgm:cxn modelId="{028399DB-88EF-4583-B019-CC61DF387FFD}" type="presParOf" srcId="{9EB80CB5-FF5C-440C-8884-FF31935EFC70}" destId="{69543AC2-9C4B-4C18-97F7-CDC905564B9E}" srcOrd="2" destOrd="0" presId="urn:microsoft.com/office/officeart/2018/5/layout/IconCircleLabelList"/>
    <dgm:cxn modelId="{4D81FBFC-39AA-4011-853A-5967663A6A13}" type="presParOf" srcId="{9EB80CB5-FF5C-440C-8884-FF31935EFC70}" destId="{B4CDC5E0-E532-4940-9B24-10380D033B4C}" srcOrd="3" destOrd="0" presId="urn:microsoft.com/office/officeart/2018/5/layout/IconCircleLabelList"/>
    <dgm:cxn modelId="{5B007D05-483C-4A5C-9F79-34F78FA3BEDB}" type="presParOf" srcId="{C948A3C1-E20A-4FA7-B197-C31A25DC169C}" destId="{3FF7753B-39C8-47CF-B708-59E9186B63BE}" srcOrd="7" destOrd="0" presId="urn:microsoft.com/office/officeart/2018/5/layout/IconCircleLabelList"/>
    <dgm:cxn modelId="{393BA27C-B737-40E8-9097-37AC226665B5}" type="presParOf" srcId="{C948A3C1-E20A-4FA7-B197-C31A25DC169C}" destId="{F58F5EBA-7CED-43BC-87B5-738A66DF204A}" srcOrd="8" destOrd="0" presId="urn:microsoft.com/office/officeart/2018/5/layout/IconCircleLabelList"/>
    <dgm:cxn modelId="{E466C303-CF74-4FC6-AFC8-34ACE1AC7FB7}" type="presParOf" srcId="{F58F5EBA-7CED-43BC-87B5-738A66DF204A}" destId="{B8F073A8-8289-444B-A915-A7318CBE2C7C}" srcOrd="0" destOrd="0" presId="urn:microsoft.com/office/officeart/2018/5/layout/IconCircleLabelList"/>
    <dgm:cxn modelId="{BFAD467D-702E-4B15-8B32-D34C4FD60D70}" type="presParOf" srcId="{F58F5EBA-7CED-43BC-87B5-738A66DF204A}" destId="{90345211-CD2F-43A2-870B-D9E269758D95}" srcOrd="1" destOrd="0" presId="urn:microsoft.com/office/officeart/2018/5/layout/IconCircleLabelList"/>
    <dgm:cxn modelId="{DEB7BB00-4B09-48C0-9F13-C7518FCB32B3}" type="presParOf" srcId="{F58F5EBA-7CED-43BC-87B5-738A66DF204A}" destId="{F6D4219E-0428-451D-9A2C-19F90DE28290}" srcOrd="2" destOrd="0" presId="urn:microsoft.com/office/officeart/2018/5/layout/IconCircleLabelList"/>
    <dgm:cxn modelId="{45B03D1B-A286-408F-9524-3250A2691D7F}" type="presParOf" srcId="{F58F5EBA-7CED-43BC-87B5-738A66DF204A}" destId="{DD9469F3-F2D4-4BF0-B533-4F664CD31578}" srcOrd="3" destOrd="0" presId="urn:microsoft.com/office/officeart/2018/5/layout/IconCircleLabelList"/>
    <dgm:cxn modelId="{1F02278E-4404-4EDB-A9EC-001493842015}" type="presParOf" srcId="{C948A3C1-E20A-4FA7-B197-C31A25DC169C}" destId="{90705A99-B49E-441C-9060-C784CF62C2A9}" srcOrd="9" destOrd="0" presId="urn:microsoft.com/office/officeart/2018/5/layout/IconCircleLabelList"/>
    <dgm:cxn modelId="{A4904012-0221-443F-BEB8-05A6E4C04990}" type="presParOf" srcId="{C948A3C1-E20A-4FA7-B197-C31A25DC169C}" destId="{938EDC74-1633-4DA9-BFA2-E9644EA57793}" srcOrd="10" destOrd="0" presId="urn:microsoft.com/office/officeart/2018/5/layout/IconCircleLabelList"/>
    <dgm:cxn modelId="{4FBBF556-6580-4565-97AD-FB77FCD2D2FB}" type="presParOf" srcId="{938EDC74-1633-4DA9-BFA2-E9644EA57793}" destId="{E3909B8F-35F0-4FFA-BCA0-347A90163FF7}" srcOrd="0" destOrd="0" presId="urn:microsoft.com/office/officeart/2018/5/layout/IconCircleLabelList"/>
    <dgm:cxn modelId="{ED5FAAB6-F0A8-4089-ABFB-5DCBAD6822B4}" type="presParOf" srcId="{938EDC74-1633-4DA9-BFA2-E9644EA57793}" destId="{D97F2C7E-8BF1-4191-A4FB-E3A348ACA395}" srcOrd="1" destOrd="0" presId="urn:microsoft.com/office/officeart/2018/5/layout/IconCircleLabelList"/>
    <dgm:cxn modelId="{2D7A557A-A8E0-4C72-9B04-93E061B35071}" type="presParOf" srcId="{938EDC74-1633-4DA9-BFA2-E9644EA57793}" destId="{0D6FFC53-D9BA-4212-AC73-578F7974E3E9}" srcOrd="2" destOrd="0" presId="urn:microsoft.com/office/officeart/2018/5/layout/IconCircleLabelList"/>
    <dgm:cxn modelId="{76E21E86-C947-4B04-B969-6D43E7965DDF}" type="presParOf" srcId="{938EDC74-1633-4DA9-BFA2-E9644EA57793}" destId="{3A3A760B-7532-4674-A09A-2B6B53B0BCD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7D8433-FA35-4533-8ADF-F25AEF9351A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AU"/>
        </a:p>
      </dgm:t>
    </dgm:pt>
    <dgm:pt modelId="{9D47A67A-E02B-4E34-9EAC-EC21347D2EE0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FR" b="1"/>
            <a:t>1. Psychological Safety &amp; Engagement</a:t>
          </a:r>
          <a:endParaRPr lang="en-AU"/>
        </a:p>
      </dgm:t>
    </dgm:pt>
    <dgm:pt modelId="{3A3704EC-F8D1-4D32-AA1C-A1FCBA679B4A}" type="parTrans" cxnId="{1CD8DE7E-653B-4C3C-B379-7F5F655B3FBC}">
      <dgm:prSet/>
      <dgm:spPr/>
      <dgm:t>
        <a:bodyPr/>
        <a:lstStyle/>
        <a:p>
          <a:endParaRPr lang="en-AU"/>
        </a:p>
      </dgm:t>
    </dgm:pt>
    <dgm:pt modelId="{16F98928-D926-44E1-84CD-617185F896CA}" type="sibTrans" cxnId="{1CD8DE7E-653B-4C3C-B379-7F5F655B3FBC}">
      <dgm:prSet/>
      <dgm:spPr/>
      <dgm:t>
        <a:bodyPr/>
        <a:lstStyle/>
        <a:p>
          <a:endParaRPr lang="en-AU"/>
        </a:p>
      </dgm:t>
    </dgm:pt>
    <dgm:pt modelId="{934F2AEF-B757-49B8-A0D9-4C694CC687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Amy Edmondson’s work on psychological safety (Harvard) defines behaviors that signal voice, risk-taking, and trust — which informed terms like </a:t>
          </a:r>
          <a:r>
            <a:rPr lang="en-US" b="0" i="1"/>
            <a:t>"Cautious"</a:t>
          </a:r>
          <a:r>
            <a:rPr lang="en-US" b="0"/>
            <a:t> or </a:t>
          </a:r>
          <a:r>
            <a:rPr lang="en-US" b="0" i="1"/>
            <a:t>"Proactive"</a:t>
          </a:r>
          <a:r>
            <a:rPr lang="en-US" b="0"/>
            <a:t>.</a:t>
          </a:r>
        </a:p>
      </dgm:t>
    </dgm:pt>
    <dgm:pt modelId="{BE6B3C77-ED8B-4DB5-9F0F-6CED6555C0D0}" type="parTrans" cxnId="{FE1B7F43-5395-4B87-AF6D-31E450328E55}">
      <dgm:prSet/>
      <dgm:spPr/>
      <dgm:t>
        <a:bodyPr/>
        <a:lstStyle/>
        <a:p>
          <a:endParaRPr lang="en-AU"/>
        </a:p>
      </dgm:t>
    </dgm:pt>
    <dgm:pt modelId="{902583EE-9877-4E89-A2E1-3CE1E686E0EB}" type="sibTrans" cxnId="{FE1B7F43-5395-4B87-AF6D-31E450328E55}">
      <dgm:prSet/>
      <dgm:spPr/>
      <dgm:t>
        <a:bodyPr/>
        <a:lstStyle/>
        <a:p>
          <a:endParaRPr lang="en-AU"/>
        </a:p>
      </dgm:t>
    </dgm:pt>
    <dgm:pt modelId="{9119FAFD-D4D0-4E1E-A326-A768C7BE02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Engagement concepts from Kahn (1990) and Maslach &amp; Leiter (1997) describe involvement, ownership, and burnout — leading to labels like </a:t>
          </a:r>
          <a:r>
            <a:rPr lang="en-US" b="0" i="1"/>
            <a:t>“Concerned”</a:t>
          </a:r>
          <a:r>
            <a:rPr lang="en-US" b="0"/>
            <a:t>, </a:t>
          </a:r>
          <a:r>
            <a:rPr lang="en-US" b="0" i="1"/>
            <a:t>“Disengaged”</a:t>
          </a:r>
          <a:r>
            <a:rPr lang="en-US" b="0"/>
            <a:t>, etc</a:t>
          </a:r>
          <a:r>
            <a:rPr lang="en-US"/>
            <a:t>.</a:t>
          </a:r>
        </a:p>
      </dgm:t>
    </dgm:pt>
    <dgm:pt modelId="{D25FE7F9-3392-49CE-8942-66FBD66BB024}" type="parTrans" cxnId="{D0CB957E-D5BB-4606-BF95-81A68349BD39}">
      <dgm:prSet/>
      <dgm:spPr/>
      <dgm:t>
        <a:bodyPr/>
        <a:lstStyle/>
        <a:p>
          <a:endParaRPr lang="en-AU"/>
        </a:p>
      </dgm:t>
    </dgm:pt>
    <dgm:pt modelId="{1FE3BF83-367B-49BC-9181-8942D4527810}" type="sibTrans" cxnId="{D0CB957E-D5BB-4606-BF95-81A68349BD39}">
      <dgm:prSet/>
      <dgm:spPr/>
      <dgm:t>
        <a:bodyPr/>
        <a:lstStyle/>
        <a:p>
          <a:endParaRPr lang="en-AU"/>
        </a:p>
      </dgm:t>
    </dgm:pt>
    <dgm:pt modelId="{A6AA706C-41D5-4D7C-8199-20ACFD51087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AU" b="1"/>
            <a:t>2. Sociolinguistics &amp; Organisational Discourse</a:t>
          </a:r>
        </a:p>
      </dgm:t>
    </dgm:pt>
    <dgm:pt modelId="{C7F876C5-9CAA-45F3-9050-4550D577E6BD}" type="parTrans" cxnId="{325D123F-E6E7-4561-9295-65E39F0FCA0D}">
      <dgm:prSet/>
      <dgm:spPr/>
      <dgm:t>
        <a:bodyPr/>
        <a:lstStyle/>
        <a:p>
          <a:endParaRPr lang="en-AU"/>
        </a:p>
      </dgm:t>
    </dgm:pt>
    <dgm:pt modelId="{61513746-DDD1-4494-87AF-E47CB866A5FA}" type="sibTrans" cxnId="{325D123F-E6E7-4561-9295-65E39F0FCA0D}">
      <dgm:prSet/>
      <dgm:spPr/>
      <dgm:t>
        <a:bodyPr/>
        <a:lstStyle/>
        <a:p>
          <a:endParaRPr lang="en-AU"/>
        </a:p>
      </dgm:t>
    </dgm:pt>
    <dgm:pt modelId="{23D4FD40-7F3E-4D04-8E98-5374CE5687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Workplace styles draw on </a:t>
          </a:r>
          <a:r>
            <a:rPr lang="en-US" b="0"/>
            <a:t>sociolinguistic analysis </a:t>
          </a:r>
          <a:r>
            <a:rPr lang="en-US"/>
            <a:t>of workplace communication (Holmes &amp; Marra 2011, Gee 1999).</a:t>
          </a:r>
        </a:p>
      </dgm:t>
    </dgm:pt>
    <dgm:pt modelId="{95D66F4F-D13F-4B3F-AE7C-1205510BEDC8}" type="parTrans" cxnId="{0896A81D-FC99-42C5-B933-49AA9FFF4F40}">
      <dgm:prSet/>
      <dgm:spPr/>
      <dgm:t>
        <a:bodyPr/>
        <a:lstStyle/>
        <a:p>
          <a:endParaRPr lang="en-AU"/>
        </a:p>
      </dgm:t>
    </dgm:pt>
    <dgm:pt modelId="{0FC50D90-2D66-439A-B382-659477DDD6DE}" type="sibTrans" cxnId="{0896A81D-FC99-42C5-B933-49AA9FFF4F40}">
      <dgm:prSet/>
      <dgm:spPr/>
      <dgm:t>
        <a:bodyPr/>
        <a:lstStyle/>
        <a:p>
          <a:endParaRPr lang="en-AU"/>
        </a:p>
      </dgm:t>
    </dgm:pt>
    <dgm:pt modelId="{F81C5F37-17AE-4DF1-BE22-798D2DAC86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Terms like </a:t>
          </a:r>
          <a:r>
            <a:rPr lang="en-US" b="1"/>
            <a:t>“</a:t>
          </a:r>
          <a:r>
            <a:rPr lang="en-US" b="0" i="1"/>
            <a:t>Complier</a:t>
          </a:r>
          <a:r>
            <a:rPr lang="en-US" b="1"/>
            <a:t>,” “</a:t>
          </a:r>
          <a:r>
            <a:rPr lang="en-US" b="0" i="1"/>
            <a:t>Fixer</a:t>
          </a:r>
          <a:r>
            <a:rPr lang="en-US" b="1"/>
            <a:t>,” “</a:t>
          </a:r>
          <a:r>
            <a:rPr lang="en-US" b="0" i="1"/>
            <a:t>Champion</a:t>
          </a:r>
          <a:r>
            <a:rPr lang="en-US" b="1"/>
            <a:t>”</a:t>
          </a:r>
          <a:r>
            <a:rPr lang="en-US"/>
            <a:t> emerge from ethnographic descriptions of how people “talk safety” in different roles.</a:t>
          </a:r>
        </a:p>
      </dgm:t>
    </dgm:pt>
    <dgm:pt modelId="{B6E6CC2F-250B-4554-897A-F9587D4FDB7D}" type="parTrans" cxnId="{BBF78335-F4CD-4E25-AF2E-5DDEF2963712}">
      <dgm:prSet/>
      <dgm:spPr/>
      <dgm:t>
        <a:bodyPr/>
        <a:lstStyle/>
        <a:p>
          <a:endParaRPr lang="en-AU"/>
        </a:p>
      </dgm:t>
    </dgm:pt>
    <dgm:pt modelId="{DB9854AA-71F5-4B9C-A651-D3C324C53FEA}" type="sibTrans" cxnId="{BBF78335-F4CD-4E25-AF2E-5DDEF2963712}">
      <dgm:prSet/>
      <dgm:spPr/>
      <dgm:t>
        <a:bodyPr/>
        <a:lstStyle/>
        <a:p>
          <a:endParaRPr lang="en-AU"/>
        </a:p>
      </dgm:t>
    </dgm:pt>
    <dgm:pt modelId="{32F6F341-FA97-4D4B-BD69-6CDB975740D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AU" b="1"/>
            <a:t>3. Practice-Driven Persona Modelling (UX design)</a:t>
          </a:r>
        </a:p>
      </dgm:t>
    </dgm:pt>
    <dgm:pt modelId="{BB36AEDE-FA97-4825-B284-94099B464EFE}" type="parTrans" cxnId="{7329AB2F-76E5-445A-A898-F88BEE24D391}">
      <dgm:prSet/>
      <dgm:spPr/>
      <dgm:t>
        <a:bodyPr/>
        <a:lstStyle/>
        <a:p>
          <a:endParaRPr lang="en-AU"/>
        </a:p>
      </dgm:t>
    </dgm:pt>
    <dgm:pt modelId="{61BCD8FD-8FFC-4465-8DA2-31CD19BC15F8}" type="sibTrans" cxnId="{7329AB2F-76E5-445A-A898-F88BEE24D391}">
      <dgm:prSet/>
      <dgm:spPr/>
      <dgm:t>
        <a:bodyPr/>
        <a:lstStyle/>
        <a:p>
          <a:endParaRPr lang="en-AU"/>
        </a:p>
      </dgm:t>
    </dgm:pt>
    <dgm:pt modelId="{8448194A-58ED-4DA9-AE75-698C6EBE1D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Similar to UX design, in this case I apply behavioral labels that capture motivations + communication style.</a:t>
          </a:r>
        </a:p>
      </dgm:t>
    </dgm:pt>
    <dgm:pt modelId="{0242B028-6753-45E5-978F-93AF89FA3D06}" type="parTrans" cxnId="{6AA9DCEF-CCDD-442F-AECB-3582D51A5928}">
      <dgm:prSet/>
      <dgm:spPr/>
      <dgm:t>
        <a:bodyPr/>
        <a:lstStyle/>
        <a:p>
          <a:endParaRPr lang="en-AU"/>
        </a:p>
      </dgm:t>
    </dgm:pt>
    <dgm:pt modelId="{C801C7E0-6C4D-4A76-AA9C-A38482E15D16}" type="sibTrans" cxnId="{6AA9DCEF-CCDD-442F-AECB-3582D51A5928}">
      <dgm:prSet/>
      <dgm:spPr/>
      <dgm:t>
        <a:bodyPr/>
        <a:lstStyle/>
        <a:p>
          <a:endParaRPr lang="en-AU"/>
        </a:p>
      </dgm:t>
    </dgm:pt>
    <dgm:pt modelId="{A84D4E20-8FBE-4B8E-8E06-0C488A13D6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Used heavily in safety culture training, healthcare team simulations, and even nudge-based risk design (e.g. UK Behavioural Insights Team).</a:t>
          </a:r>
        </a:p>
      </dgm:t>
    </dgm:pt>
    <dgm:pt modelId="{C2A3E2A7-46D9-4D1C-8944-E29AAF6F11A0}" type="parTrans" cxnId="{F0AAFD29-4660-4243-B5A9-8674E228A46D}">
      <dgm:prSet/>
      <dgm:spPr/>
      <dgm:t>
        <a:bodyPr/>
        <a:lstStyle/>
        <a:p>
          <a:endParaRPr lang="en-AU"/>
        </a:p>
      </dgm:t>
    </dgm:pt>
    <dgm:pt modelId="{9174E3C8-7BA9-40BD-AF53-319DE3F9A473}" type="sibTrans" cxnId="{F0AAFD29-4660-4243-B5A9-8674E228A46D}">
      <dgm:prSet/>
      <dgm:spPr/>
      <dgm:t>
        <a:bodyPr/>
        <a:lstStyle/>
        <a:p>
          <a:endParaRPr lang="en-AU"/>
        </a:p>
      </dgm:t>
    </dgm:pt>
    <dgm:pt modelId="{19EE11E2-6CE5-46F9-AF77-80E9D4A54FC8}" type="pres">
      <dgm:prSet presAssocID="{467D8433-FA35-4533-8ADF-F25AEF9351A8}" presName="root" presStyleCnt="0">
        <dgm:presLayoutVars>
          <dgm:dir/>
          <dgm:resizeHandles val="exact"/>
        </dgm:presLayoutVars>
      </dgm:prSet>
      <dgm:spPr/>
    </dgm:pt>
    <dgm:pt modelId="{553B2614-7054-4899-9EC0-D17D996CC4F4}" type="pres">
      <dgm:prSet presAssocID="{9D47A67A-E02B-4E34-9EAC-EC21347D2EE0}" presName="compNode" presStyleCnt="0"/>
      <dgm:spPr/>
    </dgm:pt>
    <dgm:pt modelId="{B8763B07-B5C2-4C2C-B7EA-300E02BFF0BF}" type="pres">
      <dgm:prSet presAssocID="{9D47A67A-E02B-4E34-9EAC-EC21347D2EE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F143A005-210B-437A-BAE0-BF0895004CDD}" type="pres">
      <dgm:prSet presAssocID="{9D47A67A-E02B-4E34-9EAC-EC21347D2EE0}" presName="iconSpace" presStyleCnt="0"/>
      <dgm:spPr/>
    </dgm:pt>
    <dgm:pt modelId="{0A5A1D92-9597-4E38-809F-FB9B51096301}" type="pres">
      <dgm:prSet presAssocID="{9D47A67A-E02B-4E34-9EAC-EC21347D2EE0}" presName="parTx" presStyleLbl="revTx" presStyleIdx="0" presStyleCnt="6">
        <dgm:presLayoutVars>
          <dgm:chMax val="0"/>
          <dgm:chPref val="0"/>
        </dgm:presLayoutVars>
      </dgm:prSet>
      <dgm:spPr/>
    </dgm:pt>
    <dgm:pt modelId="{1EB5F469-CD1A-4F38-B3DC-BB27DCFD5E9E}" type="pres">
      <dgm:prSet presAssocID="{9D47A67A-E02B-4E34-9EAC-EC21347D2EE0}" presName="txSpace" presStyleCnt="0"/>
      <dgm:spPr/>
    </dgm:pt>
    <dgm:pt modelId="{B0C3CF5F-36E6-477B-867C-24B94CE8B097}" type="pres">
      <dgm:prSet presAssocID="{9D47A67A-E02B-4E34-9EAC-EC21347D2EE0}" presName="desTx" presStyleLbl="revTx" presStyleIdx="1" presStyleCnt="6">
        <dgm:presLayoutVars/>
      </dgm:prSet>
      <dgm:spPr/>
    </dgm:pt>
    <dgm:pt modelId="{9F8BE6CA-02B2-476D-B1B1-61901FD73552}" type="pres">
      <dgm:prSet presAssocID="{16F98928-D926-44E1-84CD-617185F896CA}" presName="sibTrans" presStyleCnt="0"/>
      <dgm:spPr/>
    </dgm:pt>
    <dgm:pt modelId="{CB8262D6-B4D8-4242-9746-9B154AAF6FCF}" type="pres">
      <dgm:prSet presAssocID="{A6AA706C-41D5-4D7C-8199-20ACFD51087B}" presName="compNode" presStyleCnt="0"/>
      <dgm:spPr/>
    </dgm:pt>
    <dgm:pt modelId="{D5468604-D3BD-45DA-8741-EA0E6414E286}" type="pres">
      <dgm:prSet presAssocID="{A6AA706C-41D5-4D7C-8199-20ACFD51087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D9DDC391-B6FD-42FC-A383-9A20656A7C41}" type="pres">
      <dgm:prSet presAssocID="{A6AA706C-41D5-4D7C-8199-20ACFD51087B}" presName="iconSpace" presStyleCnt="0"/>
      <dgm:spPr/>
    </dgm:pt>
    <dgm:pt modelId="{032470B1-99E1-4892-8A7D-40D2C335FDC9}" type="pres">
      <dgm:prSet presAssocID="{A6AA706C-41D5-4D7C-8199-20ACFD51087B}" presName="parTx" presStyleLbl="revTx" presStyleIdx="2" presStyleCnt="6">
        <dgm:presLayoutVars>
          <dgm:chMax val="0"/>
          <dgm:chPref val="0"/>
        </dgm:presLayoutVars>
      </dgm:prSet>
      <dgm:spPr/>
    </dgm:pt>
    <dgm:pt modelId="{C9C59BC4-2706-44DB-B2FE-E90C54EBA261}" type="pres">
      <dgm:prSet presAssocID="{A6AA706C-41D5-4D7C-8199-20ACFD51087B}" presName="txSpace" presStyleCnt="0"/>
      <dgm:spPr/>
    </dgm:pt>
    <dgm:pt modelId="{C47786DA-A356-4855-9B2E-252DB41B0294}" type="pres">
      <dgm:prSet presAssocID="{A6AA706C-41D5-4D7C-8199-20ACFD51087B}" presName="desTx" presStyleLbl="revTx" presStyleIdx="3" presStyleCnt="6">
        <dgm:presLayoutVars/>
      </dgm:prSet>
      <dgm:spPr/>
    </dgm:pt>
    <dgm:pt modelId="{9D97229B-12F2-451C-A4B5-38C9810F1EA3}" type="pres">
      <dgm:prSet presAssocID="{61513746-DDD1-4494-87AF-E47CB866A5FA}" presName="sibTrans" presStyleCnt="0"/>
      <dgm:spPr/>
    </dgm:pt>
    <dgm:pt modelId="{16C7FA25-B6DA-45EA-B1D6-66917839E349}" type="pres">
      <dgm:prSet presAssocID="{32F6F341-FA97-4D4B-BD69-6CDB975740D7}" presName="compNode" presStyleCnt="0"/>
      <dgm:spPr/>
    </dgm:pt>
    <dgm:pt modelId="{4E41C492-A9F6-4477-B692-26591F9F8DA7}" type="pres">
      <dgm:prSet presAssocID="{32F6F341-FA97-4D4B-BD69-6CDB975740D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5BEB65B-2C36-4039-8419-F5E4DF207CB9}" type="pres">
      <dgm:prSet presAssocID="{32F6F341-FA97-4D4B-BD69-6CDB975740D7}" presName="iconSpace" presStyleCnt="0"/>
      <dgm:spPr/>
    </dgm:pt>
    <dgm:pt modelId="{CAF10895-AC98-4785-AD6D-A615FC84A9BE}" type="pres">
      <dgm:prSet presAssocID="{32F6F341-FA97-4D4B-BD69-6CDB975740D7}" presName="parTx" presStyleLbl="revTx" presStyleIdx="4" presStyleCnt="6">
        <dgm:presLayoutVars>
          <dgm:chMax val="0"/>
          <dgm:chPref val="0"/>
        </dgm:presLayoutVars>
      </dgm:prSet>
      <dgm:spPr/>
    </dgm:pt>
    <dgm:pt modelId="{22952E11-1695-4D60-9E6F-7A0DB700BBBE}" type="pres">
      <dgm:prSet presAssocID="{32F6F341-FA97-4D4B-BD69-6CDB975740D7}" presName="txSpace" presStyleCnt="0"/>
      <dgm:spPr/>
    </dgm:pt>
    <dgm:pt modelId="{A93AE8AB-096C-4521-ADA5-F9578EAFFE2A}" type="pres">
      <dgm:prSet presAssocID="{32F6F341-FA97-4D4B-BD69-6CDB975740D7}" presName="desTx" presStyleLbl="revTx" presStyleIdx="5" presStyleCnt="6">
        <dgm:presLayoutVars/>
      </dgm:prSet>
      <dgm:spPr/>
    </dgm:pt>
  </dgm:ptLst>
  <dgm:cxnLst>
    <dgm:cxn modelId="{0896A81D-FC99-42C5-B933-49AA9FFF4F40}" srcId="{A6AA706C-41D5-4D7C-8199-20ACFD51087B}" destId="{23D4FD40-7F3E-4D04-8E98-5374CE568790}" srcOrd="0" destOrd="0" parTransId="{95D66F4F-D13F-4B3F-AE7C-1205510BEDC8}" sibTransId="{0FC50D90-2D66-439A-B382-659477DDD6DE}"/>
    <dgm:cxn modelId="{8BB8DC25-2F03-4F63-BEB6-43E641A0EEE7}" type="presOf" srcId="{23D4FD40-7F3E-4D04-8E98-5374CE568790}" destId="{C47786DA-A356-4855-9B2E-252DB41B0294}" srcOrd="0" destOrd="0" presId="urn:microsoft.com/office/officeart/2018/5/layout/CenteredIconLabelDescriptionList"/>
    <dgm:cxn modelId="{F0AAFD29-4660-4243-B5A9-8674E228A46D}" srcId="{32F6F341-FA97-4D4B-BD69-6CDB975740D7}" destId="{A84D4E20-8FBE-4B8E-8E06-0C488A13D64D}" srcOrd="1" destOrd="0" parTransId="{C2A3E2A7-46D9-4D1C-8944-E29AAF6F11A0}" sibTransId="{9174E3C8-7BA9-40BD-AF53-319DE3F9A473}"/>
    <dgm:cxn modelId="{9C53E32A-90EA-4090-9488-EDA1E2FE5C21}" type="presOf" srcId="{A6AA706C-41D5-4D7C-8199-20ACFD51087B}" destId="{032470B1-99E1-4892-8A7D-40D2C335FDC9}" srcOrd="0" destOrd="0" presId="urn:microsoft.com/office/officeart/2018/5/layout/CenteredIconLabelDescriptionList"/>
    <dgm:cxn modelId="{7329AB2F-76E5-445A-A898-F88BEE24D391}" srcId="{467D8433-FA35-4533-8ADF-F25AEF9351A8}" destId="{32F6F341-FA97-4D4B-BD69-6CDB975740D7}" srcOrd="2" destOrd="0" parTransId="{BB36AEDE-FA97-4825-B284-94099B464EFE}" sibTransId="{61BCD8FD-8FFC-4465-8DA2-31CD19BC15F8}"/>
    <dgm:cxn modelId="{BBF78335-F4CD-4E25-AF2E-5DDEF2963712}" srcId="{A6AA706C-41D5-4D7C-8199-20ACFD51087B}" destId="{F81C5F37-17AE-4DF1-BE22-798D2DAC8674}" srcOrd="1" destOrd="0" parTransId="{B6E6CC2F-250B-4554-897A-F9587D4FDB7D}" sibTransId="{DB9854AA-71F5-4B9C-A651-D3C324C53FEA}"/>
    <dgm:cxn modelId="{325D123F-E6E7-4561-9295-65E39F0FCA0D}" srcId="{467D8433-FA35-4533-8ADF-F25AEF9351A8}" destId="{A6AA706C-41D5-4D7C-8199-20ACFD51087B}" srcOrd="1" destOrd="0" parTransId="{C7F876C5-9CAA-45F3-9050-4550D577E6BD}" sibTransId="{61513746-DDD1-4494-87AF-E47CB866A5FA}"/>
    <dgm:cxn modelId="{F56EC15E-6212-44A4-B88C-4DEE62130E32}" type="presOf" srcId="{467D8433-FA35-4533-8ADF-F25AEF9351A8}" destId="{19EE11E2-6CE5-46F9-AF77-80E9D4A54FC8}" srcOrd="0" destOrd="0" presId="urn:microsoft.com/office/officeart/2018/5/layout/CenteredIconLabelDescriptionList"/>
    <dgm:cxn modelId="{FE1B7F43-5395-4B87-AF6D-31E450328E55}" srcId="{9D47A67A-E02B-4E34-9EAC-EC21347D2EE0}" destId="{934F2AEF-B757-49B8-A0D9-4C694CC6877E}" srcOrd="0" destOrd="0" parTransId="{BE6B3C77-ED8B-4DB5-9F0F-6CED6555C0D0}" sibTransId="{902583EE-9877-4E89-A2E1-3CE1E686E0EB}"/>
    <dgm:cxn modelId="{B06AEF72-4231-457B-9320-0C1D35CE260D}" type="presOf" srcId="{8448194A-58ED-4DA9-AE75-698C6EBE1D79}" destId="{A93AE8AB-096C-4521-ADA5-F9578EAFFE2A}" srcOrd="0" destOrd="0" presId="urn:microsoft.com/office/officeart/2018/5/layout/CenteredIconLabelDescriptionList"/>
    <dgm:cxn modelId="{D0CB957E-D5BB-4606-BF95-81A68349BD39}" srcId="{9D47A67A-E02B-4E34-9EAC-EC21347D2EE0}" destId="{9119FAFD-D4D0-4E1E-A326-A768C7BE023F}" srcOrd="1" destOrd="0" parTransId="{D25FE7F9-3392-49CE-8942-66FBD66BB024}" sibTransId="{1FE3BF83-367B-49BC-9181-8942D4527810}"/>
    <dgm:cxn modelId="{1CD8DE7E-653B-4C3C-B379-7F5F655B3FBC}" srcId="{467D8433-FA35-4533-8ADF-F25AEF9351A8}" destId="{9D47A67A-E02B-4E34-9EAC-EC21347D2EE0}" srcOrd="0" destOrd="0" parTransId="{3A3704EC-F8D1-4D32-AA1C-A1FCBA679B4A}" sibTransId="{16F98928-D926-44E1-84CD-617185F896CA}"/>
    <dgm:cxn modelId="{E9F7F19A-C6DA-4D38-A563-74F32F6C3C80}" type="presOf" srcId="{A84D4E20-8FBE-4B8E-8E06-0C488A13D64D}" destId="{A93AE8AB-096C-4521-ADA5-F9578EAFFE2A}" srcOrd="0" destOrd="1" presId="urn:microsoft.com/office/officeart/2018/5/layout/CenteredIconLabelDescriptionList"/>
    <dgm:cxn modelId="{CBDB95C0-E95A-4D25-9A9F-4A1A6224E8A2}" type="presOf" srcId="{934F2AEF-B757-49B8-A0D9-4C694CC6877E}" destId="{B0C3CF5F-36E6-477B-867C-24B94CE8B097}" srcOrd="0" destOrd="0" presId="urn:microsoft.com/office/officeart/2018/5/layout/CenteredIconLabelDescriptionList"/>
    <dgm:cxn modelId="{D91443CF-8EA5-40A9-B19C-699AB0C27874}" type="presOf" srcId="{9119FAFD-D4D0-4E1E-A326-A768C7BE023F}" destId="{B0C3CF5F-36E6-477B-867C-24B94CE8B097}" srcOrd="0" destOrd="1" presId="urn:microsoft.com/office/officeart/2018/5/layout/CenteredIconLabelDescriptionList"/>
    <dgm:cxn modelId="{00B5C4D4-7A24-420B-8ECF-34C36EC53236}" type="presOf" srcId="{9D47A67A-E02B-4E34-9EAC-EC21347D2EE0}" destId="{0A5A1D92-9597-4E38-809F-FB9B51096301}" srcOrd="0" destOrd="0" presId="urn:microsoft.com/office/officeart/2018/5/layout/CenteredIconLabelDescriptionList"/>
    <dgm:cxn modelId="{267C13DA-AF16-4AC7-A0F0-9A3BC0A1CA34}" type="presOf" srcId="{32F6F341-FA97-4D4B-BD69-6CDB975740D7}" destId="{CAF10895-AC98-4785-AD6D-A615FC84A9BE}" srcOrd="0" destOrd="0" presId="urn:microsoft.com/office/officeart/2018/5/layout/CenteredIconLabelDescriptionList"/>
    <dgm:cxn modelId="{9F2691ED-5872-4527-A46F-D3B584098DD3}" type="presOf" srcId="{F81C5F37-17AE-4DF1-BE22-798D2DAC8674}" destId="{C47786DA-A356-4855-9B2E-252DB41B0294}" srcOrd="0" destOrd="1" presId="urn:microsoft.com/office/officeart/2018/5/layout/CenteredIconLabelDescriptionList"/>
    <dgm:cxn modelId="{6AA9DCEF-CCDD-442F-AECB-3582D51A5928}" srcId="{32F6F341-FA97-4D4B-BD69-6CDB975740D7}" destId="{8448194A-58ED-4DA9-AE75-698C6EBE1D79}" srcOrd="0" destOrd="0" parTransId="{0242B028-6753-45E5-978F-93AF89FA3D06}" sibTransId="{C801C7E0-6C4D-4A76-AA9C-A38482E15D16}"/>
    <dgm:cxn modelId="{89C933F9-8E0D-49F9-93E1-F6D806599C79}" type="presParOf" srcId="{19EE11E2-6CE5-46F9-AF77-80E9D4A54FC8}" destId="{553B2614-7054-4899-9EC0-D17D996CC4F4}" srcOrd="0" destOrd="0" presId="urn:microsoft.com/office/officeart/2018/5/layout/CenteredIconLabelDescriptionList"/>
    <dgm:cxn modelId="{19E12A0A-5099-4C96-B765-624497DF7BDD}" type="presParOf" srcId="{553B2614-7054-4899-9EC0-D17D996CC4F4}" destId="{B8763B07-B5C2-4C2C-B7EA-300E02BFF0BF}" srcOrd="0" destOrd="0" presId="urn:microsoft.com/office/officeart/2018/5/layout/CenteredIconLabelDescriptionList"/>
    <dgm:cxn modelId="{F5CA34F2-DB62-4A0C-85D0-3C494B059B43}" type="presParOf" srcId="{553B2614-7054-4899-9EC0-D17D996CC4F4}" destId="{F143A005-210B-437A-BAE0-BF0895004CDD}" srcOrd="1" destOrd="0" presId="urn:microsoft.com/office/officeart/2018/5/layout/CenteredIconLabelDescriptionList"/>
    <dgm:cxn modelId="{DC85BCD9-66C2-46C7-BAA3-F14703C42556}" type="presParOf" srcId="{553B2614-7054-4899-9EC0-D17D996CC4F4}" destId="{0A5A1D92-9597-4E38-809F-FB9B51096301}" srcOrd="2" destOrd="0" presId="urn:microsoft.com/office/officeart/2018/5/layout/CenteredIconLabelDescriptionList"/>
    <dgm:cxn modelId="{F65E95C0-F797-497D-95AF-65E756C4FFB6}" type="presParOf" srcId="{553B2614-7054-4899-9EC0-D17D996CC4F4}" destId="{1EB5F469-CD1A-4F38-B3DC-BB27DCFD5E9E}" srcOrd="3" destOrd="0" presId="urn:microsoft.com/office/officeart/2018/5/layout/CenteredIconLabelDescriptionList"/>
    <dgm:cxn modelId="{EF4D97B6-9F9B-45B0-A39B-A439CC193021}" type="presParOf" srcId="{553B2614-7054-4899-9EC0-D17D996CC4F4}" destId="{B0C3CF5F-36E6-477B-867C-24B94CE8B097}" srcOrd="4" destOrd="0" presId="urn:microsoft.com/office/officeart/2018/5/layout/CenteredIconLabelDescriptionList"/>
    <dgm:cxn modelId="{621AC443-E95B-4873-9081-4BE559C96568}" type="presParOf" srcId="{19EE11E2-6CE5-46F9-AF77-80E9D4A54FC8}" destId="{9F8BE6CA-02B2-476D-B1B1-61901FD73552}" srcOrd="1" destOrd="0" presId="urn:microsoft.com/office/officeart/2018/5/layout/CenteredIconLabelDescriptionList"/>
    <dgm:cxn modelId="{4B18CE10-2B06-417D-A010-16CA72C00AFF}" type="presParOf" srcId="{19EE11E2-6CE5-46F9-AF77-80E9D4A54FC8}" destId="{CB8262D6-B4D8-4242-9746-9B154AAF6FCF}" srcOrd="2" destOrd="0" presId="urn:microsoft.com/office/officeart/2018/5/layout/CenteredIconLabelDescriptionList"/>
    <dgm:cxn modelId="{260AABED-244A-4B96-BC4C-9AB311AB6D79}" type="presParOf" srcId="{CB8262D6-B4D8-4242-9746-9B154AAF6FCF}" destId="{D5468604-D3BD-45DA-8741-EA0E6414E286}" srcOrd="0" destOrd="0" presId="urn:microsoft.com/office/officeart/2018/5/layout/CenteredIconLabelDescriptionList"/>
    <dgm:cxn modelId="{0A4B96F6-F816-4B57-8B70-ED558200D68A}" type="presParOf" srcId="{CB8262D6-B4D8-4242-9746-9B154AAF6FCF}" destId="{D9DDC391-B6FD-42FC-A383-9A20656A7C41}" srcOrd="1" destOrd="0" presId="urn:microsoft.com/office/officeart/2018/5/layout/CenteredIconLabelDescriptionList"/>
    <dgm:cxn modelId="{758987D7-504F-484E-812E-785E3CEDC839}" type="presParOf" srcId="{CB8262D6-B4D8-4242-9746-9B154AAF6FCF}" destId="{032470B1-99E1-4892-8A7D-40D2C335FDC9}" srcOrd="2" destOrd="0" presId="urn:microsoft.com/office/officeart/2018/5/layout/CenteredIconLabelDescriptionList"/>
    <dgm:cxn modelId="{290D1FE7-9271-4E9F-948E-8F59023EE023}" type="presParOf" srcId="{CB8262D6-B4D8-4242-9746-9B154AAF6FCF}" destId="{C9C59BC4-2706-44DB-B2FE-E90C54EBA261}" srcOrd="3" destOrd="0" presId="urn:microsoft.com/office/officeart/2018/5/layout/CenteredIconLabelDescriptionList"/>
    <dgm:cxn modelId="{4A696186-D26C-4E02-9183-B8947D6D3F2B}" type="presParOf" srcId="{CB8262D6-B4D8-4242-9746-9B154AAF6FCF}" destId="{C47786DA-A356-4855-9B2E-252DB41B0294}" srcOrd="4" destOrd="0" presId="urn:microsoft.com/office/officeart/2018/5/layout/CenteredIconLabelDescriptionList"/>
    <dgm:cxn modelId="{F309D1D9-6C9E-4556-81B5-132B9DB2F2FB}" type="presParOf" srcId="{19EE11E2-6CE5-46F9-AF77-80E9D4A54FC8}" destId="{9D97229B-12F2-451C-A4B5-38C9810F1EA3}" srcOrd="3" destOrd="0" presId="urn:microsoft.com/office/officeart/2018/5/layout/CenteredIconLabelDescriptionList"/>
    <dgm:cxn modelId="{7B445279-C44E-41E7-95A4-5C053ACD6A58}" type="presParOf" srcId="{19EE11E2-6CE5-46F9-AF77-80E9D4A54FC8}" destId="{16C7FA25-B6DA-45EA-B1D6-66917839E349}" srcOrd="4" destOrd="0" presId="urn:microsoft.com/office/officeart/2018/5/layout/CenteredIconLabelDescriptionList"/>
    <dgm:cxn modelId="{9EDCC0EB-EFFF-4394-AFFF-442000CB90FD}" type="presParOf" srcId="{16C7FA25-B6DA-45EA-B1D6-66917839E349}" destId="{4E41C492-A9F6-4477-B692-26591F9F8DA7}" srcOrd="0" destOrd="0" presId="urn:microsoft.com/office/officeart/2018/5/layout/CenteredIconLabelDescriptionList"/>
    <dgm:cxn modelId="{C6E5F810-4EBA-4A83-8024-C1602699FE84}" type="presParOf" srcId="{16C7FA25-B6DA-45EA-B1D6-66917839E349}" destId="{B5BEB65B-2C36-4039-8419-F5E4DF207CB9}" srcOrd="1" destOrd="0" presId="urn:microsoft.com/office/officeart/2018/5/layout/CenteredIconLabelDescriptionList"/>
    <dgm:cxn modelId="{253E061D-CF6B-4DF3-BBB8-2AB1171DA390}" type="presParOf" srcId="{16C7FA25-B6DA-45EA-B1D6-66917839E349}" destId="{CAF10895-AC98-4785-AD6D-A615FC84A9BE}" srcOrd="2" destOrd="0" presId="urn:microsoft.com/office/officeart/2018/5/layout/CenteredIconLabelDescriptionList"/>
    <dgm:cxn modelId="{BE605FD9-5A7F-4960-A34A-277FD1EA61EA}" type="presParOf" srcId="{16C7FA25-B6DA-45EA-B1D6-66917839E349}" destId="{22952E11-1695-4D60-9E6F-7A0DB700BBBE}" srcOrd="3" destOrd="0" presId="urn:microsoft.com/office/officeart/2018/5/layout/CenteredIconLabelDescriptionList"/>
    <dgm:cxn modelId="{417F8C3D-FD96-48B9-A52B-CEDF6E948A4C}" type="presParOf" srcId="{16C7FA25-B6DA-45EA-B1D6-66917839E349}" destId="{A93AE8AB-096C-4521-ADA5-F9578EAFFE2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7D8433-FA35-4533-8ADF-F25AEF9351A8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AU"/>
        </a:p>
      </dgm:t>
    </dgm:pt>
    <dgm:pt modelId="{9D47A67A-E02B-4E34-9EAC-EC21347D2EE0}">
      <dgm:prSet phldrT="[Text]"/>
      <dgm:spPr/>
      <dgm:t>
        <a:bodyPr/>
        <a:lstStyle/>
        <a:p>
          <a:pPr>
            <a:buNone/>
          </a:pPr>
          <a:r>
            <a:rPr lang="fr-FR" b="1"/>
            <a:t>Formal tone masks emotional cues in corporate reports</a:t>
          </a:r>
          <a:endParaRPr lang="en-AU"/>
        </a:p>
      </dgm:t>
    </dgm:pt>
    <dgm:pt modelId="{3A3704EC-F8D1-4D32-AA1C-A1FCBA679B4A}" type="parTrans" cxnId="{1CD8DE7E-653B-4C3C-B379-7F5F655B3FBC}">
      <dgm:prSet/>
      <dgm:spPr/>
      <dgm:t>
        <a:bodyPr/>
        <a:lstStyle/>
        <a:p>
          <a:endParaRPr lang="en-AU" sz="1400"/>
        </a:p>
      </dgm:t>
    </dgm:pt>
    <dgm:pt modelId="{16F98928-D926-44E1-84CD-617185F896CA}" type="sibTrans" cxnId="{1CD8DE7E-653B-4C3C-B379-7F5F655B3FBC}">
      <dgm:prSet/>
      <dgm:spPr/>
      <dgm:t>
        <a:bodyPr/>
        <a:lstStyle/>
        <a:p>
          <a:endParaRPr lang="en-AU"/>
        </a:p>
      </dgm:t>
    </dgm:pt>
    <dgm:pt modelId="{A6AA706C-41D5-4D7C-8199-20ACFD51087B}">
      <dgm:prSet/>
      <dgm:spPr/>
      <dgm:t>
        <a:bodyPr/>
        <a:lstStyle/>
        <a:p>
          <a:pPr>
            <a:buNone/>
          </a:pPr>
          <a:r>
            <a:rPr lang="en-AU" b="1"/>
            <a:t>Vagueness and avoidance is the norm</a:t>
          </a:r>
        </a:p>
      </dgm:t>
    </dgm:pt>
    <dgm:pt modelId="{C7F876C5-9CAA-45F3-9050-4550D577E6BD}" type="parTrans" cxnId="{325D123F-E6E7-4561-9295-65E39F0FCA0D}">
      <dgm:prSet/>
      <dgm:spPr/>
      <dgm:t>
        <a:bodyPr/>
        <a:lstStyle/>
        <a:p>
          <a:endParaRPr lang="en-AU" sz="1400"/>
        </a:p>
      </dgm:t>
    </dgm:pt>
    <dgm:pt modelId="{61513746-DDD1-4494-87AF-E47CB866A5FA}" type="sibTrans" cxnId="{325D123F-E6E7-4561-9295-65E39F0FCA0D}">
      <dgm:prSet/>
      <dgm:spPr/>
      <dgm:t>
        <a:bodyPr/>
        <a:lstStyle/>
        <a:p>
          <a:endParaRPr lang="en-AU"/>
        </a:p>
      </dgm:t>
    </dgm:pt>
    <dgm:pt modelId="{32F6F341-FA97-4D4B-BD69-6CDB975740D7}">
      <dgm:prSet/>
      <dgm:spPr/>
      <dgm:t>
        <a:bodyPr/>
        <a:lstStyle/>
        <a:p>
          <a:pPr>
            <a:buNone/>
          </a:pPr>
          <a:r>
            <a:rPr lang="en-AU" b="1"/>
            <a:t>Low variance in language makes feature extraction tricky</a:t>
          </a:r>
        </a:p>
      </dgm:t>
    </dgm:pt>
    <dgm:pt modelId="{BB36AEDE-FA97-4825-B284-94099B464EFE}" type="parTrans" cxnId="{7329AB2F-76E5-445A-A898-F88BEE24D391}">
      <dgm:prSet/>
      <dgm:spPr/>
      <dgm:t>
        <a:bodyPr/>
        <a:lstStyle/>
        <a:p>
          <a:endParaRPr lang="en-AU" sz="1400"/>
        </a:p>
      </dgm:t>
    </dgm:pt>
    <dgm:pt modelId="{61BCD8FD-8FFC-4465-8DA2-31CD19BC15F8}" type="sibTrans" cxnId="{7329AB2F-76E5-445A-A898-F88BEE24D391}">
      <dgm:prSet/>
      <dgm:spPr/>
      <dgm:t>
        <a:bodyPr/>
        <a:lstStyle/>
        <a:p>
          <a:endParaRPr lang="en-AU"/>
        </a:p>
      </dgm:t>
    </dgm:pt>
    <dgm:pt modelId="{047C1952-D5C6-442B-97E0-2BE5B834DB4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Ambiguity between engagement and safety</a:t>
          </a:r>
        </a:p>
      </dgm:t>
    </dgm:pt>
    <dgm:pt modelId="{F0E8CCD9-605D-4F0F-8B6B-969B4A5B6C9E}" type="parTrans" cxnId="{469FD4C5-B6EF-435D-AB38-88C74D07401C}">
      <dgm:prSet/>
      <dgm:spPr/>
      <dgm:t>
        <a:bodyPr/>
        <a:lstStyle/>
        <a:p>
          <a:endParaRPr lang="en-AU" sz="1400"/>
        </a:p>
      </dgm:t>
    </dgm:pt>
    <dgm:pt modelId="{EF317DB3-D41F-4740-BE5A-28029C3612A9}" type="sibTrans" cxnId="{469FD4C5-B6EF-435D-AB38-88C74D07401C}">
      <dgm:prSet/>
      <dgm:spPr/>
      <dgm:t>
        <a:bodyPr/>
        <a:lstStyle/>
        <a:p>
          <a:endParaRPr lang="en-AU"/>
        </a:p>
      </dgm:t>
    </dgm:pt>
    <dgm:pt modelId="{3B993C4F-FFFE-43AE-8925-8A5CEF50C01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Lack of labelled data</a:t>
          </a:r>
        </a:p>
      </dgm:t>
    </dgm:pt>
    <dgm:pt modelId="{01737CB4-9FD9-44D8-9A39-FC47E738FFAF}" type="parTrans" cxnId="{1EAB5C85-092D-4744-ADC6-4EF1FD4A617F}">
      <dgm:prSet/>
      <dgm:spPr/>
      <dgm:t>
        <a:bodyPr/>
        <a:lstStyle/>
        <a:p>
          <a:endParaRPr lang="en-AU" sz="1400"/>
        </a:p>
      </dgm:t>
    </dgm:pt>
    <dgm:pt modelId="{48135287-0BEB-4621-A796-3A1710CB1825}" type="sibTrans" cxnId="{1EAB5C85-092D-4744-ADC6-4EF1FD4A617F}">
      <dgm:prSet/>
      <dgm:spPr/>
      <dgm:t>
        <a:bodyPr/>
        <a:lstStyle/>
        <a:p>
          <a:endParaRPr lang="en-AU"/>
        </a:p>
      </dgm:t>
    </dgm:pt>
    <dgm:pt modelId="{5708AE1F-DB6C-4725-9B5D-9B1F26CC765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Generally, models and pipelines are pretrained on casual or news language</a:t>
          </a:r>
        </a:p>
      </dgm:t>
    </dgm:pt>
    <dgm:pt modelId="{1AC43EF2-8351-4129-871E-4D3E97ACDA6F}" type="parTrans" cxnId="{400639B2-E4F9-4A9D-8F6A-0CCBCF3C1B5C}">
      <dgm:prSet/>
      <dgm:spPr/>
      <dgm:t>
        <a:bodyPr/>
        <a:lstStyle/>
        <a:p>
          <a:endParaRPr lang="en-AU" sz="1400"/>
        </a:p>
      </dgm:t>
    </dgm:pt>
    <dgm:pt modelId="{F19AF284-D6DF-459E-A9E7-42E8DDF99868}" type="sibTrans" cxnId="{400639B2-E4F9-4A9D-8F6A-0CCBCF3C1B5C}">
      <dgm:prSet/>
      <dgm:spPr/>
      <dgm:t>
        <a:bodyPr/>
        <a:lstStyle/>
        <a:p>
          <a:endParaRPr lang="en-AU"/>
        </a:p>
      </dgm:t>
    </dgm:pt>
    <dgm:pt modelId="{3FC1847D-8741-48BC-AD79-AAEE32C67FE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Industry-specific jargon requires custom glossaries</a:t>
          </a:r>
        </a:p>
      </dgm:t>
    </dgm:pt>
    <dgm:pt modelId="{E690615A-F95D-4D84-B20A-FBAD6352FE9C}" type="parTrans" cxnId="{E7D260E1-AE2D-4778-B21B-54B020B7AF6E}">
      <dgm:prSet/>
      <dgm:spPr/>
      <dgm:t>
        <a:bodyPr/>
        <a:lstStyle/>
        <a:p>
          <a:endParaRPr lang="en-AU" sz="1400"/>
        </a:p>
      </dgm:t>
    </dgm:pt>
    <dgm:pt modelId="{BA8F073F-6497-41DC-BBCD-E9E6F92A4D1D}" type="sibTrans" cxnId="{E7D260E1-AE2D-4778-B21B-54B020B7AF6E}">
      <dgm:prSet/>
      <dgm:spPr/>
      <dgm:t>
        <a:bodyPr/>
        <a:lstStyle/>
        <a:p>
          <a:endParaRPr lang="en-AU"/>
        </a:p>
      </dgm:t>
    </dgm:pt>
    <dgm:pt modelId="{44C11398-D4A0-4558-BE59-9F91368D664F}" type="pres">
      <dgm:prSet presAssocID="{467D8433-FA35-4533-8ADF-F25AEF9351A8}" presName="diagram" presStyleCnt="0">
        <dgm:presLayoutVars>
          <dgm:dir/>
          <dgm:resizeHandles val="exact"/>
        </dgm:presLayoutVars>
      </dgm:prSet>
      <dgm:spPr/>
    </dgm:pt>
    <dgm:pt modelId="{464DE2A3-6275-4EEF-A025-CD1B1565B8AB}" type="pres">
      <dgm:prSet presAssocID="{9D47A67A-E02B-4E34-9EAC-EC21347D2EE0}" presName="node" presStyleLbl="node1" presStyleIdx="0" presStyleCnt="7">
        <dgm:presLayoutVars>
          <dgm:bulletEnabled val="1"/>
        </dgm:presLayoutVars>
      </dgm:prSet>
      <dgm:spPr/>
    </dgm:pt>
    <dgm:pt modelId="{2D5A7D04-E723-4590-A634-8068F50357F9}" type="pres">
      <dgm:prSet presAssocID="{16F98928-D926-44E1-84CD-617185F896CA}" presName="sibTrans" presStyleCnt="0"/>
      <dgm:spPr/>
    </dgm:pt>
    <dgm:pt modelId="{24A87844-B9A8-4663-8737-ED03FD55C0B8}" type="pres">
      <dgm:prSet presAssocID="{A6AA706C-41D5-4D7C-8199-20ACFD51087B}" presName="node" presStyleLbl="node1" presStyleIdx="1" presStyleCnt="7">
        <dgm:presLayoutVars>
          <dgm:bulletEnabled val="1"/>
        </dgm:presLayoutVars>
      </dgm:prSet>
      <dgm:spPr/>
    </dgm:pt>
    <dgm:pt modelId="{9115D394-8259-4309-8D04-FD2A97C43E2A}" type="pres">
      <dgm:prSet presAssocID="{61513746-DDD1-4494-87AF-E47CB866A5FA}" presName="sibTrans" presStyleCnt="0"/>
      <dgm:spPr/>
    </dgm:pt>
    <dgm:pt modelId="{D946D6D0-E48C-42FB-BF82-DF214A510DA1}" type="pres">
      <dgm:prSet presAssocID="{32F6F341-FA97-4D4B-BD69-6CDB975740D7}" presName="node" presStyleLbl="node1" presStyleIdx="2" presStyleCnt="7">
        <dgm:presLayoutVars>
          <dgm:bulletEnabled val="1"/>
        </dgm:presLayoutVars>
      </dgm:prSet>
      <dgm:spPr/>
    </dgm:pt>
    <dgm:pt modelId="{20606717-81A2-40CC-95B7-68C6ED37DA49}" type="pres">
      <dgm:prSet presAssocID="{61BCD8FD-8FFC-4465-8DA2-31CD19BC15F8}" presName="sibTrans" presStyleCnt="0"/>
      <dgm:spPr/>
    </dgm:pt>
    <dgm:pt modelId="{A52B7DF2-3112-4B6C-932C-88BAD3A99F86}" type="pres">
      <dgm:prSet presAssocID="{047C1952-D5C6-442B-97E0-2BE5B834DB4C}" presName="node" presStyleLbl="node1" presStyleIdx="3" presStyleCnt="7">
        <dgm:presLayoutVars>
          <dgm:bulletEnabled val="1"/>
        </dgm:presLayoutVars>
      </dgm:prSet>
      <dgm:spPr/>
    </dgm:pt>
    <dgm:pt modelId="{F7B07206-8CD1-4869-B178-5C4EB48A944C}" type="pres">
      <dgm:prSet presAssocID="{EF317DB3-D41F-4740-BE5A-28029C3612A9}" presName="sibTrans" presStyleCnt="0"/>
      <dgm:spPr/>
    </dgm:pt>
    <dgm:pt modelId="{932163C2-A46F-42BA-9AB5-7893A0B3D550}" type="pres">
      <dgm:prSet presAssocID="{3B993C4F-FFFE-43AE-8925-8A5CEF50C019}" presName="node" presStyleLbl="node1" presStyleIdx="4" presStyleCnt="7">
        <dgm:presLayoutVars>
          <dgm:bulletEnabled val="1"/>
        </dgm:presLayoutVars>
      </dgm:prSet>
      <dgm:spPr/>
    </dgm:pt>
    <dgm:pt modelId="{EC41A260-3AD7-418A-9E21-6D3FE9F4AEFA}" type="pres">
      <dgm:prSet presAssocID="{48135287-0BEB-4621-A796-3A1710CB1825}" presName="sibTrans" presStyleCnt="0"/>
      <dgm:spPr/>
    </dgm:pt>
    <dgm:pt modelId="{33DF0A14-2F21-4DEE-BBB7-E445EAF7E538}" type="pres">
      <dgm:prSet presAssocID="{5708AE1F-DB6C-4725-9B5D-9B1F26CC765A}" presName="node" presStyleLbl="node1" presStyleIdx="5" presStyleCnt="7">
        <dgm:presLayoutVars>
          <dgm:bulletEnabled val="1"/>
        </dgm:presLayoutVars>
      </dgm:prSet>
      <dgm:spPr/>
    </dgm:pt>
    <dgm:pt modelId="{65603EC7-93B7-4811-89BE-17A454570FBD}" type="pres">
      <dgm:prSet presAssocID="{F19AF284-D6DF-459E-A9E7-42E8DDF99868}" presName="sibTrans" presStyleCnt="0"/>
      <dgm:spPr/>
    </dgm:pt>
    <dgm:pt modelId="{EE1129E9-9B0C-4B22-A011-53CB9E5C917D}" type="pres">
      <dgm:prSet presAssocID="{3FC1847D-8741-48BC-AD79-AAEE32C67FEF}" presName="node" presStyleLbl="node1" presStyleIdx="6" presStyleCnt="7">
        <dgm:presLayoutVars>
          <dgm:bulletEnabled val="1"/>
        </dgm:presLayoutVars>
      </dgm:prSet>
      <dgm:spPr/>
    </dgm:pt>
  </dgm:ptLst>
  <dgm:cxnLst>
    <dgm:cxn modelId="{25406F07-C386-486F-BBBA-31886187BA4A}" type="presOf" srcId="{5708AE1F-DB6C-4725-9B5D-9B1F26CC765A}" destId="{33DF0A14-2F21-4DEE-BBB7-E445EAF7E538}" srcOrd="0" destOrd="0" presId="urn:microsoft.com/office/officeart/2005/8/layout/default"/>
    <dgm:cxn modelId="{F6EC9C16-9CA8-48EB-8BC8-714F7F8C71C5}" type="presOf" srcId="{A6AA706C-41D5-4D7C-8199-20ACFD51087B}" destId="{24A87844-B9A8-4663-8737-ED03FD55C0B8}" srcOrd="0" destOrd="0" presId="urn:microsoft.com/office/officeart/2005/8/layout/default"/>
    <dgm:cxn modelId="{7329AB2F-76E5-445A-A898-F88BEE24D391}" srcId="{467D8433-FA35-4533-8ADF-F25AEF9351A8}" destId="{32F6F341-FA97-4D4B-BD69-6CDB975740D7}" srcOrd="2" destOrd="0" parTransId="{BB36AEDE-FA97-4825-B284-94099B464EFE}" sibTransId="{61BCD8FD-8FFC-4465-8DA2-31CD19BC15F8}"/>
    <dgm:cxn modelId="{325D123F-E6E7-4561-9295-65E39F0FCA0D}" srcId="{467D8433-FA35-4533-8ADF-F25AEF9351A8}" destId="{A6AA706C-41D5-4D7C-8199-20ACFD51087B}" srcOrd="1" destOrd="0" parTransId="{C7F876C5-9CAA-45F3-9050-4550D577E6BD}" sibTransId="{61513746-DDD1-4494-87AF-E47CB866A5FA}"/>
    <dgm:cxn modelId="{53A8D45D-2CCD-48FB-9F79-4EFBFEF214CB}" type="presOf" srcId="{9D47A67A-E02B-4E34-9EAC-EC21347D2EE0}" destId="{464DE2A3-6275-4EEF-A025-CD1B1565B8AB}" srcOrd="0" destOrd="0" presId="urn:microsoft.com/office/officeart/2005/8/layout/default"/>
    <dgm:cxn modelId="{8A9F4068-3DD1-4769-93E2-0D9FF463AF43}" type="presOf" srcId="{32F6F341-FA97-4D4B-BD69-6CDB975740D7}" destId="{D946D6D0-E48C-42FB-BF82-DF214A510DA1}" srcOrd="0" destOrd="0" presId="urn:microsoft.com/office/officeart/2005/8/layout/default"/>
    <dgm:cxn modelId="{2FD2B15A-740F-476C-B3B0-65177FD04C96}" type="presOf" srcId="{467D8433-FA35-4533-8ADF-F25AEF9351A8}" destId="{44C11398-D4A0-4558-BE59-9F91368D664F}" srcOrd="0" destOrd="0" presId="urn:microsoft.com/office/officeart/2005/8/layout/default"/>
    <dgm:cxn modelId="{1CD8DE7E-653B-4C3C-B379-7F5F655B3FBC}" srcId="{467D8433-FA35-4533-8ADF-F25AEF9351A8}" destId="{9D47A67A-E02B-4E34-9EAC-EC21347D2EE0}" srcOrd="0" destOrd="0" parTransId="{3A3704EC-F8D1-4D32-AA1C-A1FCBA679B4A}" sibTransId="{16F98928-D926-44E1-84CD-617185F896CA}"/>
    <dgm:cxn modelId="{1EAB5C85-092D-4744-ADC6-4EF1FD4A617F}" srcId="{467D8433-FA35-4533-8ADF-F25AEF9351A8}" destId="{3B993C4F-FFFE-43AE-8925-8A5CEF50C019}" srcOrd="4" destOrd="0" parTransId="{01737CB4-9FD9-44D8-9A39-FC47E738FFAF}" sibTransId="{48135287-0BEB-4621-A796-3A1710CB1825}"/>
    <dgm:cxn modelId="{577BB0A0-E26E-4328-9AFD-081946B0A593}" type="presOf" srcId="{3B993C4F-FFFE-43AE-8925-8A5CEF50C019}" destId="{932163C2-A46F-42BA-9AB5-7893A0B3D550}" srcOrd="0" destOrd="0" presId="urn:microsoft.com/office/officeart/2005/8/layout/default"/>
    <dgm:cxn modelId="{400639B2-E4F9-4A9D-8F6A-0CCBCF3C1B5C}" srcId="{467D8433-FA35-4533-8ADF-F25AEF9351A8}" destId="{5708AE1F-DB6C-4725-9B5D-9B1F26CC765A}" srcOrd="5" destOrd="0" parTransId="{1AC43EF2-8351-4129-871E-4D3E97ACDA6F}" sibTransId="{F19AF284-D6DF-459E-A9E7-42E8DDF99868}"/>
    <dgm:cxn modelId="{469FD4C5-B6EF-435D-AB38-88C74D07401C}" srcId="{467D8433-FA35-4533-8ADF-F25AEF9351A8}" destId="{047C1952-D5C6-442B-97E0-2BE5B834DB4C}" srcOrd="3" destOrd="0" parTransId="{F0E8CCD9-605D-4F0F-8B6B-969B4A5B6C9E}" sibTransId="{EF317DB3-D41F-4740-BE5A-28029C3612A9}"/>
    <dgm:cxn modelId="{B998C7C8-8F24-4C73-9B25-8E7D0AF4E8DD}" type="presOf" srcId="{047C1952-D5C6-442B-97E0-2BE5B834DB4C}" destId="{A52B7DF2-3112-4B6C-932C-88BAD3A99F86}" srcOrd="0" destOrd="0" presId="urn:microsoft.com/office/officeart/2005/8/layout/default"/>
    <dgm:cxn modelId="{E7D260E1-AE2D-4778-B21B-54B020B7AF6E}" srcId="{467D8433-FA35-4533-8ADF-F25AEF9351A8}" destId="{3FC1847D-8741-48BC-AD79-AAEE32C67FEF}" srcOrd="6" destOrd="0" parTransId="{E690615A-F95D-4D84-B20A-FBAD6352FE9C}" sibTransId="{BA8F073F-6497-41DC-BBCD-E9E6F92A4D1D}"/>
    <dgm:cxn modelId="{55C507E8-6DEB-4A4B-BEA4-8B11E19E671E}" type="presOf" srcId="{3FC1847D-8741-48BC-AD79-AAEE32C67FEF}" destId="{EE1129E9-9B0C-4B22-A011-53CB9E5C917D}" srcOrd="0" destOrd="0" presId="urn:microsoft.com/office/officeart/2005/8/layout/default"/>
    <dgm:cxn modelId="{AD3DC11A-8479-47CB-99C2-CA2D952DD69F}" type="presParOf" srcId="{44C11398-D4A0-4558-BE59-9F91368D664F}" destId="{464DE2A3-6275-4EEF-A025-CD1B1565B8AB}" srcOrd="0" destOrd="0" presId="urn:microsoft.com/office/officeart/2005/8/layout/default"/>
    <dgm:cxn modelId="{B08E729E-A0C1-45F0-9555-48D23C00172A}" type="presParOf" srcId="{44C11398-D4A0-4558-BE59-9F91368D664F}" destId="{2D5A7D04-E723-4590-A634-8068F50357F9}" srcOrd="1" destOrd="0" presId="urn:microsoft.com/office/officeart/2005/8/layout/default"/>
    <dgm:cxn modelId="{0A40AE94-7913-479B-93E9-027EB2962E52}" type="presParOf" srcId="{44C11398-D4A0-4558-BE59-9F91368D664F}" destId="{24A87844-B9A8-4663-8737-ED03FD55C0B8}" srcOrd="2" destOrd="0" presId="urn:microsoft.com/office/officeart/2005/8/layout/default"/>
    <dgm:cxn modelId="{E1B14A1C-B2AB-4C2B-9F1F-1924E3BA5036}" type="presParOf" srcId="{44C11398-D4A0-4558-BE59-9F91368D664F}" destId="{9115D394-8259-4309-8D04-FD2A97C43E2A}" srcOrd="3" destOrd="0" presId="urn:microsoft.com/office/officeart/2005/8/layout/default"/>
    <dgm:cxn modelId="{EC49EFEB-080E-4C9C-84D4-2DF990632394}" type="presParOf" srcId="{44C11398-D4A0-4558-BE59-9F91368D664F}" destId="{D946D6D0-E48C-42FB-BF82-DF214A510DA1}" srcOrd="4" destOrd="0" presId="urn:microsoft.com/office/officeart/2005/8/layout/default"/>
    <dgm:cxn modelId="{6BEC0035-4D49-490F-9584-820C482620D2}" type="presParOf" srcId="{44C11398-D4A0-4558-BE59-9F91368D664F}" destId="{20606717-81A2-40CC-95B7-68C6ED37DA49}" srcOrd="5" destOrd="0" presId="urn:microsoft.com/office/officeart/2005/8/layout/default"/>
    <dgm:cxn modelId="{50E58921-74A4-474A-A4B3-22C8127CF855}" type="presParOf" srcId="{44C11398-D4A0-4558-BE59-9F91368D664F}" destId="{A52B7DF2-3112-4B6C-932C-88BAD3A99F86}" srcOrd="6" destOrd="0" presId="urn:microsoft.com/office/officeart/2005/8/layout/default"/>
    <dgm:cxn modelId="{CC7F486A-125C-4288-9003-F229DD9FE52C}" type="presParOf" srcId="{44C11398-D4A0-4558-BE59-9F91368D664F}" destId="{F7B07206-8CD1-4869-B178-5C4EB48A944C}" srcOrd="7" destOrd="0" presId="urn:microsoft.com/office/officeart/2005/8/layout/default"/>
    <dgm:cxn modelId="{EF846E7E-D51E-47C5-B089-FD12F9607220}" type="presParOf" srcId="{44C11398-D4A0-4558-BE59-9F91368D664F}" destId="{932163C2-A46F-42BA-9AB5-7893A0B3D550}" srcOrd="8" destOrd="0" presId="urn:microsoft.com/office/officeart/2005/8/layout/default"/>
    <dgm:cxn modelId="{1C0D7200-4584-4945-A068-3A0841D7F081}" type="presParOf" srcId="{44C11398-D4A0-4558-BE59-9F91368D664F}" destId="{EC41A260-3AD7-418A-9E21-6D3FE9F4AEFA}" srcOrd="9" destOrd="0" presId="urn:microsoft.com/office/officeart/2005/8/layout/default"/>
    <dgm:cxn modelId="{C2FFE50C-A4D9-4933-B2CB-D78289BEB974}" type="presParOf" srcId="{44C11398-D4A0-4558-BE59-9F91368D664F}" destId="{33DF0A14-2F21-4DEE-BBB7-E445EAF7E538}" srcOrd="10" destOrd="0" presId="urn:microsoft.com/office/officeart/2005/8/layout/default"/>
    <dgm:cxn modelId="{5F3A0C17-4FF1-4832-A91C-E9CCFFDC2FBD}" type="presParOf" srcId="{44C11398-D4A0-4558-BE59-9F91368D664F}" destId="{65603EC7-93B7-4811-89BE-17A454570FBD}" srcOrd="11" destOrd="0" presId="urn:microsoft.com/office/officeart/2005/8/layout/default"/>
    <dgm:cxn modelId="{8607536E-49EB-42CC-9DA0-688829257A52}" type="presParOf" srcId="{44C11398-D4A0-4558-BE59-9F91368D664F}" destId="{EE1129E9-9B0C-4B22-A011-53CB9E5C917D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BCA4727-63D0-4142-BC5A-13C8D38728E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AU"/>
        </a:p>
      </dgm:t>
    </dgm:pt>
    <dgm:pt modelId="{5F2E7A08-13BE-496E-9DFC-85785456FB96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AU"/>
            <a:t>Synthetic data design and creation</a:t>
          </a:r>
        </a:p>
      </dgm:t>
    </dgm:pt>
    <dgm:pt modelId="{D0AFB3A0-886C-45A9-8F35-4E2F653ACEA0}" type="parTrans" cxnId="{D12AF63C-AFFA-4BD4-B5B8-8D98F3E599D0}">
      <dgm:prSet/>
      <dgm:spPr/>
      <dgm:t>
        <a:bodyPr/>
        <a:lstStyle/>
        <a:p>
          <a:endParaRPr lang="en-AU" sz="1100"/>
        </a:p>
      </dgm:t>
    </dgm:pt>
    <dgm:pt modelId="{F530CCAC-584F-4FB3-9113-55822D6E15D0}" type="sibTrans" cxnId="{D12AF63C-AFFA-4BD4-B5B8-8D98F3E599D0}">
      <dgm:prSet/>
      <dgm:spPr/>
      <dgm:t>
        <a:bodyPr/>
        <a:lstStyle/>
        <a:p>
          <a:endParaRPr lang="en-AU"/>
        </a:p>
      </dgm:t>
    </dgm:pt>
    <dgm:pt modelId="{296203DA-1C7A-4CAD-8D2A-CBA67AFEFB8A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AU"/>
            <a:t>Modelling and evaluation </a:t>
          </a:r>
        </a:p>
      </dgm:t>
    </dgm:pt>
    <dgm:pt modelId="{99A6D74F-3F9B-4E9C-873F-4FC2DFCAECF7}" type="parTrans" cxnId="{2F917665-DD90-47FF-96D4-63C46520257B}">
      <dgm:prSet/>
      <dgm:spPr/>
      <dgm:t>
        <a:bodyPr/>
        <a:lstStyle/>
        <a:p>
          <a:endParaRPr lang="en-AU" sz="1100"/>
        </a:p>
      </dgm:t>
    </dgm:pt>
    <dgm:pt modelId="{9E1BE02C-465C-4562-8762-1EDE1CFCF7A9}" type="sibTrans" cxnId="{2F917665-DD90-47FF-96D4-63C46520257B}">
      <dgm:prSet/>
      <dgm:spPr/>
      <dgm:t>
        <a:bodyPr/>
        <a:lstStyle/>
        <a:p>
          <a:endParaRPr lang="en-AU"/>
        </a:p>
      </dgm:t>
    </dgm:pt>
    <dgm:pt modelId="{B38945A1-0068-41F2-B7F6-C48C1CF6F69A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AU"/>
            <a:t>Refinement Loop</a:t>
          </a:r>
        </a:p>
      </dgm:t>
    </dgm:pt>
    <dgm:pt modelId="{9AD2AB38-9CC6-4317-A8D0-3F42D33588BE}" type="sibTrans" cxnId="{BE4BF9BC-CE46-44D8-8C02-5CD473C28A81}">
      <dgm:prSet/>
      <dgm:spPr/>
      <dgm:t>
        <a:bodyPr/>
        <a:lstStyle/>
        <a:p>
          <a:endParaRPr lang="en-AU"/>
        </a:p>
      </dgm:t>
    </dgm:pt>
    <dgm:pt modelId="{6D260BED-47AD-4AB6-9407-F5BAEA9FD8E7}" type="parTrans" cxnId="{BE4BF9BC-CE46-44D8-8C02-5CD473C28A81}">
      <dgm:prSet/>
      <dgm:spPr/>
      <dgm:t>
        <a:bodyPr/>
        <a:lstStyle/>
        <a:p>
          <a:endParaRPr lang="en-AU" sz="1100"/>
        </a:p>
      </dgm:t>
    </dgm:pt>
    <dgm:pt modelId="{8DA801A2-4C0D-4145-8FCD-12400D9E7896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AU" dirty="0"/>
            <a:t>Feature Engineering</a:t>
          </a:r>
        </a:p>
      </dgm:t>
    </dgm:pt>
    <dgm:pt modelId="{0FE44E11-457F-48CB-B999-8499E88EB82E}" type="parTrans" cxnId="{B6766CDE-EC19-421D-972D-A2F288B938A2}">
      <dgm:prSet/>
      <dgm:spPr/>
      <dgm:t>
        <a:bodyPr/>
        <a:lstStyle/>
        <a:p>
          <a:endParaRPr lang="en-AU"/>
        </a:p>
      </dgm:t>
    </dgm:pt>
    <dgm:pt modelId="{80B501FF-C4EB-4767-B175-E0FAACFDA4C2}" type="sibTrans" cxnId="{B6766CDE-EC19-421D-972D-A2F288B938A2}">
      <dgm:prSet/>
      <dgm:spPr/>
      <dgm:t>
        <a:bodyPr/>
        <a:lstStyle/>
        <a:p>
          <a:endParaRPr lang="en-AU"/>
        </a:p>
      </dgm:t>
    </dgm:pt>
    <dgm:pt modelId="{40DD97DB-B762-4EF6-85EE-396D9A870614}" type="pres">
      <dgm:prSet presAssocID="{6BCA4727-63D0-4142-BC5A-13C8D38728EE}" presName="root" presStyleCnt="0">
        <dgm:presLayoutVars>
          <dgm:dir/>
          <dgm:resizeHandles val="exact"/>
        </dgm:presLayoutVars>
      </dgm:prSet>
      <dgm:spPr/>
    </dgm:pt>
    <dgm:pt modelId="{E32316E9-2AA3-46BF-A273-13492032E337}" type="pres">
      <dgm:prSet presAssocID="{5F2E7A08-13BE-496E-9DFC-85785456FB96}" presName="compNode" presStyleCnt="0"/>
      <dgm:spPr/>
    </dgm:pt>
    <dgm:pt modelId="{D8831277-08BC-43C0-AF66-F26B815985EC}" type="pres">
      <dgm:prSet presAssocID="{5F2E7A08-13BE-496E-9DFC-85785456FB9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AD790CC-8EEE-4F4A-ABC0-11D7FC7EC441}" type="pres">
      <dgm:prSet presAssocID="{5F2E7A08-13BE-496E-9DFC-85785456FB96}" presName="spaceRect" presStyleCnt="0"/>
      <dgm:spPr/>
    </dgm:pt>
    <dgm:pt modelId="{B121CD9A-7188-4AEF-A292-70FCB2A580CD}" type="pres">
      <dgm:prSet presAssocID="{5F2E7A08-13BE-496E-9DFC-85785456FB96}" presName="textRect" presStyleLbl="revTx" presStyleIdx="0" presStyleCnt="4">
        <dgm:presLayoutVars>
          <dgm:chMax val="1"/>
          <dgm:chPref val="1"/>
        </dgm:presLayoutVars>
      </dgm:prSet>
      <dgm:spPr/>
    </dgm:pt>
    <dgm:pt modelId="{E47AF584-4457-4108-9EE0-9449BAAD8A84}" type="pres">
      <dgm:prSet presAssocID="{F530CCAC-584F-4FB3-9113-55822D6E15D0}" presName="sibTrans" presStyleCnt="0"/>
      <dgm:spPr/>
    </dgm:pt>
    <dgm:pt modelId="{53B2141F-E94B-47A0-B965-D84CD62AAF99}" type="pres">
      <dgm:prSet presAssocID="{8DA801A2-4C0D-4145-8FCD-12400D9E7896}" presName="compNode" presStyleCnt="0"/>
      <dgm:spPr/>
    </dgm:pt>
    <dgm:pt modelId="{27FDD5AD-97B4-4B29-8C8F-469B4C8DB80D}" type="pres">
      <dgm:prSet presAssocID="{8DA801A2-4C0D-4145-8FCD-12400D9E789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4943523-D5D5-4EAE-BE32-B820EC0F605A}" type="pres">
      <dgm:prSet presAssocID="{8DA801A2-4C0D-4145-8FCD-12400D9E7896}" presName="spaceRect" presStyleCnt="0"/>
      <dgm:spPr/>
    </dgm:pt>
    <dgm:pt modelId="{5F1C579F-B040-4DAE-AA9B-911A4F077711}" type="pres">
      <dgm:prSet presAssocID="{8DA801A2-4C0D-4145-8FCD-12400D9E7896}" presName="textRect" presStyleLbl="revTx" presStyleIdx="1" presStyleCnt="4">
        <dgm:presLayoutVars>
          <dgm:chMax val="1"/>
          <dgm:chPref val="1"/>
        </dgm:presLayoutVars>
      </dgm:prSet>
      <dgm:spPr/>
    </dgm:pt>
    <dgm:pt modelId="{3D0F207E-79BA-4F3E-B9AB-C364AC4E82C0}" type="pres">
      <dgm:prSet presAssocID="{80B501FF-C4EB-4767-B175-E0FAACFDA4C2}" presName="sibTrans" presStyleCnt="0"/>
      <dgm:spPr/>
    </dgm:pt>
    <dgm:pt modelId="{89772DB8-99D7-4D81-B414-FE804E657220}" type="pres">
      <dgm:prSet presAssocID="{296203DA-1C7A-4CAD-8D2A-CBA67AFEFB8A}" presName="compNode" presStyleCnt="0"/>
      <dgm:spPr/>
    </dgm:pt>
    <dgm:pt modelId="{70EF3571-2FC5-48DF-8EFB-DD9BEA5F6F73}" type="pres">
      <dgm:prSet presAssocID="{296203DA-1C7A-4CAD-8D2A-CBA67AFEFB8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6A9723C1-78A6-49AD-BC79-C321AE4594C4}" type="pres">
      <dgm:prSet presAssocID="{296203DA-1C7A-4CAD-8D2A-CBA67AFEFB8A}" presName="spaceRect" presStyleCnt="0"/>
      <dgm:spPr/>
    </dgm:pt>
    <dgm:pt modelId="{E0242E16-FFCC-441F-A23C-47C8FA34D7D2}" type="pres">
      <dgm:prSet presAssocID="{296203DA-1C7A-4CAD-8D2A-CBA67AFEFB8A}" presName="textRect" presStyleLbl="revTx" presStyleIdx="2" presStyleCnt="4">
        <dgm:presLayoutVars>
          <dgm:chMax val="1"/>
          <dgm:chPref val="1"/>
        </dgm:presLayoutVars>
      </dgm:prSet>
      <dgm:spPr/>
    </dgm:pt>
    <dgm:pt modelId="{695F20E9-9440-452C-B5D7-25C6E374AECA}" type="pres">
      <dgm:prSet presAssocID="{9E1BE02C-465C-4562-8762-1EDE1CFCF7A9}" presName="sibTrans" presStyleCnt="0"/>
      <dgm:spPr/>
    </dgm:pt>
    <dgm:pt modelId="{B82A186A-6FC2-4C0E-984C-DB2220DD8CD9}" type="pres">
      <dgm:prSet presAssocID="{B38945A1-0068-41F2-B7F6-C48C1CF6F69A}" presName="compNode" presStyleCnt="0"/>
      <dgm:spPr/>
    </dgm:pt>
    <dgm:pt modelId="{7560FC33-3F41-43D2-A408-90F4FBED2D1B}" type="pres">
      <dgm:prSet presAssocID="{B38945A1-0068-41F2-B7F6-C48C1CF6F69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976BC4F-CE5E-4E1C-BDDC-D0425BA45A7B}" type="pres">
      <dgm:prSet presAssocID="{B38945A1-0068-41F2-B7F6-C48C1CF6F69A}" presName="spaceRect" presStyleCnt="0"/>
      <dgm:spPr/>
    </dgm:pt>
    <dgm:pt modelId="{4E0E18AB-AA60-459A-862C-7B0AAA36F5CB}" type="pres">
      <dgm:prSet presAssocID="{B38945A1-0068-41F2-B7F6-C48C1CF6F69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AC0423B-47EE-469C-8831-097989E8957A}" type="presOf" srcId="{5F2E7A08-13BE-496E-9DFC-85785456FB96}" destId="{B121CD9A-7188-4AEF-A292-70FCB2A580CD}" srcOrd="0" destOrd="0" presId="urn:microsoft.com/office/officeart/2018/2/layout/IconLabelList"/>
    <dgm:cxn modelId="{D12AF63C-AFFA-4BD4-B5B8-8D98F3E599D0}" srcId="{6BCA4727-63D0-4142-BC5A-13C8D38728EE}" destId="{5F2E7A08-13BE-496E-9DFC-85785456FB96}" srcOrd="0" destOrd="0" parTransId="{D0AFB3A0-886C-45A9-8F35-4E2F653ACEA0}" sibTransId="{F530CCAC-584F-4FB3-9113-55822D6E15D0}"/>
    <dgm:cxn modelId="{2F917665-DD90-47FF-96D4-63C46520257B}" srcId="{6BCA4727-63D0-4142-BC5A-13C8D38728EE}" destId="{296203DA-1C7A-4CAD-8D2A-CBA67AFEFB8A}" srcOrd="2" destOrd="0" parTransId="{99A6D74F-3F9B-4E9C-873F-4FC2DFCAECF7}" sibTransId="{9E1BE02C-465C-4562-8762-1EDE1CFCF7A9}"/>
    <dgm:cxn modelId="{FBF0D167-A541-4D99-B93C-4FA9A68432A8}" type="presOf" srcId="{296203DA-1C7A-4CAD-8D2A-CBA67AFEFB8A}" destId="{E0242E16-FFCC-441F-A23C-47C8FA34D7D2}" srcOrd="0" destOrd="0" presId="urn:microsoft.com/office/officeart/2018/2/layout/IconLabelList"/>
    <dgm:cxn modelId="{D71C0181-EF86-45B2-A3B1-4656EC6F2F51}" type="presOf" srcId="{B38945A1-0068-41F2-B7F6-C48C1CF6F69A}" destId="{4E0E18AB-AA60-459A-862C-7B0AAA36F5CB}" srcOrd="0" destOrd="0" presId="urn:microsoft.com/office/officeart/2018/2/layout/IconLabelList"/>
    <dgm:cxn modelId="{678D9F8D-AF1D-4960-B60B-48699087522B}" type="presOf" srcId="{6BCA4727-63D0-4142-BC5A-13C8D38728EE}" destId="{40DD97DB-B762-4EF6-85EE-396D9A870614}" srcOrd="0" destOrd="0" presId="urn:microsoft.com/office/officeart/2018/2/layout/IconLabelList"/>
    <dgm:cxn modelId="{BE4BF9BC-CE46-44D8-8C02-5CD473C28A81}" srcId="{6BCA4727-63D0-4142-BC5A-13C8D38728EE}" destId="{B38945A1-0068-41F2-B7F6-C48C1CF6F69A}" srcOrd="3" destOrd="0" parTransId="{6D260BED-47AD-4AB6-9407-F5BAEA9FD8E7}" sibTransId="{9AD2AB38-9CC6-4317-A8D0-3F42D33588BE}"/>
    <dgm:cxn modelId="{D2C50CC3-6590-4D8F-A8F7-80EA2C1B4F14}" type="presOf" srcId="{8DA801A2-4C0D-4145-8FCD-12400D9E7896}" destId="{5F1C579F-B040-4DAE-AA9B-911A4F077711}" srcOrd="0" destOrd="0" presId="urn:microsoft.com/office/officeart/2018/2/layout/IconLabelList"/>
    <dgm:cxn modelId="{B6766CDE-EC19-421D-972D-A2F288B938A2}" srcId="{6BCA4727-63D0-4142-BC5A-13C8D38728EE}" destId="{8DA801A2-4C0D-4145-8FCD-12400D9E7896}" srcOrd="1" destOrd="0" parTransId="{0FE44E11-457F-48CB-B999-8499E88EB82E}" sibTransId="{80B501FF-C4EB-4767-B175-E0FAACFDA4C2}"/>
    <dgm:cxn modelId="{CD7EBB4C-5C2A-443C-832B-337C3FCF9DE2}" type="presParOf" srcId="{40DD97DB-B762-4EF6-85EE-396D9A870614}" destId="{E32316E9-2AA3-46BF-A273-13492032E337}" srcOrd="0" destOrd="0" presId="urn:microsoft.com/office/officeart/2018/2/layout/IconLabelList"/>
    <dgm:cxn modelId="{90D7A561-2D63-4F2E-981C-B176CC97D9E5}" type="presParOf" srcId="{E32316E9-2AA3-46BF-A273-13492032E337}" destId="{D8831277-08BC-43C0-AF66-F26B815985EC}" srcOrd="0" destOrd="0" presId="urn:microsoft.com/office/officeart/2018/2/layout/IconLabelList"/>
    <dgm:cxn modelId="{419F7383-1C44-4623-9A1D-7F9FA046997D}" type="presParOf" srcId="{E32316E9-2AA3-46BF-A273-13492032E337}" destId="{BAD790CC-8EEE-4F4A-ABC0-11D7FC7EC441}" srcOrd="1" destOrd="0" presId="urn:microsoft.com/office/officeart/2018/2/layout/IconLabelList"/>
    <dgm:cxn modelId="{7107C67D-97F6-4B9F-90FF-34EAD36E0E8E}" type="presParOf" srcId="{E32316E9-2AA3-46BF-A273-13492032E337}" destId="{B121CD9A-7188-4AEF-A292-70FCB2A580CD}" srcOrd="2" destOrd="0" presId="urn:microsoft.com/office/officeart/2018/2/layout/IconLabelList"/>
    <dgm:cxn modelId="{4A1F3577-650C-4FDD-A0F0-4644EA340680}" type="presParOf" srcId="{40DD97DB-B762-4EF6-85EE-396D9A870614}" destId="{E47AF584-4457-4108-9EE0-9449BAAD8A84}" srcOrd="1" destOrd="0" presId="urn:microsoft.com/office/officeart/2018/2/layout/IconLabelList"/>
    <dgm:cxn modelId="{D420B484-0028-4EC9-BCEE-36878706E375}" type="presParOf" srcId="{40DD97DB-B762-4EF6-85EE-396D9A870614}" destId="{53B2141F-E94B-47A0-B965-D84CD62AAF99}" srcOrd="2" destOrd="0" presId="urn:microsoft.com/office/officeart/2018/2/layout/IconLabelList"/>
    <dgm:cxn modelId="{AD24E928-F54D-4C33-9F4C-79308569F2C0}" type="presParOf" srcId="{53B2141F-E94B-47A0-B965-D84CD62AAF99}" destId="{27FDD5AD-97B4-4B29-8C8F-469B4C8DB80D}" srcOrd="0" destOrd="0" presId="urn:microsoft.com/office/officeart/2018/2/layout/IconLabelList"/>
    <dgm:cxn modelId="{5F7C8D3A-3D6F-4B72-8880-A3A654D66887}" type="presParOf" srcId="{53B2141F-E94B-47A0-B965-D84CD62AAF99}" destId="{64943523-D5D5-4EAE-BE32-B820EC0F605A}" srcOrd="1" destOrd="0" presId="urn:microsoft.com/office/officeart/2018/2/layout/IconLabelList"/>
    <dgm:cxn modelId="{AE427D5D-5E20-4BD1-A9DC-9CFB0A8B60E5}" type="presParOf" srcId="{53B2141F-E94B-47A0-B965-D84CD62AAF99}" destId="{5F1C579F-B040-4DAE-AA9B-911A4F077711}" srcOrd="2" destOrd="0" presId="urn:microsoft.com/office/officeart/2018/2/layout/IconLabelList"/>
    <dgm:cxn modelId="{21C6DD71-554A-438D-A02C-520093661869}" type="presParOf" srcId="{40DD97DB-B762-4EF6-85EE-396D9A870614}" destId="{3D0F207E-79BA-4F3E-B9AB-C364AC4E82C0}" srcOrd="3" destOrd="0" presId="urn:microsoft.com/office/officeart/2018/2/layout/IconLabelList"/>
    <dgm:cxn modelId="{A8C05D98-C96D-40FA-8ACC-1867B77FD2BC}" type="presParOf" srcId="{40DD97DB-B762-4EF6-85EE-396D9A870614}" destId="{89772DB8-99D7-4D81-B414-FE804E657220}" srcOrd="4" destOrd="0" presId="urn:microsoft.com/office/officeart/2018/2/layout/IconLabelList"/>
    <dgm:cxn modelId="{6BB3EB49-0E81-45AA-A41E-0E07FA9AE50A}" type="presParOf" srcId="{89772DB8-99D7-4D81-B414-FE804E657220}" destId="{70EF3571-2FC5-48DF-8EFB-DD9BEA5F6F73}" srcOrd="0" destOrd="0" presId="urn:microsoft.com/office/officeart/2018/2/layout/IconLabelList"/>
    <dgm:cxn modelId="{5816EBC5-138B-4CAC-ABF9-EA2BEB5A9D20}" type="presParOf" srcId="{89772DB8-99D7-4D81-B414-FE804E657220}" destId="{6A9723C1-78A6-49AD-BC79-C321AE4594C4}" srcOrd="1" destOrd="0" presId="urn:microsoft.com/office/officeart/2018/2/layout/IconLabelList"/>
    <dgm:cxn modelId="{E6A0713C-9DA2-4DD8-8693-000E87F49DA3}" type="presParOf" srcId="{89772DB8-99D7-4D81-B414-FE804E657220}" destId="{E0242E16-FFCC-441F-A23C-47C8FA34D7D2}" srcOrd="2" destOrd="0" presId="urn:microsoft.com/office/officeart/2018/2/layout/IconLabelList"/>
    <dgm:cxn modelId="{2279BE80-F857-4A47-8155-7AAE98080B88}" type="presParOf" srcId="{40DD97DB-B762-4EF6-85EE-396D9A870614}" destId="{695F20E9-9440-452C-B5D7-25C6E374AECA}" srcOrd="5" destOrd="0" presId="urn:microsoft.com/office/officeart/2018/2/layout/IconLabelList"/>
    <dgm:cxn modelId="{504169EB-557D-429F-9689-97A446520BD6}" type="presParOf" srcId="{40DD97DB-B762-4EF6-85EE-396D9A870614}" destId="{B82A186A-6FC2-4C0E-984C-DB2220DD8CD9}" srcOrd="6" destOrd="0" presId="urn:microsoft.com/office/officeart/2018/2/layout/IconLabelList"/>
    <dgm:cxn modelId="{25ED1931-99CF-482D-B32D-B2D6F562F260}" type="presParOf" srcId="{B82A186A-6FC2-4C0E-984C-DB2220DD8CD9}" destId="{7560FC33-3F41-43D2-A408-90F4FBED2D1B}" srcOrd="0" destOrd="0" presId="urn:microsoft.com/office/officeart/2018/2/layout/IconLabelList"/>
    <dgm:cxn modelId="{0A187F74-26E8-41B2-B320-DD50D1F2014F}" type="presParOf" srcId="{B82A186A-6FC2-4C0E-984C-DB2220DD8CD9}" destId="{4976BC4F-CE5E-4E1C-BDDC-D0425BA45A7B}" srcOrd="1" destOrd="0" presId="urn:microsoft.com/office/officeart/2018/2/layout/IconLabelList"/>
    <dgm:cxn modelId="{4F9356CF-20E9-4AEB-91A3-B63720DFFC2C}" type="presParOf" srcId="{B82A186A-6FC2-4C0E-984C-DB2220DD8CD9}" destId="{4E0E18AB-AA60-459A-862C-7B0AAA36F5C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BCA4727-63D0-4142-BC5A-13C8D38728E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AU"/>
        </a:p>
      </dgm:t>
    </dgm:pt>
    <dgm:pt modelId="{5F2E7A08-13BE-496E-9DFC-85785456FB96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AU"/>
            <a:t>Synthetic data design and creation</a:t>
          </a:r>
        </a:p>
      </dgm:t>
    </dgm:pt>
    <dgm:pt modelId="{D0AFB3A0-886C-45A9-8F35-4E2F653ACEA0}" type="parTrans" cxnId="{D12AF63C-AFFA-4BD4-B5B8-8D98F3E599D0}">
      <dgm:prSet/>
      <dgm:spPr/>
      <dgm:t>
        <a:bodyPr/>
        <a:lstStyle/>
        <a:p>
          <a:endParaRPr lang="en-AU" sz="1100"/>
        </a:p>
      </dgm:t>
    </dgm:pt>
    <dgm:pt modelId="{F530CCAC-584F-4FB3-9113-55822D6E15D0}" type="sibTrans" cxnId="{D12AF63C-AFFA-4BD4-B5B8-8D98F3E599D0}">
      <dgm:prSet/>
      <dgm:spPr/>
      <dgm:t>
        <a:bodyPr/>
        <a:lstStyle/>
        <a:p>
          <a:endParaRPr lang="en-AU"/>
        </a:p>
      </dgm:t>
    </dgm:pt>
    <dgm:pt modelId="{674BE735-ED9A-477E-B412-6CBF5AA0B9CA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AU"/>
            <a:t>Why: To ground the model in real world reasoning needed a library of annotated exemplar texts.</a:t>
          </a:r>
        </a:p>
      </dgm:t>
    </dgm:pt>
    <dgm:pt modelId="{E4E2FE6B-EEA0-4525-A314-ED3B7FDAD08D}" type="parTrans" cxnId="{2906B6DD-64BC-4384-BE18-5294DCA05AFC}">
      <dgm:prSet/>
      <dgm:spPr/>
      <dgm:t>
        <a:bodyPr/>
        <a:lstStyle/>
        <a:p>
          <a:endParaRPr lang="en-AU" sz="1100"/>
        </a:p>
      </dgm:t>
    </dgm:pt>
    <dgm:pt modelId="{1BA52993-B97B-423A-8D06-904E22F886BE}" type="sibTrans" cxnId="{2906B6DD-64BC-4384-BE18-5294DCA05AFC}">
      <dgm:prSet/>
      <dgm:spPr/>
      <dgm:t>
        <a:bodyPr/>
        <a:lstStyle/>
        <a:p>
          <a:endParaRPr lang="en-AU"/>
        </a:p>
      </dgm:t>
    </dgm:pt>
    <dgm:pt modelId="{3B04F845-555B-4A88-8A1A-D15B8FD8C0BB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AU" b="0"/>
            <a:t>Why: To overcome confidentiality and access limitations with real WHS data.</a:t>
          </a:r>
        </a:p>
      </dgm:t>
    </dgm:pt>
    <dgm:pt modelId="{C6732BB7-1A8C-44E3-8A7C-A38F47E6BDF1}" type="sibTrans" cxnId="{AFCCFEA2-733E-417B-9250-F5D2EDDE8DBA}">
      <dgm:prSet/>
      <dgm:spPr/>
      <dgm:t>
        <a:bodyPr/>
        <a:lstStyle/>
        <a:p>
          <a:endParaRPr lang="en-AU"/>
        </a:p>
      </dgm:t>
    </dgm:pt>
    <dgm:pt modelId="{B143A193-F1D8-42EB-AF7B-DFAE0E4FBF90}" type="parTrans" cxnId="{AFCCFEA2-733E-417B-9250-F5D2EDDE8DBA}">
      <dgm:prSet/>
      <dgm:spPr/>
      <dgm:t>
        <a:bodyPr/>
        <a:lstStyle/>
        <a:p>
          <a:endParaRPr lang="en-AU" sz="1100"/>
        </a:p>
      </dgm:t>
    </dgm:pt>
    <dgm:pt modelId="{91B1E82D-350C-4B16-B91A-3B5F25BAF56C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AU" b="1"/>
            <a:t>Result</a:t>
          </a:r>
          <a:r>
            <a:rPr lang="en-AU" b="0"/>
            <a:t>: 500 labelled records with embedded psychological safety, engagement, emotion and action quality traits.</a:t>
          </a:r>
        </a:p>
      </dgm:t>
    </dgm:pt>
    <dgm:pt modelId="{4B87B7E1-C4F5-4786-934C-4970814326B0}" type="sibTrans" cxnId="{A4FB003C-8F4D-4119-8A4A-A326FC33024C}">
      <dgm:prSet/>
      <dgm:spPr/>
      <dgm:t>
        <a:bodyPr/>
        <a:lstStyle/>
        <a:p>
          <a:endParaRPr lang="en-AU"/>
        </a:p>
      </dgm:t>
    </dgm:pt>
    <dgm:pt modelId="{FE7F93A6-2261-477F-8E35-626411EE089E}" type="parTrans" cxnId="{A4FB003C-8F4D-4119-8A4A-A326FC33024C}">
      <dgm:prSet/>
      <dgm:spPr/>
      <dgm:t>
        <a:bodyPr/>
        <a:lstStyle/>
        <a:p>
          <a:endParaRPr lang="en-AU" sz="1100"/>
        </a:p>
      </dgm:t>
    </dgm:pt>
    <dgm:pt modelId="{AC778E50-1A90-4F10-AF86-89DDA1CBF92C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AU"/>
            <a:t>Build and trained exemplars for training and allocation</a:t>
          </a:r>
        </a:p>
      </dgm:t>
    </dgm:pt>
    <dgm:pt modelId="{DF1D7EB2-62C8-414B-9363-853F80CEB720}" type="sibTrans" cxnId="{03B3CDC2-CD53-45F9-83F3-E24BF84676CB}">
      <dgm:prSet/>
      <dgm:spPr/>
      <dgm:t>
        <a:bodyPr/>
        <a:lstStyle/>
        <a:p>
          <a:endParaRPr lang="en-AU"/>
        </a:p>
      </dgm:t>
    </dgm:pt>
    <dgm:pt modelId="{9223295B-EC8E-46BB-9E2C-6D9C8E45F2FD}" type="parTrans" cxnId="{03B3CDC2-CD53-45F9-83F3-E24BF84676CB}">
      <dgm:prSet/>
      <dgm:spPr/>
      <dgm:t>
        <a:bodyPr/>
        <a:lstStyle/>
        <a:p>
          <a:endParaRPr lang="en-AU" sz="1100"/>
        </a:p>
      </dgm:t>
    </dgm:pt>
    <dgm:pt modelId="{880CFA9E-F19C-4727-B790-E03B663AAC20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AU" b="0"/>
            <a:t>Templates with WHS structure: </a:t>
          </a:r>
          <a:r>
            <a:rPr lang="en-AU" b="0" i="1"/>
            <a:t>incident description</a:t>
          </a:r>
          <a:r>
            <a:rPr lang="en-AU" b="0"/>
            <a:t>, </a:t>
          </a:r>
          <a:r>
            <a:rPr lang="en-AU" b="0" i="1"/>
            <a:t>corrective action</a:t>
          </a:r>
          <a:r>
            <a:rPr lang="en-AU" b="0"/>
            <a:t>, </a:t>
          </a:r>
          <a:r>
            <a:rPr lang="en-AU" b="0" i="1"/>
            <a:t>location/team and other data</a:t>
          </a:r>
          <a:endParaRPr lang="en-AU" b="0"/>
        </a:p>
        <a:p>
          <a:pPr>
            <a:lnSpc>
              <a:spcPct val="100000"/>
            </a:lnSpc>
          </a:pPr>
          <a:r>
            <a:rPr lang="en-US" b="0"/>
            <a:t>Injected tone and variation using linguistic rules and TOOCS-aligned OHS terminology </a:t>
          </a:r>
          <a:br>
            <a:rPr lang="en-US" b="0"/>
          </a:br>
          <a:r>
            <a:rPr lang="en-US" b="0"/>
            <a:t>aligned language with behavioral science terminology (ie modal verbs etc)</a:t>
          </a:r>
          <a:endParaRPr lang="en-AU" b="0"/>
        </a:p>
      </dgm:t>
    </dgm:pt>
    <dgm:pt modelId="{AE97CC55-D46F-4FFE-BD8E-3E5DF5498E07}" type="parTrans" cxnId="{FFAAC960-2B40-4C22-9717-C673235F1082}">
      <dgm:prSet/>
      <dgm:spPr/>
      <dgm:t>
        <a:bodyPr/>
        <a:lstStyle/>
        <a:p>
          <a:endParaRPr lang="en-AU"/>
        </a:p>
      </dgm:t>
    </dgm:pt>
    <dgm:pt modelId="{9527CCE7-DF35-420A-873A-DE926DFCA25D}" type="sibTrans" cxnId="{FFAAC960-2B40-4C22-9717-C673235F1082}">
      <dgm:prSet/>
      <dgm:spPr/>
      <dgm:t>
        <a:bodyPr/>
        <a:lstStyle/>
        <a:p>
          <a:endParaRPr lang="en-AU"/>
        </a:p>
      </dgm:t>
    </dgm:pt>
    <dgm:pt modelId="{8DA801A2-4C0D-4145-8FCD-12400D9E7896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AU"/>
            <a:t>Purpose: To act as semantic anchors for similarity-based scoring (LM and RoBERTa)</a:t>
          </a:r>
          <a:br>
            <a:rPr lang="en-AU"/>
          </a:br>
          <a:r>
            <a:rPr lang="en-AU"/>
            <a:t>Support ‘human-in-the-loop calibration’ and bias testing</a:t>
          </a:r>
          <a:br>
            <a:rPr lang="en-AU"/>
          </a:br>
          <a:r>
            <a:rPr lang="en-AU"/>
            <a:t>Served as ground truth for SHAP interpretation</a:t>
          </a:r>
        </a:p>
      </dgm:t>
    </dgm:pt>
    <dgm:pt modelId="{0FE44E11-457F-48CB-B999-8499E88EB82E}" type="parTrans" cxnId="{B6766CDE-EC19-421D-972D-A2F288B938A2}">
      <dgm:prSet/>
      <dgm:spPr/>
      <dgm:t>
        <a:bodyPr/>
        <a:lstStyle/>
        <a:p>
          <a:endParaRPr lang="en-AU"/>
        </a:p>
      </dgm:t>
    </dgm:pt>
    <dgm:pt modelId="{80B501FF-C4EB-4767-B175-E0FAACFDA4C2}" type="sibTrans" cxnId="{B6766CDE-EC19-421D-972D-A2F288B938A2}">
      <dgm:prSet/>
      <dgm:spPr/>
      <dgm:t>
        <a:bodyPr/>
        <a:lstStyle/>
        <a:p>
          <a:endParaRPr lang="en-AU"/>
        </a:p>
      </dgm:t>
    </dgm:pt>
    <dgm:pt modelId="{98DC0F35-4339-4B5B-A3DC-F1E44254272B}" type="pres">
      <dgm:prSet presAssocID="{6BCA4727-63D0-4142-BC5A-13C8D38728EE}" presName="root" presStyleCnt="0">
        <dgm:presLayoutVars>
          <dgm:dir/>
          <dgm:resizeHandles val="exact"/>
        </dgm:presLayoutVars>
      </dgm:prSet>
      <dgm:spPr/>
    </dgm:pt>
    <dgm:pt modelId="{8CDD42CD-682E-47DA-9B93-241903B80842}" type="pres">
      <dgm:prSet presAssocID="{5F2E7A08-13BE-496E-9DFC-85785456FB96}" presName="compNode" presStyleCnt="0"/>
      <dgm:spPr/>
    </dgm:pt>
    <dgm:pt modelId="{ED793871-DD44-4749-897A-1946FF8C7707}" type="pres">
      <dgm:prSet presAssocID="{5F2E7A08-13BE-496E-9DFC-85785456FB9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lue"/>
        </a:ext>
      </dgm:extLst>
    </dgm:pt>
    <dgm:pt modelId="{C9314CB1-B2FB-4BD3-8AD3-7A7BADDDB99D}" type="pres">
      <dgm:prSet presAssocID="{5F2E7A08-13BE-496E-9DFC-85785456FB96}" presName="iconSpace" presStyleCnt="0"/>
      <dgm:spPr/>
    </dgm:pt>
    <dgm:pt modelId="{C2D6B5B4-6C33-438A-8B6C-2EE362A53E9F}" type="pres">
      <dgm:prSet presAssocID="{5F2E7A08-13BE-496E-9DFC-85785456FB96}" presName="parTx" presStyleLbl="revTx" presStyleIdx="0" presStyleCnt="4">
        <dgm:presLayoutVars>
          <dgm:chMax val="0"/>
          <dgm:chPref val="0"/>
        </dgm:presLayoutVars>
      </dgm:prSet>
      <dgm:spPr/>
    </dgm:pt>
    <dgm:pt modelId="{350A9C2A-8021-4FA0-919A-99BBB7367E48}" type="pres">
      <dgm:prSet presAssocID="{5F2E7A08-13BE-496E-9DFC-85785456FB96}" presName="txSpace" presStyleCnt="0"/>
      <dgm:spPr/>
    </dgm:pt>
    <dgm:pt modelId="{5709E550-2421-4D53-82E0-F1FA9D1B3048}" type="pres">
      <dgm:prSet presAssocID="{5F2E7A08-13BE-496E-9DFC-85785456FB96}" presName="desTx" presStyleLbl="revTx" presStyleIdx="1" presStyleCnt="4">
        <dgm:presLayoutVars/>
      </dgm:prSet>
      <dgm:spPr/>
    </dgm:pt>
    <dgm:pt modelId="{B69286BD-CDCF-4628-A1AD-279A6111A3E9}" type="pres">
      <dgm:prSet presAssocID="{F530CCAC-584F-4FB3-9113-55822D6E15D0}" presName="sibTrans" presStyleCnt="0"/>
      <dgm:spPr/>
    </dgm:pt>
    <dgm:pt modelId="{AE0489E2-97AC-4D29-89A1-F3F01475A2A5}" type="pres">
      <dgm:prSet presAssocID="{AC778E50-1A90-4F10-AF86-89DDA1CBF92C}" presName="compNode" presStyleCnt="0"/>
      <dgm:spPr/>
    </dgm:pt>
    <dgm:pt modelId="{04DA8161-BBD5-43E1-8F64-836568813B7E}" type="pres">
      <dgm:prSet presAssocID="{AC778E50-1A90-4F10-AF86-89DDA1CBF92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792E916-E97D-49B8-BB2F-1EA745980AC9}" type="pres">
      <dgm:prSet presAssocID="{AC778E50-1A90-4F10-AF86-89DDA1CBF92C}" presName="iconSpace" presStyleCnt="0"/>
      <dgm:spPr/>
    </dgm:pt>
    <dgm:pt modelId="{5B8B2794-81C0-41DD-8A4D-579A3911BD40}" type="pres">
      <dgm:prSet presAssocID="{AC778E50-1A90-4F10-AF86-89DDA1CBF92C}" presName="parTx" presStyleLbl="revTx" presStyleIdx="2" presStyleCnt="4">
        <dgm:presLayoutVars>
          <dgm:chMax val="0"/>
          <dgm:chPref val="0"/>
        </dgm:presLayoutVars>
      </dgm:prSet>
      <dgm:spPr/>
    </dgm:pt>
    <dgm:pt modelId="{9DA7BA68-0993-49F1-9142-EDB40343A5BC}" type="pres">
      <dgm:prSet presAssocID="{AC778E50-1A90-4F10-AF86-89DDA1CBF92C}" presName="txSpace" presStyleCnt="0"/>
      <dgm:spPr/>
    </dgm:pt>
    <dgm:pt modelId="{98802D8A-E26C-448F-AF80-A3F22747ECB7}" type="pres">
      <dgm:prSet presAssocID="{AC778E50-1A90-4F10-AF86-89DDA1CBF92C}" presName="desTx" presStyleLbl="revTx" presStyleIdx="3" presStyleCnt="4">
        <dgm:presLayoutVars/>
      </dgm:prSet>
      <dgm:spPr/>
    </dgm:pt>
  </dgm:ptLst>
  <dgm:cxnLst>
    <dgm:cxn modelId="{4FCB3017-A32A-45A2-9F33-3F586BA32CD0}" type="presOf" srcId="{8DA801A2-4C0D-4145-8FCD-12400D9E7896}" destId="{98802D8A-E26C-448F-AF80-A3F22747ECB7}" srcOrd="0" destOrd="1" presId="urn:microsoft.com/office/officeart/2018/5/layout/CenteredIconLabelDescriptionList"/>
    <dgm:cxn modelId="{37A9CD35-386E-46A8-8231-2D762036711B}" type="presOf" srcId="{91B1E82D-350C-4B16-B91A-3B5F25BAF56C}" destId="{5709E550-2421-4D53-82E0-F1FA9D1B3048}" srcOrd="0" destOrd="2" presId="urn:microsoft.com/office/officeart/2018/5/layout/CenteredIconLabelDescriptionList"/>
    <dgm:cxn modelId="{F20C5737-287E-4DC8-91C5-3F636FDF7BA9}" type="presOf" srcId="{6BCA4727-63D0-4142-BC5A-13C8D38728EE}" destId="{98DC0F35-4339-4B5B-A3DC-F1E44254272B}" srcOrd="0" destOrd="0" presId="urn:microsoft.com/office/officeart/2018/5/layout/CenteredIconLabelDescriptionList"/>
    <dgm:cxn modelId="{A4FB003C-8F4D-4119-8A4A-A326FC33024C}" srcId="{5F2E7A08-13BE-496E-9DFC-85785456FB96}" destId="{91B1E82D-350C-4B16-B91A-3B5F25BAF56C}" srcOrd="2" destOrd="0" parTransId="{FE7F93A6-2261-477F-8E35-626411EE089E}" sibTransId="{4B87B7E1-C4F5-4786-934C-4970814326B0}"/>
    <dgm:cxn modelId="{D12AF63C-AFFA-4BD4-B5B8-8D98F3E599D0}" srcId="{6BCA4727-63D0-4142-BC5A-13C8D38728EE}" destId="{5F2E7A08-13BE-496E-9DFC-85785456FB96}" srcOrd="0" destOrd="0" parTransId="{D0AFB3A0-886C-45A9-8F35-4E2F653ACEA0}" sibTransId="{F530CCAC-584F-4FB3-9113-55822D6E15D0}"/>
    <dgm:cxn modelId="{FFAAC960-2B40-4C22-9717-C673235F1082}" srcId="{5F2E7A08-13BE-496E-9DFC-85785456FB96}" destId="{880CFA9E-F19C-4727-B790-E03B663AAC20}" srcOrd="1" destOrd="0" parTransId="{AE97CC55-D46F-4FFE-BD8E-3E5DF5498E07}" sibTransId="{9527CCE7-DF35-420A-873A-DE926DFCA25D}"/>
    <dgm:cxn modelId="{6C5D7E5A-9D83-48C3-9C73-44F53F5495FC}" type="presOf" srcId="{880CFA9E-F19C-4727-B790-E03B663AAC20}" destId="{5709E550-2421-4D53-82E0-F1FA9D1B3048}" srcOrd="0" destOrd="1" presId="urn:microsoft.com/office/officeart/2018/5/layout/CenteredIconLabelDescriptionList"/>
    <dgm:cxn modelId="{653C6F91-7EB0-45C0-9272-7C55616F33A1}" type="presOf" srcId="{3B04F845-555B-4A88-8A1A-D15B8FD8C0BB}" destId="{5709E550-2421-4D53-82E0-F1FA9D1B3048}" srcOrd="0" destOrd="0" presId="urn:microsoft.com/office/officeart/2018/5/layout/CenteredIconLabelDescriptionList"/>
    <dgm:cxn modelId="{AFCCFEA2-733E-417B-9250-F5D2EDDE8DBA}" srcId="{5F2E7A08-13BE-496E-9DFC-85785456FB96}" destId="{3B04F845-555B-4A88-8A1A-D15B8FD8C0BB}" srcOrd="0" destOrd="0" parTransId="{B143A193-F1D8-42EB-AF7B-DFAE0E4FBF90}" sibTransId="{C6732BB7-1A8C-44E3-8A7C-A38F47E6BDF1}"/>
    <dgm:cxn modelId="{657B08A7-C22D-4A5C-AA1B-832991246078}" type="presOf" srcId="{5F2E7A08-13BE-496E-9DFC-85785456FB96}" destId="{C2D6B5B4-6C33-438A-8B6C-2EE362A53E9F}" srcOrd="0" destOrd="0" presId="urn:microsoft.com/office/officeart/2018/5/layout/CenteredIconLabelDescriptionList"/>
    <dgm:cxn modelId="{03B3CDC2-CD53-45F9-83F3-E24BF84676CB}" srcId="{6BCA4727-63D0-4142-BC5A-13C8D38728EE}" destId="{AC778E50-1A90-4F10-AF86-89DDA1CBF92C}" srcOrd="1" destOrd="0" parTransId="{9223295B-EC8E-46BB-9E2C-6D9C8E45F2FD}" sibTransId="{DF1D7EB2-62C8-414B-9363-853F80CEB720}"/>
    <dgm:cxn modelId="{F6AAFBC9-3712-4498-B259-D5F5B901932F}" type="presOf" srcId="{674BE735-ED9A-477E-B412-6CBF5AA0B9CA}" destId="{98802D8A-E26C-448F-AF80-A3F22747ECB7}" srcOrd="0" destOrd="0" presId="urn:microsoft.com/office/officeart/2018/5/layout/CenteredIconLabelDescriptionList"/>
    <dgm:cxn modelId="{2906B6DD-64BC-4384-BE18-5294DCA05AFC}" srcId="{AC778E50-1A90-4F10-AF86-89DDA1CBF92C}" destId="{674BE735-ED9A-477E-B412-6CBF5AA0B9CA}" srcOrd="0" destOrd="0" parTransId="{E4E2FE6B-EEA0-4525-A314-ED3B7FDAD08D}" sibTransId="{1BA52993-B97B-423A-8D06-904E22F886BE}"/>
    <dgm:cxn modelId="{B6766CDE-EC19-421D-972D-A2F288B938A2}" srcId="{AC778E50-1A90-4F10-AF86-89DDA1CBF92C}" destId="{8DA801A2-4C0D-4145-8FCD-12400D9E7896}" srcOrd="1" destOrd="0" parTransId="{0FE44E11-457F-48CB-B999-8499E88EB82E}" sibTransId="{80B501FF-C4EB-4767-B175-E0FAACFDA4C2}"/>
    <dgm:cxn modelId="{AB875AF8-3573-4B20-842C-D6987DAB9F92}" type="presOf" srcId="{AC778E50-1A90-4F10-AF86-89DDA1CBF92C}" destId="{5B8B2794-81C0-41DD-8A4D-579A3911BD40}" srcOrd="0" destOrd="0" presId="urn:microsoft.com/office/officeart/2018/5/layout/CenteredIconLabelDescriptionList"/>
    <dgm:cxn modelId="{0DBA22C0-C0B9-403B-A97E-06A0EDA7C96F}" type="presParOf" srcId="{98DC0F35-4339-4B5B-A3DC-F1E44254272B}" destId="{8CDD42CD-682E-47DA-9B93-241903B80842}" srcOrd="0" destOrd="0" presId="urn:microsoft.com/office/officeart/2018/5/layout/CenteredIconLabelDescriptionList"/>
    <dgm:cxn modelId="{504F8002-6995-499D-AD67-B55D4F64D967}" type="presParOf" srcId="{8CDD42CD-682E-47DA-9B93-241903B80842}" destId="{ED793871-DD44-4749-897A-1946FF8C7707}" srcOrd="0" destOrd="0" presId="urn:microsoft.com/office/officeart/2018/5/layout/CenteredIconLabelDescriptionList"/>
    <dgm:cxn modelId="{2130E12D-3DEB-45EF-9E9F-04D0B07DB74B}" type="presParOf" srcId="{8CDD42CD-682E-47DA-9B93-241903B80842}" destId="{C9314CB1-B2FB-4BD3-8AD3-7A7BADDDB99D}" srcOrd="1" destOrd="0" presId="urn:microsoft.com/office/officeart/2018/5/layout/CenteredIconLabelDescriptionList"/>
    <dgm:cxn modelId="{59E26507-7903-4F8D-8F38-58BFE59ABACA}" type="presParOf" srcId="{8CDD42CD-682E-47DA-9B93-241903B80842}" destId="{C2D6B5B4-6C33-438A-8B6C-2EE362A53E9F}" srcOrd="2" destOrd="0" presId="urn:microsoft.com/office/officeart/2018/5/layout/CenteredIconLabelDescriptionList"/>
    <dgm:cxn modelId="{5CAD7768-3F06-43EA-B777-8CF06420AAAA}" type="presParOf" srcId="{8CDD42CD-682E-47DA-9B93-241903B80842}" destId="{350A9C2A-8021-4FA0-919A-99BBB7367E48}" srcOrd="3" destOrd="0" presId="urn:microsoft.com/office/officeart/2018/5/layout/CenteredIconLabelDescriptionList"/>
    <dgm:cxn modelId="{321B078A-0DAD-4F2C-97D2-D73C3E546C07}" type="presParOf" srcId="{8CDD42CD-682E-47DA-9B93-241903B80842}" destId="{5709E550-2421-4D53-82E0-F1FA9D1B3048}" srcOrd="4" destOrd="0" presId="urn:microsoft.com/office/officeart/2018/5/layout/CenteredIconLabelDescriptionList"/>
    <dgm:cxn modelId="{22A8B244-E6AA-4500-B1A9-FE7C4BAC6C24}" type="presParOf" srcId="{98DC0F35-4339-4B5B-A3DC-F1E44254272B}" destId="{B69286BD-CDCF-4628-A1AD-279A6111A3E9}" srcOrd="1" destOrd="0" presId="urn:microsoft.com/office/officeart/2018/5/layout/CenteredIconLabelDescriptionList"/>
    <dgm:cxn modelId="{E6535828-E472-457E-9B5F-D65FDFC896DE}" type="presParOf" srcId="{98DC0F35-4339-4B5B-A3DC-F1E44254272B}" destId="{AE0489E2-97AC-4D29-89A1-F3F01475A2A5}" srcOrd="2" destOrd="0" presId="urn:microsoft.com/office/officeart/2018/5/layout/CenteredIconLabelDescriptionList"/>
    <dgm:cxn modelId="{926B3354-9A1D-47FE-AA80-F2985CC8201F}" type="presParOf" srcId="{AE0489E2-97AC-4D29-89A1-F3F01475A2A5}" destId="{04DA8161-BBD5-43E1-8F64-836568813B7E}" srcOrd="0" destOrd="0" presId="urn:microsoft.com/office/officeart/2018/5/layout/CenteredIconLabelDescriptionList"/>
    <dgm:cxn modelId="{1B960F4D-5DC6-4921-A7EA-D2640E528BC1}" type="presParOf" srcId="{AE0489E2-97AC-4D29-89A1-F3F01475A2A5}" destId="{7792E916-E97D-49B8-BB2F-1EA745980AC9}" srcOrd="1" destOrd="0" presId="urn:microsoft.com/office/officeart/2018/5/layout/CenteredIconLabelDescriptionList"/>
    <dgm:cxn modelId="{1BC20895-2190-4A07-82B5-38182135F441}" type="presParOf" srcId="{AE0489E2-97AC-4D29-89A1-F3F01475A2A5}" destId="{5B8B2794-81C0-41DD-8A4D-579A3911BD40}" srcOrd="2" destOrd="0" presId="urn:microsoft.com/office/officeart/2018/5/layout/CenteredIconLabelDescriptionList"/>
    <dgm:cxn modelId="{3A88F940-C3E4-4FEE-B185-6ED0DA5C76C5}" type="presParOf" srcId="{AE0489E2-97AC-4D29-89A1-F3F01475A2A5}" destId="{9DA7BA68-0993-49F1-9142-EDB40343A5BC}" srcOrd="3" destOrd="0" presId="urn:microsoft.com/office/officeart/2018/5/layout/CenteredIconLabelDescriptionList"/>
    <dgm:cxn modelId="{CEEC0BE9-D979-48AE-9BED-D55A9D18BB2E}" type="presParOf" srcId="{AE0489E2-97AC-4D29-89A1-F3F01475A2A5}" destId="{98802D8A-E26C-448F-AF80-A3F22747ECB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BCA4727-63D0-4142-BC5A-13C8D38728E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AU"/>
        </a:p>
      </dgm:t>
    </dgm:pt>
    <dgm:pt modelId="{A47CC501-0A06-4041-B5CF-F457E46013E4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AU" dirty="0"/>
            <a:t>Tools used: SHAP for </a:t>
          </a:r>
          <a:r>
            <a:rPr lang="en-AU" dirty="0" err="1"/>
            <a:t>exaplanatbility</a:t>
          </a:r>
          <a:endParaRPr lang="en-AU" dirty="0"/>
        </a:p>
        <a:p>
          <a:pPr>
            <a:lnSpc>
              <a:spcPct val="100000"/>
            </a:lnSpc>
          </a:pPr>
          <a:r>
            <a:rPr lang="en-AU" dirty="0"/>
            <a:t>Confusion matrices to surface misclassified edge cases</a:t>
          </a:r>
        </a:p>
        <a:p>
          <a:endParaRPr lang="en-AU" dirty="0"/>
        </a:p>
      </dgm:t>
    </dgm:pt>
    <dgm:pt modelId="{BB2AF80B-531B-4492-B8F1-F9548BCD4BF5}" type="sibTrans" cxnId="{7842BF02-3D8B-4561-BB3E-DE3A9FE8FBC9}">
      <dgm:prSet/>
      <dgm:spPr/>
      <dgm:t>
        <a:bodyPr/>
        <a:lstStyle/>
        <a:p>
          <a:endParaRPr lang="en-AU"/>
        </a:p>
      </dgm:t>
    </dgm:pt>
    <dgm:pt modelId="{40886E55-209B-452B-BDD7-38317DEB45CB}" type="parTrans" cxnId="{7842BF02-3D8B-4561-BB3E-DE3A9FE8FBC9}">
      <dgm:prSet/>
      <dgm:spPr/>
      <dgm:t>
        <a:bodyPr/>
        <a:lstStyle/>
        <a:p>
          <a:endParaRPr lang="en-AU" sz="1100"/>
        </a:p>
      </dgm:t>
    </dgm:pt>
    <dgm:pt modelId="{1FB33016-3F03-4D43-920C-C0A6CCB10778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AU"/>
            <a:t>Feature Engineering</a:t>
          </a:r>
        </a:p>
      </dgm:t>
    </dgm:pt>
    <dgm:pt modelId="{F25072E2-5B46-4D61-ABE1-DE72D6C16966}" type="sibTrans" cxnId="{86EB84E5-657B-4ACA-9F8B-542A981DFD5D}">
      <dgm:prSet/>
      <dgm:spPr/>
      <dgm:t>
        <a:bodyPr/>
        <a:lstStyle/>
        <a:p>
          <a:endParaRPr lang="en-AU"/>
        </a:p>
      </dgm:t>
    </dgm:pt>
    <dgm:pt modelId="{DE6E8BCC-FED5-4096-93DB-391539405437}" type="parTrans" cxnId="{86EB84E5-657B-4ACA-9F8B-542A981DFD5D}">
      <dgm:prSet/>
      <dgm:spPr/>
      <dgm:t>
        <a:bodyPr/>
        <a:lstStyle/>
        <a:p>
          <a:endParaRPr lang="en-AU" sz="1100"/>
        </a:p>
      </dgm:t>
    </dgm:pt>
    <dgm:pt modelId="{AB59C03E-BDD9-49EB-A690-E5928D40BA7F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AU" b="1" dirty="0"/>
            <a:t>What</a:t>
          </a:r>
          <a:r>
            <a:rPr lang="en-AU" dirty="0"/>
            <a:t>: Engineered behavioural and linguistic signals drawing from safety and hazard models, psychology and sociolinguistics.</a:t>
          </a:r>
        </a:p>
      </dgm:t>
    </dgm:pt>
    <dgm:pt modelId="{C4019E39-CEAC-433C-B019-95248D2E9309}" type="sibTrans" cxnId="{660BCDFB-FF05-496D-9B90-711F76F29B88}">
      <dgm:prSet/>
      <dgm:spPr/>
      <dgm:t>
        <a:bodyPr/>
        <a:lstStyle/>
        <a:p>
          <a:endParaRPr lang="en-AU"/>
        </a:p>
      </dgm:t>
    </dgm:pt>
    <dgm:pt modelId="{22CF1E18-3D0E-4BFC-9FDF-7B19404A7B47}" type="parTrans" cxnId="{660BCDFB-FF05-496D-9B90-711F76F29B88}">
      <dgm:prSet/>
      <dgm:spPr/>
      <dgm:t>
        <a:bodyPr/>
        <a:lstStyle/>
        <a:p>
          <a:endParaRPr lang="en-AU" sz="1100"/>
        </a:p>
      </dgm:t>
    </dgm:pt>
    <dgm:pt modelId="{A72EF825-B5D4-45AF-AF42-BEF4C6F81DA1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AU" b="1" dirty="0"/>
            <a:t>Core features</a:t>
          </a:r>
          <a:r>
            <a:rPr lang="en-AU" dirty="0"/>
            <a:t>: Linguistic features, emotional and sentiment features, personas and scoring features.</a:t>
          </a:r>
        </a:p>
        <a:p>
          <a:pPr>
            <a:lnSpc>
              <a:spcPct val="100000"/>
            </a:lnSpc>
          </a:pPr>
          <a:r>
            <a:rPr lang="en-AU" b="1" dirty="0"/>
            <a:t>Models</a:t>
          </a:r>
          <a:r>
            <a:rPr lang="en-AU" dirty="0"/>
            <a:t> </a:t>
          </a:r>
        </a:p>
        <a:p>
          <a:pPr>
            <a:lnSpc>
              <a:spcPct val="100000"/>
            </a:lnSpc>
          </a:pPr>
          <a:r>
            <a:rPr lang="en-AU" b="0" dirty="0"/>
            <a:t>Hartmann for dominant emotion tagging (single-label)</a:t>
          </a:r>
        </a:p>
      </dgm:t>
    </dgm:pt>
    <dgm:pt modelId="{4B2C8DF1-6296-442A-9FA5-65C5E0B314F5}" type="sibTrans" cxnId="{A6927C0E-A35B-4606-B239-7E73BD562DD0}">
      <dgm:prSet/>
      <dgm:spPr/>
      <dgm:t>
        <a:bodyPr/>
        <a:lstStyle/>
        <a:p>
          <a:endParaRPr lang="en-AU"/>
        </a:p>
      </dgm:t>
    </dgm:pt>
    <dgm:pt modelId="{3924D96F-0183-478E-B01F-062EC4CD2C19}" type="parTrans" cxnId="{A6927C0E-A35B-4606-B239-7E73BD562DD0}">
      <dgm:prSet/>
      <dgm:spPr/>
      <dgm:t>
        <a:bodyPr/>
        <a:lstStyle/>
        <a:p>
          <a:endParaRPr lang="en-AU" sz="1100"/>
        </a:p>
      </dgm:t>
    </dgm:pt>
    <dgm:pt modelId="{296203DA-1C7A-4CAD-8D2A-CBA67AFEFB8A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AU"/>
            <a:t>Modelling and evaluation </a:t>
          </a:r>
        </a:p>
      </dgm:t>
    </dgm:pt>
    <dgm:pt modelId="{9E1BE02C-465C-4562-8762-1EDE1CFCF7A9}" type="sibTrans" cxnId="{2F917665-DD90-47FF-96D4-63C46520257B}">
      <dgm:prSet/>
      <dgm:spPr/>
      <dgm:t>
        <a:bodyPr/>
        <a:lstStyle/>
        <a:p>
          <a:endParaRPr lang="en-AU"/>
        </a:p>
      </dgm:t>
    </dgm:pt>
    <dgm:pt modelId="{99A6D74F-3F9B-4E9C-873F-4FC2DFCAECF7}" type="parTrans" cxnId="{2F917665-DD90-47FF-96D4-63C46520257B}">
      <dgm:prSet/>
      <dgm:spPr/>
      <dgm:t>
        <a:bodyPr/>
        <a:lstStyle/>
        <a:p>
          <a:endParaRPr lang="en-AU" sz="1100"/>
        </a:p>
      </dgm:t>
    </dgm:pt>
    <dgm:pt modelId="{D4D067CB-C3B6-4415-8454-589C17E55CCC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AU"/>
            <a:t>Tested multiple classification strategies to predict psychological safety and cultural indicaotrs from report text</a:t>
          </a:r>
        </a:p>
      </dgm:t>
    </dgm:pt>
    <dgm:pt modelId="{49BDDD53-0401-4A63-B9C8-7BCAA052C6CD}" type="sibTrans" cxnId="{40412A45-BBC8-4F98-BAE4-03DF2DBBD260}">
      <dgm:prSet/>
      <dgm:spPr/>
      <dgm:t>
        <a:bodyPr/>
        <a:lstStyle/>
        <a:p>
          <a:endParaRPr lang="en-AU"/>
        </a:p>
      </dgm:t>
    </dgm:pt>
    <dgm:pt modelId="{F557A54D-BBE7-48B9-9821-3D5449CDBC7A}" type="parTrans" cxnId="{40412A45-BBC8-4F98-BAE4-03DF2DBBD260}">
      <dgm:prSet/>
      <dgm:spPr/>
      <dgm:t>
        <a:bodyPr/>
        <a:lstStyle/>
        <a:p>
          <a:endParaRPr lang="en-AU" sz="1100"/>
        </a:p>
      </dgm:t>
    </dgm:pt>
    <dgm:pt modelId="{E44340DA-0D9E-4A1C-8B74-3A1D35126DB2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AU"/>
            <a:t>Models used/tested: Random Forest, Logistic Regression (TF-IDF), RoBERTa GoEmotions, MiniLM-L6-v2 + KNN</a:t>
          </a:r>
        </a:p>
      </dgm:t>
    </dgm:pt>
    <dgm:pt modelId="{E5185AC0-3BAC-4032-A471-7FAAC953DFF7}" type="sibTrans" cxnId="{CD3FF9E8-E85D-4C6E-B454-357454401D73}">
      <dgm:prSet/>
      <dgm:spPr/>
      <dgm:t>
        <a:bodyPr/>
        <a:lstStyle/>
        <a:p>
          <a:endParaRPr lang="en-AU"/>
        </a:p>
      </dgm:t>
    </dgm:pt>
    <dgm:pt modelId="{30EB9469-83CC-4819-B404-E8CDAC9A1565}" type="parTrans" cxnId="{CD3FF9E8-E85D-4C6E-B454-357454401D73}">
      <dgm:prSet/>
      <dgm:spPr/>
      <dgm:t>
        <a:bodyPr/>
        <a:lstStyle/>
        <a:p>
          <a:endParaRPr lang="en-AU" sz="1100"/>
        </a:p>
      </dgm:t>
    </dgm:pt>
    <dgm:pt modelId="{8C0AA7E0-3368-4238-B582-53E3261FAC01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AU"/>
            <a:t>Metrics: F1 score, class wise precision/recall, SHAP value impacts</a:t>
          </a:r>
        </a:p>
      </dgm:t>
    </dgm:pt>
    <dgm:pt modelId="{921AC4D6-1FBF-4D62-9794-A55798494C30}" type="sibTrans" cxnId="{A27AB551-C11B-4B5F-BB66-BFE934135B80}">
      <dgm:prSet/>
      <dgm:spPr/>
      <dgm:t>
        <a:bodyPr/>
        <a:lstStyle/>
        <a:p>
          <a:endParaRPr lang="en-AU"/>
        </a:p>
      </dgm:t>
    </dgm:pt>
    <dgm:pt modelId="{AF196C33-82D6-4FEC-BF8B-FBFE01A600A3}" type="parTrans" cxnId="{A27AB551-C11B-4B5F-BB66-BFE934135B80}">
      <dgm:prSet/>
      <dgm:spPr/>
      <dgm:t>
        <a:bodyPr/>
        <a:lstStyle/>
        <a:p>
          <a:endParaRPr lang="en-AU" sz="1100"/>
        </a:p>
      </dgm:t>
    </dgm:pt>
    <dgm:pt modelId="{B38945A1-0068-41F2-B7F6-C48C1CF6F69A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AU"/>
            <a:t>Results: Random Forest model achieved 90% accuracy on synthetic data</a:t>
          </a:r>
          <a:br>
            <a:rPr lang="en-AU"/>
          </a:br>
          <a:r>
            <a:rPr lang="en-AU"/>
            <a:t>Logistic Regression performed lower (83%)  but still offered a useful benchmark</a:t>
          </a:r>
        </a:p>
      </dgm:t>
    </dgm:pt>
    <dgm:pt modelId="{9AD2AB38-9CC6-4317-A8D0-3F42D33588BE}" type="sibTrans" cxnId="{BE4BF9BC-CE46-44D8-8C02-5CD473C28A81}">
      <dgm:prSet/>
      <dgm:spPr/>
      <dgm:t>
        <a:bodyPr/>
        <a:lstStyle/>
        <a:p>
          <a:endParaRPr lang="en-AU"/>
        </a:p>
      </dgm:t>
    </dgm:pt>
    <dgm:pt modelId="{6D260BED-47AD-4AB6-9407-F5BAEA9FD8E7}" type="parTrans" cxnId="{BE4BF9BC-CE46-44D8-8C02-5CD473C28A81}">
      <dgm:prSet/>
      <dgm:spPr/>
      <dgm:t>
        <a:bodyPr/>
        <a:lstStyle/>
        <a:p>
          <a:endParaRPr lang="en-AU" sz="1100"/>
        </a:p>
      </dgm:t>
    </dgm:pt>
    <dgm:pt modelId="{4E0B0CB0-B028-41A8-B4C4-16C93232A4AB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AU"/>
            <a:t>Refinement Loop</a:t>
          </a:r>
        </a:p>
      </dgm:t>
    </dgm:pt>
    <dgm:pt modelId="{B76C0BD7-75C2-416A-B49B-2DA4D8FE4A9B}" type="sibTrans" cxnId="{46CF6773-1D56-4702-8F21-17FCD39A9BB0}">
      <dgm:prSet/>
      <dgm:spPr/>
      <dgm:t>
        <a:bodyPr/>
        <a:lstStyle/>
        <a:p>
          <a:endParaRPr lang="en-AU"/>
        </a:p>
      </dgm:t>
    </dgm:pt>
    <dgm:pt modelId="{D53B772E-2250-4C8B-B6D7-99B9B659CC73}" type="parTrans" cxnId="{46CF6773-1D56-4702-8F21-17FCD39A9BB0}">
      <dgm:prSet/>
      <dgm:spPr/>
      <dgm:t>
        <a:bodyPr/>
        <a:lstStyle/>
        <a:p>
          <a:endParaRPr lang="en-AU"/>
        </a:p>
      </dgm:t>
    </dgm:pt>
    <dgm:pt modelId="{C2D51891-DFB4-4CBC-B8ED-13A09CDB3E4C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AU"/>
            <a:t>Tested feature weights (ie hedging had more predictive power than initially assumed)</a:t>
          </a:r>
          <a:br>
            <a:rPr lang="en-AU"/>
          </a:br>
          <a:r>
            <a:rPr lang="en-AU"/>
            <a:t>Persona traits to better match real world variation</a:t>
          </a:r>
          <a:br>
            <a:rPr lang="en-AU"/>
          </a:br>
          <a:r>
            <a:rPr lang="en-AU"/>
            <a:t>Action quality scoring and emotion averaging</a:t>
          </a:r>
          <a:br>
            <a:rPr lang="en-AU"/>
          </a:br>
          <a:endParaRPr lang="en-AU"/>
        </a:p>
      </dgm:t>
    </dgm:pt>
    <dgm:pt modelId="{655EA292-E6F3-4969-9A75-4EA4F882F2D1}" type="sibTrans" cxnId="{32291DA6-789E-4D5B-9DEF-81CE4AA5090C}">
      <dgm:prSet/>
      <dgm:spPr/>
      <dgm:t>
        <a:bodyPr/>
        <a:lstStyle/>
        <a:p>
          <a:endParaRPr lang="en-AU"/>
        </a:p>
      </dgm:t>
    </dgm:pt>
    <dgm:pt modelId="{6493ADA8-4770-4E24-9E72-31B3977282E5}" type="parTrans" cxnId="{32291DA6-789E-4D5B-9DEF-81CE4AA5090C}">
      <dgm:prSet/>
      <dgm:spPr/>
      <dgm:t>
        <a:bodyPr/>
        <a:lstStyle/>
        <a:p>
          <a:endParaRPr lang="en-AU"/>
        </a:p>
      </dgm:t>
    </dgm:pt>
    <dgm:pt modelId="{67FD742E-36E9-4F71-A95B-E977520E91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 err="1"/>
            <a:t>GoEmotions</a:t>
          </a:r>
          <a:r>
            <a:rPr lang="en-US" b="0" dirty="0"/>
            <a:t> for top-3 average emotion scoring (multi-label)</a:t>
          </a:r>
        </a:p>
      </dgm:t>
    </dgm:pt>
    <dgm:pt modelId="{7B965B8A-7FB3-456F-BF51-E47346F9E316}" type="parTrans" cxnId="{DD922F86-2526-4814-B4C2-E59F7965FE5D}">
      <dgm:prSet/>
      <dgm:spPr/>
      <dgm:t>
        <a:bodyPr/>
        <a:lstStyle/>
        <a:p>
          <a:endParaRPr lang="en-AU"/>
        </a:p>
      </dgm:t>
    </dgm:pt>
    <dgm:pt modelId="{76381E49-1C23-4E01-866F-EA4A7E20CFC2}" type="sibTrans" cxnId="{DD922F86-2526-4814-B4C2-E59F7965FE5D}">
      <dgm:prSet/>
      <dgm:spPr/>
      <dgm:t>
        <a:bodyPr/>
        <a:lstStyle/>
        <a:p>
          <a:endParaRPr lang="en-AU"/>
        </a:p>
      </dgm:t>
    </dgm:pt>
    <dgm:pt modelId="{68F9FE0E-5712-4F5B-B1BD-8D7088982B59}" type="pres">
      <dgm:prSet presAssocID="{6BCA4727-63D0-4142-BC5A-13C8D38728EE}" presName="root" presStyleCnt="0">
        <dgm:presLayoutVars>
          <dgm:dir/>
          <dgm:resizeHandles val="exact"/>
        </dgm:presLayoutVars>
      </dgm:prSet>
      <dgm:spPr/>
    </dgm:pt>
    <dgm:pt modelId="{77C7A751-3236-49E7-A435-B108B20BEAAF}" type="pres">
      <dgm:prSet presAssocID="{1FB33016-3F03-4D43-920C-C0A6CCB10778}" presName="compNode" presStyleCnt="0"/>
      <dgm:spPr/>
    </dgm:pt>
    <dgm:pt modelId="{09BF980D-4A47-45A7-A92E-665C080ECC28}" type="pres">
      <dgm:prSet presAssocID="{1FB33016-3F03-4D43-920C-C0A6CCB1077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4098BB9C-222F-4FBD-808E-722469113D27}" type="pres">
      <dgm:prSet presAssocID="{1FB33016-3F03-4D43-920C-C0A6CCB10778}" presName="iconSpace" presStyleCnt="0"/>
      <dgm:spPr/>
    </dgm:pt>
    <dgm:pt modelId="{716AB98D-88A8-48B4-BAE0-650202048047}" type="pres">
      <dgm:prSet presAssocID="{1FB33016-3F03-4D43-920C-C0A6CCB10778}" presName="parTx" presStyleLbl="revTx" presStyleIdx="0" presStyleCnt="6">
        <dgm:presLayoutVars>
          <dgm:chMax val="0"/>
          <dgm:chPref val="0"/>
        </dgm:presLayoutVars>
      </dgm:prSet>
      <dgm:spPr/>
    </dgm:pt>
    <dgm:pt modelId="{A41C63C7-BA4A-46E9-B876-7A19285CE056}" type="pres">
      <dgm:prSet presAssocID="{1FB33016-3F03-4D43-920C-C0A6CCB10778}" presName="txSpace" presStyleCnt="0"/>
      <dgm:spPr/>
    </dgm:pt>
    <dgm:pt modelId="{18F4FA6D-F936-4FE2-BE4C-6DC2A2C5BA9B}" type="pres">
      <dgm:prSet presAssocID="{1FB33016-3F03-4D43-920C-C0A6CCB10778}" presName="desTx" presStyleLbl="revTx" presStyleIdx="1" presStyleCnt="6">
        <dgm:presLayoutVars/>
      </dgm:prSet>
      <dgm:spPr/>
    </dgm:pt>
    <dgm:pt modelId="{D7B4B468-0894-4A13-BD72-16E65E41D9A2}" type="pres">
      <dgm:prSet presAssocID="{F25072E2-5B46-4D61-ABE1-DE72D6C16966}" presName="sibTrans" presStyleCnt="0"/>
      <dgm:spPr/>
    </dgm:pt>
    <dgm:pt modelId="{A4055A97-A672-47DD-BEF9-88A53D4758F8}" type="pres">
      <dgm:prSet presAssocID="{296203DA-1C7A-4CAD-8D2A-CBA67AFEFB8A}" presName="compNode" presStyleCnt="0"/>
      <dgm:spPr/>
    </dgm:pt>
    <dgm:pt modelId="{2ADAAAFD-6409-415F-986C-6B4BC47B0D17}" type="pres">
      <dgm:prSet presAssocID="{296203DA-1C7A-4CAD-8D2A-CBA67AFEFB8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794AD9E-7080-4C99-9019-890AF7E72DDD}" type="pres">
      <dgm:prSet presAssocID="{296203DA-1C7A-4CAD-8D2A-CBA67AFEFB8A}" presName="iconSpace" presStyleCnt="0"/>
      <dgm:spPr/>
    </dgm:pt>
    <dgm:pt modelId="{A5B9CC9C-C6D2-4DEF-A984-F04DEC967E08}" type="pres">
      <dgm:prSet presAssocID="{296203DA-1C7A-4CAD-8D2A-CBA67AFEFB8A}" presName="parTx" presStyleLbl="revTx" presStyleIdx="2" presStyleCnt="6">
        <dgm:presLayoutVars>
          <dgm:chMax val="0"/>
          <dgm:chPref val="0"/>
        </dgm:presLayoutVars>
      </dgm:prSet>
      <dgm:spPr/>
    </dgm:pt>
    <dgm:pt modelId="{FDB8E6B8-D1C1-44B2-A8B1-E08966289BF2}" type="pres">
      <dgm:prSet presAssocID="{296203DA-1C7A-4CAD-8D2A-CBA67AFEFB8A}" presName="txSpace" presStyleCnt="0"/>
      <dgm:spPr/>
    </dgm:pt>
    <dgm:pt modelId="{27ED62BA-E99F-45EE-8FB2-2996743052A7}" type="pres">
      <dgm:prSet presAssocID="{296203DA-1C7A-4CAD-8D2A-CBA67AFEFB8A}" presName="desTx" presStyleLbl="revTx" presStyleIdx="3" presStyleCnt="6">
        <dgm:presLayoutVars/>
      </dgm:prSet>
      <dgm:spPr/>
    </dgm:pt>
    <dgm:pt modelId="{0AD06F22-4A75-4952-9E0A-D8CE51A9FCA8}" type="pres">
      <dgm:prSet presAssocID="{9E1BE02C-465C-4562-8762-1EDE1CFCF7A9}" presName="sibTrans" presStyleCnt="0"/>
      <dgm:spPr/>
    </dgm:pt>
    <dgm:pt modelId="{47ABBAD5-0B6E-426D-947A-396DC0F62B3C}" type="pres">
      <dgm:prSet presAssocID="{4E0B0CB0-B028-41A8-B4C4-16C93232A4AB}" presName="compNode" presStyleCnt="0"/>
      <dgm:spPr/>
    </dgm:pt>
    <dgm:pt modelId="{25D97E49-D5F9-4172-9B9C-13C9EFFB0976}" type="pres">
      <dgm:prSet presAssocID="{4E0B0CB0-B028-41A8-B4C4-16C93232A4A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42A9A02-816B-485E-B5FF-F6F3D74C80C1}" type="pres">
      <dgm:prSet presAssocID="{4E0B0CB0-B028-41A8-B4C4-16C93232A4AB}" presName="iconSpace" presStyleCnt="0"/>
      <dgm:spPr/>
    </dgm:pt>
    <dgm:pt modelId="{DDE63AEE-396F-4E61-B74C-147448893DC9}" type="pres">
      <dgm:prSet presAssocID="{4E0B0CB0-B028-41A8-B4C4-16C93232A4AB}" presName="parTx" presStyleLbl="revTx" presStyleIdx="4" presStyleCnt="6">
        <dgm:presLayoutVars>
          <dgm:chMax val="0"/>
          <dgm:chPref val="0"/>
        </dgm:presLayoutVars>
      </dgm:prSet>
      <dgm:spPr/>
    </dgm:pt>
    <dgm:pt modelId="{EB0A0B19-7036-46EE-AF03-1A2F251F2680}" type="pres">
      <dgm:prSet presAssocID="{4E0B0CB0-B028-41A8-B4C4-16C93232A4AB}" presName="txSpace" presStyleCnt="0"/>
      <dgm:spPr/>
    </dgm:pt>
    <dgm:pt modelId="{90F150A8-BC5B-4214-A366-A9D3E49A5953}" type="pres">
      <dgm:prSet presAssocID="{4E0B0CB0-B028-41A8-B4C4-16C93232A4AB}" presName="desTx" presStyleLbl="revTx" presStyleIdx="5" presStyleCnt="6">
        <dgm:presLayoutVars/>
      </dgm:prSet>
      <dgm:spPr/>
    </dgm:pt>
  </dgm:ptLst>
  <dgm:cxnLst>
    <dgm:cxn modelId="{7842BF02-3D8B-4561-BB3E-DE3A9FE8FBC9}" srcId="{4E0B0CB0-B028-41A8-B4C4-16C93232A4AB}" destId="{A47CC501-0A06-4041-B5CF-F457E46013E4}" srcOrd="1" destOrd="0" parTransId="{40886E55-209B-452B-BDD7-38317DEB45CB}" sibTransId="{BB2AF80B-531B-4492-B8F1-F9548BCD4BF5}"/>
    <dgm:cxn modelId="{A6927C0E-A35B-4606-B239-7E73BD562DD0}" srcId="{1FB33016-3F03-4D43-920C-C0A6CCB10778}" destId="{A72EF825-B5D4-45AF-AF42-BEF4C6F81DA1}" srcOrd="1" destOrd="0" parTransId="{3924D96F-0183-478E-B01F-062EC4CD2C19}" sibTransId="{4B2C8DF1-6296-442A-9FA5-65C5E0B314F5}"/>
    <dgm:cxn modelId="{D6942420-B6ED-4218-8BC1-925CC8F257AC}" type="presOf" srcId="{C2D51891-DFB4-4CBC-B8ED-13A09CDB3E4C}" destId="{90F150A8-BC5B-4214-A366-A9D3E49A5953}" srcOrd="0" destOrd="0" presId="urn:microsoft.com/office/officeart/2018/5/layout/CenteredIconLabelDescriptionList"/>
    <dgm:cxn modelId="{B4039D25-25D4-479F-B76F-27388F776413}" type="presOf" srcId="{B38945A1-0068-41F2-B7F6-C48C1CF6F69A}" destId="{27ED62BA-E99F-45EE-8FB2-2996743052A7}" srcOrd="0" destOrd="3" presId="urn:microsoft.com/office/officeart/2018/5/layout/CenteredIconLabelDescriptionList"/>
    <dgm:cxn modelId="{C87D1834-7DDC-40C2-A141-ACED88724F9D}" type="presOf" srcId="{6BCA4727-63D0-4142-BC5A-13C8D38728EE}" destId="{68F9FE0E-5712-4F5B-B1BD-8D7088982B59}" srcOrd="0" destOrd="0" presId="urn:microsoft.com/office/officeart/2018/5/layout/CenteredIconLabelDescriptionList"/>
    <dgm:cxn modelId="{312DC63E-87CE-48EC-B281-AC252F77D22E}" type="presOf" srcId="{A72EF825-B5D4-45AF-AF42-BEF4C6F81DA1}" destId="{18F4FA6D-F936-4FE2-BE4C-6DC2A2C5BA9B}" srcOrd="0" destOrd="1" presId="urn:microsoft.com/office/officeart/2018/5/layout/CenteredIconLabelDescriptionList"/>
    <dgm:cxn modelId="{EEF21541-C3D4-4906-8B4B-3545705DCD07}" type="presOf" srcId="{1FB33016-3F03-4D43-920C-C0A6CCB10778}" destId="{716AB98D-88A8-48B4-BAE0-650202048047}" srcOrd="0" destOrd="0" presId="urn:microsoft.com/office/officeart/2018/5/layout/CenteredIconLabelDescriptionList"/>
    <dgm:cxn modelId="{40412A45-BBC8-4F98-BAE4-03DF2DBBD260}" srcId="{296203DA-1C7A-4CAD-8D2A-CBA67AFEFB8A}" destId="{D4D067CB-C3B6-4415-8454-589C17E55CCC}" srcOrd="0" destOrd="0" parTransId="{F557A54D-BBE7-48B9-9821-3D5449CDBC7A}" sibTransId="{49BDDD53-0401-4A63-B9C8-7BCAA052C6CD}"/>
    <dgm:cxn modelId="{2F917665-DD90-47FF-96D4-63C46520257B}" srcId="{6BCA4727-63D0-4142-BC5A-13C8D38728EE}" destId="{296203DA-1C7A-4CAD-8D2A-CBA67AFEFB8A}" srcOrd="1" destOrd="0" parTransId="{99A6D74F-3F9B-4E9C-873F-4FC2DFCAECF7}" sibTransId="{9E1BE02C-465C-4562-8762-1EDE1CFCF7A9}"/>
    <dgm:cxn modelId="{0F952049-148E-496B-89FC-1DC0D95A0698}" type="presOf" srcId="{E44340DA-0D9E-4A1C-8B74-3A1D35126DB2}" destId="{27ED62BA-E99F-45EE-8FB2-2996743052A7}" srcOrd="0" destOrd="1" presId="urn:microsoft.com/office/officeart/2018/5/layout/CenteredIconLabelDescriptionList"/>
    <dgm:cxn modelId="{BF70906E-21B2-4490-9B2E-E028E65D2D77}" type="presOf" srcId="{A47CC501-0A06-4041-B5CF-F457E46013E4}" destId="{90F150A8-BC5B-4214-A366-A9D3E49A5953}" srcOrd="0" destOrd="1" presId="urn:microsoft.com/office/officeart/2018/5/layout/CenteredIconLabelDescriptionList"/>
    <dgm:cxn modelId="{A27AB551-C11B-4B5F-BB66-BFE934135B80}" srcId="{296203DA-1C7A-4CAD-8D2A-CBA67AFEFB8A}" destId="{8C0AA7E0-3368-4238-B582-53E3261FAC01}" srcOrd="2" destOrd="0" parTransId="{AF196C33-82D6-4FEC-BF8B-FBFE01A600A3}" sibTransId="{921AC4D6-1FBF-4D62-9794-A55798494C30}"/>
    <dgm:cxn modelId="{46CF6773-1D56-4702-8F21-17FCD39A9BB0}" srcId="{6BCA4727-63D0-4142-BC5A-13C8D38728EE}" destId="{4E0B0CB0-B028-41A8-B4C4-16C93232A4AB}" srcOrd="2" destOrd="0" parTransId="{D53B772E-2250-4C8B-B6D7-99B9B659CC73}" sibTransId="{B76C0BD7-75C2-416A-B49B-2DA4D8FE4A9B}"/>
    <dgm:cxn modelId="{DD922F86-2526-4814-B4C2-E59F7965FE5D}" srcId="{1FB33016-3F03-4D43-920C-C0A6CCB10778}" destId="{67FD742E-36E9-4F71-A95B-E977520E91B6}" srcOrd="2" destOrd="0" parTransId="{7B965B8A-7FB3-456F-BF51-E47346F9E316}" sibTransId="{76381E49-1C23-4E01-866F-EA4A7E20CFC2}"/>
    <dgm:cxn modelId="{B1F4658A-414C-4E30-842A-4A8E4169DB95}" type="presOf" srcId="{D4D067CB-C3B6-4415-8454-589C17E55CCC}" destId="{27ED62BA-E99F-45EE-8FB2-2996743052A7}" srcOrd="0" destOrd="0" presId="urn:microsoft.com/office/officeart/2018/5/layout/CenteredIconLabelDescriptionList"/>
    <dgm:cxn modelId="{230BB298-9A0A-42BB-8DFC-21E7E8053A84}" type="presOf" srcId="{296203DA-1C7A-4CAD-8D2A-CBA67AFEFB8A}" destId="{A5B9CC9C-C6D2-4DEF-A984-F04DEC967E08}" srcOrd="0" destOrd="0" presId="urn:microsoft.com/office/officeart/2018/5/layout/CenteredIconLabelDescriptionList"/>
    <dgm:cxn modelId="{32291DA6-789E-4D5B-9DEF-81CE4AA5090C}" srcId="{4E0B0CB0-B028-41A8-B4C4-16C93232A4AB}" destId="{C2D51891-DFB4-4CBC-B8ED-13A09CDB3E4C}" srcOrd="0" destOrd="0" parTransId="{6493ADA8-4770-4E24-9E72-31B3977282E5}" sibTransId="{655EA292-E6F3-4969-9A75-4EA4F882F2D1}"/>
    <dgm:cxn modelId="{BE4BF9BC-CE46-44D8-8C02-5CD473C28A81}" srcId="{296203DA-1C7A-4CAD-8D2A-CBA67AFEFB8A}" destId="{B38945A1-0068-41F2-B7F6-C48C1CF6F69A}" srcOrd="3" destOrd="0" parTransId="{6D260BED-47AD-4AB6-9407-F5BAEA9FD8E7}" sibTransId="{9AD2AB38-9CC6-4317-A8D0-3F42D33588BE}"/>
    <dgm:cxn modelId="{3D2C75C5-9663-4BA1-80EB-F9F667E18499}" type="presOf" srcId="{8C0AA7E0-3368-4238-B582-53E3261FAC01}" destId="{27ED62BA-E99F-45EE-8FB2-2996743052A7}" srcOrd="0" destOrd="2" presId="urn:microsoft.com/office/officeart/2018/5/layout/CenteredIconLabelDescriptionList"/>
    <dgm:cxn modelId="{6DCD51CF-4DF2-477E-82D5-B4A11202D95A}" type="presOf" srcId="{4E0B0CB0-B028-41A8-B4C4-16C93232A4AB}" destId="{DDE63AEE-396F-4E61-B74C-147448893DC9}" srcOrd="0" destOrd="0" presId="urn:microsoft.com/office/officeart/2018/5/layout/CenteredIconLabelDescriptionList"/>
    <dgm:cxn modelId="{0715C3DE-340C-42C3-BB58-F39CC5DA5504}" type="presOf" srcId="{67FD742E-36E9-4F71-A95B-E977520E91B6}" destId="{18F4FA6D-F936-4FE2-BE4C-6DC2A2C5BA9B}" srcOrd="0" destOrd="2" presId="urn:microsoft.com/office/officeart/2018/5/layout/CenteredIconLabelDescriptionList"/>
    <dgm:cxn modelId="{86EB84E5-657B-4ACA-9F8B-542A981DFD5D}" srcId="{6BCA4727-63D0-4142-BC5A-13C8D38728EE}" destId="{1FB33016-3F03-4D43-920C-C0A6CCB10778}" srcOrd="0" destOrd="0" parTransId="{DE6E8BCC-FED5-4096-93DB-391539405437}" sibTransId="{F25072E2-5B46-4D61-ABE1-DE72D6C16966}"/>
    <dgm:cxn modelId="{CD3FF9E8-E85D-4C6E-B454-357454401D73}" srcId="{296203DA-1C7A-4CAD-8D2A-CBA67AFEFB8A}" destId="{E44340DA-0D9E-4A1C-8B74-3A1D35126DB2}" srcOrd="1" destOrd="0" parTransId="{30EB9469-83CC-4819-B404-E8CDAC9A1565}" sibTransId="{E5185AC0-3BAC-4032-A471-7FAAC953DFF7}"/>
    <dgm:cxn modelId="{13C8EDF9-5032-4C11-87D2-167C2181B86E}" type="presOf" srcId="{AB59C03E-BDD9-49EB-A690-E5928D40BA7F}" destId="{18F4FA6D-F936-4FE2-BE4C-6DC2A2C5BA9B}" srcOrd="0" destOrd="0" presId="urn:microsoft.com/office/officeart/2018/5/layout/CenteredIconLabelDescriptionList"/>
    <dgm:cxn modelId="{660BCDFB-FF05-496D-9B90-711F76F29B88}" srcId="{1FB33016-3F03-4D43-920C-C0A6CCB10778}" destId="{AB59C03E-BDD9-49EB-A690-E5928D40BA7F}" srcOrd="0" destOrd="0" parTransId="{22CF1E18-3D0E-4BFC-9FDF-7B19404A7B47}" sibTransId="{C4019E39-CEAC-433C-B019-95248D2E9309}"/>
    <dgm:cxn modelId="{E6D08832-353D-44F4-988A-541D082F3932}" type="presParOf" srcId="{68F9FE0E-5712-4F5B-B1BD-8D7088982B59}" destId="{77C7A751-3236-49E7-A435-B108B20BEAAF}" srcOrd="0" destOrd="0" presId="urn:microsoft.com/office/officeart/2018/5/layout/CenteredIconLabelDescriptionList"/>
    <dgm:cxn modelId="{7B0B62EE-2078-42BB-86B2-33AF41E161C3}" type="presParOf" srcId="{77C7A751-3236-49E7-A435-B108B20BEAAF}" destId="{09BF980D-4A47-45A7-A92E-665C080ECC28}" srcOrd="0" destOrd="0" presId="urn:microsoft.com/office/officeart/2018/5/layout/CenteredIconLabelDescriptionList"/>
    <dgm:cxn modelId="{9A479C3B-8DAE-4A94-BC3F-83F0BC758F8E}" type="presParOf" srcId="{77C7A751-3236-49E7-A435-B108B20BEAAF}" destId="{4098BB9C-222F-4FBD-808E-722469113D27}" srcOrd="1" destOrd="0" presId="urn:microsoft.com/office/officeart/2018/5/layout/CenteredIconLabelDescriptionList"/>
    <dgm:cxn modelId="{22CDD8D6-A031-4083-9C25-0420EB8678B2}" type="presParOf" srcId="{77C7A751-3236-49E7-A435-B108B20BEAAF}" destId="{716AB98D-88A8-48B4-BAE0-650202048047}" srcOrd="2" destOrd="0" presId="urn:microsoft.com/office/officeart/2018/5/layout/CenteredIconLabelDescriptionList"/>
    <dgm:cxn modelId="{7E95A29B-B88D-4358-B4E7-957A1BEE1874}" type="presParOf" srcId="{77C7A751-3236-49E7-A435-B108B20BEAAF}" destId="{A41C63C7-BA4A-46E9-B876-7A19285CE056}" srcOrd="3" destOrd="0" presId="urn:microsoft.com/office/officeart/2018/5/layout/CenteredIconLabelDescriptionList"/>
    <dgm:cxn modelId="{BAC505FD-6620-4BBA-B452-6FCC8498E2B7}" type="presParOf" srcId="{77C7A751-3236-49E7-A435-B108B20BEAAF}" destId="{18F4FA6D-F936-4FE2-BE4C-6DC2A2C5BA9B}" srcOrd="4" destOrd="0" presId="urn:microsoft.com/office/officeart/2018/5/layout/CenteredIconLabelDescriptionList"/>
    <dgm:cxn modelId="{80579899-10E9-4748-BF44-DF1B36809983}" type="presParOf" srcId="{68F9FE0E-5712-4F5B-B1BD-8D7088982B59}" destId="{D7B4B468-0894-4A13-BD72-16E65E41D9A2}" srcOrd="1" destOrd="0" presId="urn:microsoft.com/office/officeart/2018/5/layout/CenteredIconLabelDescriptionList"/>
    <dgm:cxn modelId="{0B2AE273-9738-4174-9011-4409AC807E58}" type="presParOf" srcId="{68F9FE0E-5712-4F5B-B1BD-8D7088982B59}" destId="{A4055A97-A672-47DD-BEF9-88A53D4758F8}" srcOrd="2" destOrd="0" presId="urn:microsoft.com/office/officeart/2018/5/layout/CenteredIconLabelDescriptionList"/>
    <dgm:cxn modelId="{4262F577-1903-4C83-A03C-38B4CBB7B802}" type="presParOf" srcId="{A4055A97-A672-47DD-BEF9-88A53D4758F8}" destId="{2ADAAAFD-6409-415F-986C-6B4BC47B0D17}" srcOrd="0" destOrd="0" presId="urn:microsoft.com/office/officeart/2018/5/layout/CenteredIconLabelDescriptionList"/>
    <dgm:cxn modelId="{D85073F5-CA62-4D79-ADAA-4EC5CCAF1B6C}" type="presParOf" srcId="{A4055A97-A672-47DD-BEF9-88A53D4758F8}" destId="{3794AD9E-7080-4C99-9019-890AF7E72DDD}" srcOrd="1" destOrd="0" presId="urn:microsoft.com/office/officeart/2018/5/layout/CenteredIconLabelDescriptionList"/>
    <dgm:cxn modelId="{1B0762D4-280C-4308-B843-F355790185BC}" type="presParOf" srcId="{A4055A97-A672-47DD-BEF9-88A53D4758F8}" destId="{A5B9CC9C-C6D2-4DEF-A984-F04DEC967E08}" srcOrd="2" destOrd="0" presId="urn:microsoft.com/office/officeart/2018/5/layout/CenteredIconLabelDescriptionList"/>
    <dgm:cxn modelId="{CCB048BE-9421-414A-A0FB-C71CAB202165}" type="presParOf" srcId="{A4055A97-A672-47DD-BEF9-88A53D4758F8}" destId="{FDB8E6B8-D1C1-44B2-A8B1-E08966289BF2}" srcOrd="3" destOrd="0" presId="urn:microsoft.com/office/officeart/2018/5/layout/CenteredIconLabelDescriptionList"/>
    <dgm:cxn modelId="{5784CF6E-9E1C-46EF-A6A3-61C1A672CD7D}" type="presParOf" srcId="{A4055A97-A672-47DD-BEF9-88A53D4758F8}" destId="{27ED62BA-E99F-45EE-8FB2-2996743052A7}" srcOrd="4" destOrd="0" presId="urn:microsoft.com/office/officeart/2018/5/layout/CenteredIconLabelDescriptionList"/>
    <dgm:cxn modelId="{992F5AAD-AB6C-4996-B579-BE9A297E3146}" type="presParOf" srcId="{68F9FE0E-5712-4F5B-B1BD-8D7088982B59}" destId="{0AD06F22-4A75-4952-9E0A-D8CE51A9FCA8}" srcOrd="3" destOrd="0" presId="urn:microsoft.com/office/officeart/2018/5/layout/CenteredIconLabelDescriptionList"/>
    <dgm:cxn modelId="{1CACAA5E-EDEE-46D4-87C3-DA37170B727D}" type="presParOf" srcId="{68F9FE0E-5712-4F5B-B1BD-8D7088982B59}" destId="{47ABBAD5-0B6E-426D-947A-396DC0F62B3C}" srcOrd="4" destOrd="0" presId="urn:microsoft.com/office/officeart/2018/5/layout/CenteredIconLabelDescriptionList"/>
    <dgm:cxn modelId="{1B49D15F-B323-4269-83B7-2EA106072D6E}" type="presParOf" srcId="{47ABBAD5-0B6E-426D-947A-396DC0F62B3C}" destId="{25D97E49-D5F9-4172-9B9C-13C9EFFB0976}" srcOrd="0" destOrd="0" presId="urn:microsoft.com/office/officeart/2018/5/layout/CenteredIconLabelDescriptionList"/>
    <dgm:cxn modelId="{67372EB6-529A-4182-88EF-67ECE04BA331}" type="presParOf" srcId="{47ABBAD5-0B6E-426D-947A-396DC0F62B3C}" destId="{842A9A02-816B-485E-B5FF-F6F3D74C80C1}" srcOrd="1" destOrd="0" presId="urn:microsoft.com/office/officeart/2018/5/layout/CenteredIconLabelDescriptionList"/>
    <dgm:cxn modelId="{2474777A-31BF-4C81-BC65-BE7B3BCE511F}" type="presParOf" srcId="{47ABBAD5-0B6E-426D-947A-396DC0F62B3C}" destId="{DDE63AEE-396F-4E61-B74C-147448893DC9}" srcOrd="2" destOrd="0" presId="urn:microsoft.com/office/officeart/2018/5/layout/CenteredIconLabelDescriptionList"/>
    <dgm:cxn modelId="{D4E70E73-A6D8-479D-8AA0-3B434281C3DD}" type="presParOf" srcId="{47ABBAD5-0B6E-426D-947A-396DC0F62B3C}" destId="{EB0A0B19-7036-46EE-AF03-1A2F251F2680}" srcOrd="3" destOrd="0" presId="urn:microsoft.com/office/officeart/2018/5/layout/CenteredIconLabelDescriptionList"/>
    <dgm:cxn modelId="{163614E3-B513-4696-8EFB-04446FC06390}" type="presParOf" srcId="{47ABBAD5-0B6E-426D-947A-396DC0F62B3C}" destId="{90F150A8-BC5B-4214-A366-A9D3E49A595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60A423B-DC29-48E6-A775-E8CC158E578E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AU"/>
        </a:p>
      </dgm:t>
    </dgm:pt>
    <dgm:pt modelId="{189C24D0-6757-403F-B46F-CCE644F14699}">
      <dgm:prSet phldrT="[Text]" custT="1"/>
      <dgm:spPr/>
      <dgm:t>
        <a:bodyPr/>
        <a:lstStyle/>
        <a:p>
          <a:r>
            <a:rPr lang="en-US" sz="1200" b="1">
              <a:latin typeface="+mn-lt"/>
              <a:ea typeface="+mn-ea"/>
              <a:cs typeface="+mn-cs"/>
            </a:rPr>
            <a:t>Linguistic Features</a:t>
          </a:r>
          <a:endParaRPr lang="en-AU" sz="1200" dirty="0"/>
        </a:p>
      </dgm:t>
    </dgm:pt>
    <dgm:pt modelId="{AE283ACC-75BB-4D10-9BEE-AEAAD54A7BD3}" type="parTrans" cxnId="{7F64ACED-099A-4C04-B7A8-1FB88EE11317}">
      <dgm:prSet/>
      <dgm:spPr/>
      <dgm:t>
        <a:bodyPr/>
        <a:lstStyle/>
        <a:p>
          <a:endParaRPr lang="en-AU" sz="1200"/>
        </a:p>
      </dgm:t>
    </dgm:pt>
    <dgm:pt modelId="{B61D243E-7421-47DB-828F-D2F9B18726A5}" type="sibTrans" cxnId="{7F64ACED-099A-4C04-B7A8-1FB88EE11317}">
      <dgm:prSet/>
      <dgm:spPr/>
      <dgm:t>
        <a:bodyPr/>
        <a:lstStyle/>
        <a:p>
          <a:endParaRPr lang="en-AU" sz="1200"/>
        </a:p>
      </dgm:t>
    </dgm:pt>
    <dgm:pt modelId="{96EDFD22-3C74-4D59-9B82-367D012949C8}">
      <dgm:prSet phldrT="[Text]" custT="1"/>
      <dgm:spPr/>
      <dgm:t>
        <a:bodyPr/>
        <a:lstStyle/>
        <a:p>
          <a:r>
            <a:rPr lang="en-AU" sz="1200" b="1"/>
            <a:t>Selection Strategy</a:t>
          </a:r>
          <a:endParaRPr lang="en-AU" sz="1200"/>
        </a:p>
      </dgm:t>
    </dgm:pt>
    <dgm:pt modelId="{293DF558-28F4-4EBF-B7D1-D1E5946B4886}" type="parTrans" cxnId="{0784FB0A-C79A-464B-86D7-7FDD0B02494D}">
      <dgm:prSet/>
      <dgm:spPr/>
      <dgm:t>
        <a:bodyPr/>
        <a:lstStyle/>
        <a:p>
          <a:endParaRPr lang="en-AU" sz="1200"/>
        </a:p>
      </dgm:t>
    </dgm:pt>
    <dgm:pt modelId="{B8DEAFDB-1FFF-4051-BBB5-498FCF991393}" type="sibTrans" cxnId="{0784FB0A-C79A-464B-86D7-7FDD0B02494D}">
      <dgm:prSet/>
      <dgm:spPr/>
      <dgm:t>
        <a:bodyPr/>
        <a:lstStyle/>
        <a:p>
          <a:endParaRPr lang="en-AU" sz="1200"/>
        </a:p>
      </dgm:t>
    </dgm:pt>
    <dgm:pt modelId="{CC40FE7F-7BCB-48F0-8BE0-8859044AEE08}">
      <dgm:prSet phldrT="[Text]" custT="1"/>
      <dgm:spPr/>
      <dgm:t>
        <a:bodyPr/>
        <a:lstStyle/>
        <a:p>
          <a:r>
            <a:rPr lang="en-US" sz="1200" b="1" dirty="0">
              <a:latin typeface="+mn-lt"/>
              <a:ea typeface="+mn-ea"/>
              <a:cs typeface="+mn-cs"/>
            </a:rPr>
            <a:t>Passive voice count</a:t>
          </a:r>
          <a:r>
            <a:rPr lang="en-US" sz="1200" dirty="0">
              <a:latin typeface="+mn-lt"/>
              <a:ea typeface="+mn-ea"/>
              <a:cs typeface="+mn-cs"/>
            </a:rPr>
            <a:t> – Indicators of deflected responsibility or reduced agency.</a:t>
          </a:r>
        </a:p>
        <a:p>
          <a:r>
            <a:rPr lang="en-US" sz="1200" b="1" dirty="0">
              <a:latin typeface="+mn-lt"/>
              <a:ea typeface="+mn-ea"/>
              <a:cs typeface="+mn-cs"/>
            </a:rPr>
            <a:t>Modal verbs &amp; hedging terms</a:t>
          </a:r>
          <a:r>
            <a:rPr lang="en-US" sz="1200" dirty="0">
              <a:latin typeface="+mn-lt"/>
              <a:ea typeface="+mn-ea"/>
              <a:cs typeface="+mn-cs"/>
            </a:rPr>
            <a:t> – Signals of uncertainty or fear (e.g., </a:t>
          </a:r>
          <a:r>
            <a:rPr lang="en-US" sz="1200" i="1" dirty="0">
              <a:latin typeface="+mn-lt"/>
              <a:ea typeface="+mn-ea"/>
              <a:cs typeface="+mn-cs"/>
            </a:rPr>
            <a:t>"might," "perhaps"</a:t>
          </a:r>
          <a:r>
            <a:rPr lang="en-US" sz="1200" dirty="0">
              <a:latin typeface="+mn-lt"/>
              <a:ea typeface="+mn-ea"/>
              <a:cs typeface="+mn-cs"/>
            </a:rPr>
            <a:t>).</a:t>
          </a:r>
        </a:p>
        <a:p>
          <a:r>
            <a:rPr lang="en-US" sz="1200" b="1" dirty="0">
              <a:latin typeface="+mn-lt"/>
              <a:ea typeface="+mn-ea"/>
              <a:cs typeface="+mn-cs"/>
            </a:rPr>
            <a:t>Corrective action word count &amp; specificity</a:t>
          </a:r>
          <a:r>
            <a:rPr lang="en-US" sz="1200" dirty="0">
              <a:latin typeface="+mn-lt"/>
              <a:ea typeface="+mn-ea"/>
              <a:cs typeface="+mn-cs"/>
            </a:rPr>
            <a:t> – Proxies for engagement and diligence.</a:t>
          </a:r>
        </a:p>
        <a:p>
          <a:r>
            <a:rPr lang="en-US" sz="1200" b="1" dirty="0">
              <a:latin typeface="+mn-lt"/>
              <a:ea typeface="+mn-ea"/>
              <a:cs typeface="+mn-cs"/>
            </a:rPr>
            <a:t>Average word length</a:t>
          </a:r>
          <a:r>
            <a:rPr lang="en-US" sz="1200" dirty="0">
              <a:latin typeface="+mn-lt"/>
              <a:ea typeface="+mn-ea"/>
              <a:cs typeface="+mn-cs"/>
            </a:rPr>
            <a:t> – A proxy for writing effort or sophistication.</a:t>
          </a:r>
        </a:p>
        <a:p>
          <a:r>
            <a:rPr lang="en-US" sz="1200" b="1" dirty="0">
              <a:latin typeface="+mn-lt"/>
              <a:ea typeface="+mn-ea"/>
              <a:cs typeface="+mn-cs"/>
            </a:rPr>
            <a:t>Safety jargon frequency</a:t>
          </a:r>
          <a:r>
            <a:rPr lang="en-US" sz="1200" dirty="0">
              <a:latin typeface="+mn-lt"/>
              <a:ea typeface="+mn-ea"/>
              <a:cs typeface="+mn-cs"/>
            </a:rPr>
            <a:t> – Gauges procedural focus and compliance mindset.</a:t>
          </a:r>
        </a:p>
        <a:p>
          <a:r>
            <a:rPr lang="en-US" sz="1200" b="1" dirty="0">
              <a:latin typeface="+mn-lt"/>
              <a:ea typeface="+mn-ea"/>
              <a:cs typeface="+mn-cs"/>
            </a:rPr>
            <a:t>Emotion &amp; Tone Features - </a:t>
          </a:r>
          <a:r>
            <a:rPr lang="en-US" sz="1200" dirty="0">
              <a:latin typeface="+mn-lt"/>
              <a:ea typeface="+mn-ea"/>
              <a:cs typeface="+mn-cs"/>
            </a:rPr>
            <a:t>Used transformer-based models (</a:t>
          </a:r>
          <a:r>
            <a:rPr lang="en-US" sz="1200" dirty="0" err="1">
              <a:latin typeface="+mn-lt"/>
              <a:ea typeface="+mn-ea"/>
              <a:cs typeface="+mn-cs"/>
            </a:rPr>
            <a:t>GoEmotions</a:t>
          </a:r>
          <a:r>
            <a:rPr lang="en-US" sz="1200" dirty="0">
              <a:latin typeface="+mn-lt"/>
              <a:ea typeface="+mn-ea"/>
              <a:cs typeface="+mn-cs"/>
            </a:rPr>
            <a:t>, </a:t>
          </a:r>
          <a:r>
            <a:rPr lang="en-US" sz="1200" dirty="0" err="1">
              <a:latin typeface="+mn-lt"/>
              <a:ea typeface="+mn-ea"/>
              <a:cs typeface="+mn-cs"/>
            </a:rPr>
            <a:t>RoBERTa</a:t>
          </a:r>
          <a:r>
            <a:rPr lang="en-US" sz="1200" dirty="0">
              <a:latin typeface="+mn-lt"/>
              <a:ea typeface="+mn-ea"/>
              <a:cs typeface="+mn-cs"/>
            </a:rPr>
            <a:t>) to detect:</a:t>
          </a:r>
        </a:p>
        <a:p>
          <a:r>
            <a:rPr lang="en-US" sz="1200" b="1" dirty="0">
              <a:latin typeface="+mn-lt"/>
              <a:ea typeface="+mn-ea"/>
              <a:cs typeface="+mn-cs"/>
            </a:rPr>
            <a:t>Dominant emotion</a:t>
          </a:r>
          <a:r>
            <a:rPr lang="en-US" sz="1200" dirty="0">
              <a:latin typeface="+mn-lt"/>
              <a:ea typeface="+mn-ea"/>
              <a:cs typeface="+mn-cs"/>
            </a:rPr>
            <a:t> (fear, guilt, trust, blame, gratitude).</a:t>
          </a:r>
        </a:p>
        <a:p>
          <a:r>
            <a:rPr lang="en-US" sz="1200" b="1" dirty="0">
              <a:latin typeface="+mn-lt"/>
              <a:ea typeface="+mn-ea"/>
              <a:cs typeface="+mn-cs"/>
            </a:rPr>
            <a:t>Emotion intensity vector</a:t>
          </a:r>
          <a:r>
            <a:rPr lang="en-US" sz="1200" dirty="0">
              <a:latin typeface="+mn-lt"/>
              <a:ea typeface="+mn-ea"/>
              <a:cs typeface="+mn-cs"/>
            </a:rPr>
            <a:t> (multi-label probabilities for nuanced insight).</a:t>
          </a:r>
        </a:p>
        <a:p>
          <a:r>
            <a:rPr lang="en-US" sz="1200" b="1" dirty="0">
              <a:latin typeface="+mn-lt"/>
              <a:ea typeface="+mn-ea"/>
              <a:cs typeface="+mn-cs"/>
            </a:rPr>
            <a:t>Top-3 emotion average score</a:t>
          </a:r>
          <a:r>
            <a:rPr lang="en-US" sz="1200" dirty="0">
              <a:latin typeface="+mn-lt"/>
              <a:ea typeface="+mn-ea"/>
              <a:cs typeface="+mn-cs"/>
            </a:rPr>
            <a:t> to measure affective richness.</a:t>
          </a:r>
          <a:endParaRPr lang="en-AU" sz="1200" dirty="0"/>
        </a:p>
      </dgm:t>
    </dgm:pt>
    <dgm:pt modelId="{0277C341-2896-4B89-9C6B-146E1455780A}" type="parTrans" cxnId="{91EDE400-39E4-43F1-8BB2-D16D82CCB6C9}">
      <dgm:prSet/>
      <dgm:spPr/>
      <dgm:t>
        <a:bodyPr/>
        <a:lstStyle/>
        <a:p>
          <a:endParaRPr lang="en-AU" sz="1200"/>
        </a:p>
      </dgm:t>
    </dgm:pt>
    <dgm:pt modelId="{2F4729A8-C702-4D4D-ABE3-4F18C64D81CF}" type="sibTrans" cxnId="{91EDE400-39E4-43F1-8BB2-D16D82CCB6C9}">
      <dgm:prSet/>
      <dgm:spPr/>
      <dgm:t>
        <a:bodyPr/>
        <a:lstStyle/>
        <a:p>
          <a:endParaRPr lang="en-AU" sz="1200"/>
        </a:p>
      </dgm:t>
    </dgm:pt>
    <dgm:pt modelId="{1FE49E60-7966-4042-8CA2-571D458CBEBB}">
      <dgm:prSet custT="1"/>
      <dgm:spPr/>
      <dgm:t>
        <a:bodyPr/>
        <a:lstStyle/>
        <a:p>
          <a:r>
            <a:rPr lang="en-US" sz="1200" b="1"/>
            <a:t>Theoretical relevance</a:t>
          </a:r>
          <a:r>
            <a:rPr lang="en-US" sz="1200"/>
            <a:t> from safety and organisational psychology literature.</a:t>
          </a:r>
        </a:p>
      </dgm:t>
    </dgm:pt>
    <dgm:pt modelId="{6B20C6F6-84A8-4A92-835D-17425B6D63C2}" type="parTrans" cxnId="{00741AAE-C9CD-4C55-8886-412A410BC2D1}">
      <dgm:prSet/>
      <dgm:spPr/>
      <dgm:t>
        <a:bodyPr/>
        <a:lstStyle/>
        <a:p>
          <a:endParaRPr lang="en-AU" sz="1200"/>
        </a:p>
      </dgm:t>
    </dgm:pt>
    <dgm:pt modelId="{F14FB41E-8188-4755-AE89-9989CCD81352}" type="sibTrans" cxnId="{00741AAE-C9CD-4C55-8886-412A410BC2D1}">
      <dgm:prSet/>
      <dgm:spPr/>
      <dgm:t>
        <a:bodyPr/>
        <a:lstStyle/>
        <a:p>
          <a:endParaRPr lang="en-AU" sz="1200"/>
        </a:p>
      </dgm:t>
    </dgm:pt>
    <dgm:pt modelId="{2F2C9F6A-4351-4B44-8206-11AD142A846B}">
      <dgm:prSet custT="1"/>
      <dgm:spPr/>
      <dgm:t>
        <a:bodyPr/>
        <a:lstStyle/>
        <a:p>
          <a:r>
            <a:rPr lang="en-AU" sz="1200" b="1"/>
            <a:t>Statistical contribution</a:t>
          </a:r>
          <a:r>
            <a:rPr lang="en-AU" sz="1200"/>
            <a:t> via SHAP value analysis.</a:t>
          </a:r>
        </a:p>
      </dgm:t>
    </dgm:pt>
    <dgm:pt modelId="{AA8A1FCE-9456-455C-AB3E-A7AC46545FB9}" type="parTrans" cxnId="{2004AD94-6A47-4F00-A39B-2964FE23DBDB}">
      <dgm:prSet/>
      <dgm:spPr/>
      <dgm:t>
        <a:bodyPr/>
        <a:lstStyle/>
        <a:p>
          <a:endParaRPr lang="en-AU" sz="1200"/>
        </a:p>
      </dgm:t>
    </dgm:pt>
    <dgm:pt modelId="{85344A47-4124-4246-A271-C4EF9DD612BD}" type="sibTrans" cxnId="{2004AD94-6A47-4F00-A39B-2964FE23DBDB}">
      <dgm:prSet/>
      <dgm:spPr/>
      <dgm:t>
        <a:bodyPr/>
        <a:lstStyle/>
        <a:p>
          <a:endParaRPr lang="en-AU" sz="1200"/>
        </a:p>
      </dgm:t>
    </dgm:pt>
    <dgm:pt modelId="{AE88638C-8F6E-436A-9B40-69B35F4E64E1}">
      <dgm:prSet custT="1"/>
      <dgm:spPr/>
      <dgm:t>
        <a:bodyPr/>
        <a:lstStyle/>
        <a:p>
          <a:r>
            <a:rPr lang="en-US" sz="1200" b="1"/>
            <a:t>Low multicollinearity</a:t>
          </a:r>
          <a:r>
            <a:rPr lang="en-US" sz="1200"/>
            <a:t> and clear interpretability for governance use.</a:t>
          </a:r>
        </a:p>
      </dgm:t>
    </dgm:pt>
    <dgm:pt modelId="{3B484F41-FD49-4F67-AB1C-CA14DABB8F4E}" type="parTrans" cxnId="{19802D24-18C8-4FB9-B589-D80543E69898}">
      <dgm:prSet/>
      <dgm:spPr/>
      <dgm:t>
        <a:bodyPr/>
        <a:lstStyle/>
        <a:p>
          <a:endParaRPr lang="en-AU" sz="1200"/>
        </a:p>
      </dgm:t>
    </dgm:pt>
    <dgm:pt modelId="{E7C0F14B-996F-4886-87A1-E0F29DB5AD54}" type="sibTrans" cxnId="{19802D24-18C8-4FB9-B589-D80543E69898}">
      <dgm:prSet/>
      <dgm:spPr/>
      <dgm:t>
        <a:bodyPr/>
        <a:lstStyle/>
        <a:p>
          <a:endParaRPr lang="en-AU" sz="1200"/>
        </a:p>
      </dgm:t>
    </dgm:pt>
    <dgm:pt modelId="{0A8263A5-027F-4675-AB32-6272CB600F79}">
      <dgm:prSet phldrT="[Text]" custT="1"/>
      <dgm:spPr/>
      <dgm:t>
        <a:bodyPr/>
        <a:lstStyle/>
        <a:p>
          <a:r>
            <a:rPr lang="en-US" sz="1200"/>
            <a:t>Features were retained based on:</a:t>
          </a:r>
          <a:endParaRPr lang="en-AU" sz="1200"/>
        </a:p>
      </dgm:t>
    </dgm:pt>
    <dgm:pt modelId="{3E613435-8AE3-428B-9FA2-F80C8D95DFA2}" type="parTrans" cxnId="{BCBD937B-7EC2-4E6B-8D68-874272AA1C78}">
      <dgm:prSet/>
      <dgm:spPr/>
      <dgm:t>
        <a:bodyPr/>
        <a:lstStyle/>
        <a:p>
          <a:endParaRPr lang="en-AU" sz="1200"/>
        </a:p>
      </dgm:t>
    </dgm:pt>
    <dgm:pt modelId="{2F3A9CAB-C30B-4EEA-8A5E-2236235FE91C}" type="sibTrans" cxnId="{BCBD937B-7EC2-4E6B-8D68-874272AA1C78}">
      <dgm:prSet/>
      <dgm:spPr/>
      <dgm:t>
        <a:bodyPr/>
        <a:lstStyle/>
        <a:p>
          <a:endParaRPr lang="en-AU" sz="1200"/>
        </a:p>
      </dgm:t>
    </dgm:pt>
    <dgm:pt modelId="{B56A9CB0-C3D7-4577-AED0-B49681182282}">
      <dgm:prSet phldrT="[Text]" custT="1"/>
      <dgm:spPr/>
      <dgm:t>
        <a:bodyPr/>
        <a:lstStyle/>
        <a:p>
          <a:r>
            <a:rPr lang="en-US" sz="1200" b="1">
              <a:latin typeface="+mn-lt"/>
              <a:ea typeface="+mn-ea"/>
              <a:cs typeface="+mn-cs"/>
            </a:rPr>
            <a:t>  Psychological safety</a:t>
          </a:r>
          <a:r>
            <a:rPr lang="en-US" sz="1200">
              <a:latin typeface="+mn-lt"/>
              <a:ea typeface="+mn-ea"/>
              <a:cs typeface="+mn-cs"/>
            </a:rPr>
            <a:t> and </a:t>
          </a:r>
          <a:r>
            <a:rPr lang="en-US" sz="1200" b="1">
              <a:latin typeface="+mn-lt"/>
              <a:ea typeface="+mn-ea"/>
              <a:cs typeface="+mn-cs"/>
            </a:rPr>
            <a:t>engagement effort</a:t>
          </a:r>
          <a:r>
            <a:rPr lang="en-US" sz="1200">
              <a:latin typeface="+mn-lt"/>
              <a:ea typeface="+mn-ea"/>
              <a:cs typeface="+mn-cs"/>
            </a:rPr>
            <a:t> scores derived using rule-based logic from combinations of the above features.</a:t>
          </a:r>
        </a:p>
        <a:p>
          <a:r>
            <a:rPr lang="en-US" sz="1200" b="1">
              <a:latin typeface="+mn-lt"/>
              <a:ea typeface="+mn-ea"/>
              <a:cs typeface="+mn-cs"/>
            </a:rPr>
            <a:t>&gt; Culture zone classification</a:t>
          </a:r>
          <a:r>
            <a:rPr lang="en-US" sz="1200">
              <a:latin typeface="+mn-lt"/>
              <a:ea typeface="+mn-ea"/>
              <a:cs typeface="+mn-cs"/>
            </a:rPr>
            <a:t> (Desirable, </a:t>
          </a:r>
          <a:endParaRPr lang="en-AU" sz="1200" dirty="0"/>
        </a:p>
      </dgm:t>
    </dgm:pt>
    <dgm:pt modelId="{8031C234-1EE1-4D95-935B-67B6DB5CB165}" type="parTrans" cxnId="{23C54BDE-3CFA-4A0E-8392-862738939A8B}">
      <dgm:prSet/>
      <dgm:spPr/>
      <dgm:t>
        <a:bodyPr/>
        <a:lstStyle/>
        <a:p>
          <a:endParaRPr lang="en-AU" sz="1200"/>
        </a:p>
      </dgm:t>
    </dgm:pt>
    <dgm:pt modelId="{350A03B9-F090-459C-AFE4-21EB4FA638B9}" type="sibTrans" cxnId="{23C54BDE-3CFA-4A0E-8392-862738939A8B}">
      <dgm:prSet/>
      <dgm:spPr/>
      <dgm:t>
        <a:bodyPr/>
        <a:lstStyle/>
        <a:p>
          <a:endParaRPr lang="en-AU" sz="1200"/>
        </a:p>
      </dgm:t>
    </dgm:pt>
    <dgm:pt modelId="{D31E889B-A692-4D21-954A-B648FD35B8D7}">
      <dgm:prSet phldrT="[Text]" custT="1"/>
      <dgm:spPr/>
      <dgm:t>
        <a:bodyPr/>
        <a:lstStyle/>
        <a:p>
          <a:r>
            <a:rPr lang="en-US" sz="1200" b="1">
              <a:latin typeface="+mn-lt"/>
              <a:ea typeface="+mn-ea"/>
              <a:cs typeface="+mn-cs"/>
            </a:rPr>
            <a:t>Scored Cultural Traits</a:t>
          </a:r>
          <a:endParaRPr lang="en-AU" sz="1200" dirty="0"/>
        </a:p>
      </dgm:t>
    </dgm:pt>
    <dgm:pt modelId="{D8D4E6F0-B51D-45A0-9487-055C0764EC83}" type="parTrans" cxnId="{7BCBA3FA-81B1-4190-B473-28A3E8305022}">
      <dgm:prSet/>
      <dgm:spPr/>
      <dgm:t>
        <a:bodyPr/>
        <a:lstStyle/>
        <a:p>
          <a:endParaRPr lang="en-AU" sz="1200"/>
        </a:p>
      </dgm:t>
    </dgm:pt>
    <dgm:pt modelId="{2D10B9F7-9406-49DB-813D-ED5B5E416EAE}" type="sibTrans" cxnId="{7BCBA3FA-81B1-4190-B473-28A3E8305022}">
      <dgm:prSet/>
      <dgm:spPr/>
      <dgm:t>
        <a:bodyPr/>
        <a:lstStyle/>
        <a:p>
          <a:endParaRPr lang="en-AU" sz="1200"/>
        </a:p>
      </dgm:t>
    </dgm:pt>
    <dgm:pt modelId="{08910660-E66B-4D2F-BAAC-4959DAADB21C}" type="pres">
      <dgm:prSet presAssocID="{660A423B-DC29-48E6-A775-E8CC158E578E}" presName="Name0" presStyleCnt="0">
        <dgm:presLayoutVars>
          <dgm:dir/>
          <dgm:animLvl val="lvl"/>
          <dgm:resizeHandles val="exact"/>
        </dgm:presLayoutVars>
      </dgm:prSet>
      <dgm:spPr/>
    </dgm:pt>
    <dgm:pt modelId="{04E1468A-55C3-4F0B-817E-C7B3171BCFC6}" type="pres">
      <dgm:prSet presAssocID="{189C24D0-6757-403F-B46F-CCE644F14699}" presName="linNode" presStyleCnt="0"/>
      <dgm:spPr/>
    </dgm:pt>
    <dgm:pt modelId="{8EB8DAA1-5C2A-4518-9160-D12C646EC45F}" type="pres">
      <dgm:prSet presAssocID="{189C24D0-6757-403F-B46F-CCE644F14699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15025665-0980-42B9-A085-54B8C3D54985}" type="pres">
      <dgm:prSet presAssocID="{189C24D0-6757-403F-B46F-CCE644F14699}" presName="descendantText" presStyleLbl="alignAccFollowNode1" presStyleIdx="0" presStyleCnt="3">
        <dgm:presLayoutVars>
          <dgm:bulletEnabled/>
        </dgm:presLayoutVars>
      </dgm:prSet>
      <dgm:spPr/>
    </dgm:pt>
    <dgm:pt modelId="{E39B6BC4-0DC1-4DB4-A704-88921DADD381}" type="pres">
      <dgm:prSet presAssocID="{B61D243E-7421-47DB-828F-D2F9B18726A5}" presName="sp" presStyleCnt="0"/>
      <dgm:spPr/>
    </dgm:pt>
    <dgm:pt modelId="{6033D94D-ED5E-475E-81D3-671CF74C5CAB}" type="pres">
      <dgm:prSet presAssocID="{D31E889B-A692-4D21-954A-B648FD35B8D7}" presName="linNode" presStyleCnt="0"/>
      <dgm:spPr/>
    </dgm:pt>
    <dgm:pt modelId="{64C94C14-4CE1-41B3-A854-FE12CF19DAE0}" type="pres">
      <dgm:prSet presAssocID="{D31E889B-A692-4D21-954A-B648FD35B8D7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E030179E-F585-49AB-ADAE-8317A832F409}" type="pres">
      <dgm:prSet presAssocID="{D31E889B-A692-4D21-954A-B648FD35B8D7}" presName="descendantText" presStyleLbl="alignAccFollowNode1" presStyleIdx="1" presStyleCnt="3">
        <dgm:presLayoutVars>
          <dgm:bulletEnabled/>
        </dgm:presLayoutVars>
      </dgm:prSet>
      <dgm:spPr/>
    </dgm:pt>
    <dgm:pt modelId="{EDED5FB6-F74C-474E-845B-5189D48A4BD8}" type="pres">
      <dgm:prSet presAssocID="{2D10B9F7-9406-49DB-813D-ED5B5E416EAE}" presName="sp" presStyleCnt="0"/>
      <dgm:spPr/>
    </dgm:pt>
    <dgm:pt modelId="{182D909C-34D5-4086-B7D1-9F158F3222F5}" type="pres">
      <dgm:prSet presAssocID="{96EDFD22-3C74-4D59-9B82-367D012949C8}" presName="linNode" presStyleCnt="0"/>
      <dgm:spPr/>
    </dgm:pt>
    <dgm:pt modelId="{07240307-7873-4D7D-A10C-C5DD04749596}" type="pres">
      <dgm:prSet presAssocID="{96EDFD22-3C74-4D59-9B82-367D012949C8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8E30A868-D594-41D5-9DAC-45D780AFF0B9}" type="pres">
      <dgm:prSet presAssocID="{96EDFD22-3C74-4D59-9B82-367D012949C8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91EDE400-39E4-43F1-8BB2-D16D82CCB6C9}" srcId="{189C24D0-6757-403F-B46F-CCE644F14699}" destId="{CC40FE7F-7BCB-48F0-8BE0-8859044AEE08}" srcOrd="0" destOrd="0" parTransId="{0277C341-2896-4B89-9C6B-146E1455780A}" sibTransId="{2F4729A8-C702-4D4D-ABE3-4F18C64D81CF}"/>
    <dgm:cxn modelId="{0784FB0A-C79A-464B-86D7-7FDD0B02494D}" srcId="{660A423B-DC29-48E6-A775-E8CC158E578E}" destId="{96EDFD22-3C74-4D59-9B82-367D012949C8}" srcOrd="2" destOrd="0" parTransId="{293DF558-28F4-4EBF-B7D1-D1E5946B4886}" sibTransId="{B8DEAFDB-1FFF-4051-BBB5-498FCF991393}"/>
    <dgm:cxn modelId="{B41E5C0E-6A94-4305-9BEC-A3484F6B7337}" type="presOf" srcId="{D31E889B-A692-4D21-954A-B648FD35B8D7}" destId="{64C94C14-4CE1-41B3-A854-FE12CF19DAE0}" srcOrd="0" destOrd="0" presId="urn:microsoft.com/office/officeart/2016/7/layout/VerticalSolidActionList"/>
    <dgm:cxn modelId="{19802D24-18C8-4FB9-B589-D80543E69898}" srcId="{96EDFD22-3C74-4D59-9B82-367D012949C8}" destId="{AE88638C-8F6E-436A-9B40-69B35F4E64E1}" srcOrd="3" destOrd="0" parTransId="{3B484F41-FD49-4F67-AB1C-CA14DABB8F4E}" sibTransId="{E7C0F14B-996F-4886-87A1-E0F29DB5AD54}"/>
    <dgm:cxn modelId="{97B12567-C8D5-455E-89DB-2284B0D22EAE}" type="presOf" srcId="{660A423B-DC29-48E6-A775-E8CC158E578E}" destId="{08910660-E66B-4D2F-BAAC-4959DAADB21C}" srcOrd="0" destOrd="0" presId="urn:microsoft.com/office/officeart/2016/7/layout/VerticalSolidActionList"/>
    <dgm:cxn modelId="{862AA94F-4625-473B-BEAE-ACEB9A555724}" type="presOf" srcId="{CC40FE7F-7BCB-48F0-8BE0-8859044AEE08}" destId="{15025665-0980-42B9-A085-54B8C3D54985}" srcOrd="0" destOrd="0" presId="urn:microsoft.com/office/officeart/2016/7/layout/VerticalSolidActionList"/>
    <dgm:cxn modelId="{4B948F56-A380-43F3-9711-DDDABCA192DF}" type="presOf" srcId="{0A8263A5-027F-4675-AB32-6272CB600F79}" destId="{8E30A868-D594-41D5-9DAC-45D780AFF0B9}" srcOrd="0" destOrd="0" presId="urn:microsoft.com/office/officeart/2016/7/layout/VerticalSolidActionList"/>
    <dgm:cxn modelId="{BCBD937B-7EC2-4E6B-8D68-874272AA1C78}" srcId="{96EDFD22-3C74-4D59-9B82-367D012949C8}" destId="{0A8263A5-027F-4675-AB32-6272CB600F79}" srcOrd="0" destOrd="0" parTransId="{3E613435-8AE3-428B-9FA2-F80C8D95DFA2}" sibTransId="{2F3A9CAB-C30B-4EEA-8A5E-2236235FE91C}"/>
    <dgm:cxn modelId="{6F73118B-7AF5-4D1F-BC1A-D88AC4AB74C2}" type="presOf" srcId="{189C24D0-6757-403F-B46F-CCE644F14699}" destId="{8EB8DAA1-5C2A-4518-9160-D12C646EC45F}" srcOrd="0" destOrd="0" presId="urn:microsoft.com/office/officeart/2016/7/layout/VerticalSolidActionList"/>
    <dgm:cxn modelId="{2004AD94-6A47-4F00-A39B-2964FE23DBDB}" srcId="{96EDFD22-3C74-4D59-9B82-367D012949C8}" destId="{2F2C9F6A-4351-4B44-8206-11AD142A846B}" srcOrd="2" destOrd="0" parTransId="{AA8A1FCE-9456-455C-AB3E-A7AC46545FB9}" sibTransId="{85344A47-4124-4246-A271-C4EF9DD612BD}"/>
    <dgm:cxn modelId="{6534079A-69E6-45ED-9E00-230673963313}" type="presOf" srcId="{96EDFD22-3C74-4D59-9B82-367D012949C8}" destId="{07240307-7873-4D7D-A10C-C5DD04749596}" srcOrd="0" destOrd="0" presId="urn:microsoft.com/office/officeart/2016/7/layout/VerticalSolidActionList"/>
    <dgm:cxn modelId="{00741AAE-C9CD-4C55-8886-412A410BC2D1}" srcId="{96EDFD22-3C74-4D59-9B82-367D012949C8}" destId="{1FE49E60-7966-4042-8CA2-571D458CBEBB}" srcOrd="1" destOrd="0" parTransId="{6B20C6F6-84A8-4A92-835D-17425B6D63C2}" sibTransId="{F14FB41E-8188-4755-AE89-9989CCD81352}"/>
    <dgm:cxn modelId="{236826CF-000B-4C62-AC0B-34D9FF1D338A}" type="presOf" srcId="{1FE49E60-7966-4042-8CA2-571D458CBEBB}" destId="{8E30A868-D594-41D5-9DAC-45D780AFF0B9}" srcOrd="0" destOrd="1" presId="urn:microsoft.com/office/officeart/2016/7/layout/VerticalSolidActionList"/>
    <dgm:cxn modelId="{625E48D4-420A-41BA-BE40-CED933CDE232}" type="presOf" srcId="{AE88638C-8F6E-436A-9B40-69B35F4E64E1}" destId="{8E30A868-D594-41D5-9DAC-45D780AFF0B9}" srcOrd="0" destOrd="3" presId="urn:microsoft.com/office/officeart/2016/7/layout/VerticalSolidActionList"/>
    <dgm:cxn modelId="{23C54BDE-3CFA-4A0E-8392-862738939A8B}" srcId="{D31E889B-A692-4D21-954A-B648FD35B8D7}" destId="{B56A9CB0-C3D7-4577-AED0-B49681182282}" srcOrd="0" destOrd="0" parTransId="{8031C234-1EE1-4D95-935B-67B6DB5CB165}" sibTransId="{350A03B9-F090-459C-AFE4-21EB4FA638B9}"/>
    <dgm:cxn modelId="{7F64ACED-099A-4C04-B7A8-1FB88EE11317}" srcId="{660A423B-DC29-48E6-A775-E8CC158E578E}" destId="{189C24D0-6757-403F-B46F-CCE644F14699}" srcOrd="0" destOrd="0" parTransId="{AE283ACC-75BB-4D10-9BEE-AEAAD54A7BD3}" sibTransId="{B61D243E-7421-47DB-828F-D2F9B18726A5}"/>
    <dgm:cxn modelId="{811497F2-346E-47FC-BB53-B9A5FDE2E600}" type="presOf" srcId="{B56A9CB0-C3D7-4577-AED0-B49681182282}" destId="{E030179E-F585-49AB-ADAE-8317A832F409}" srcOrd="0" destOrd="0" presId="urn:microsoft.com/office/officeart/2016/7/layout/VerticalSolidActionList"/>
    <dgm:cxn modelId="{8E0A61F7-B9B0-4B22-B777-EACB1EA835A1}" type="presOf" srcId="{2F2C9F6A-4351-4B44-8206-11AD142A846B}" destId="{8E30A868-D594-41D5-9DAC-45D780AFF0B9}" srcOrd="0" destOrd="2" presId="urn:microsoft.com/office/officeart/2016/7/layout/VerticalSolidActionList"/>
    <dgm:cxn modelId="{7BCBA3FA-81B1-4190-B473-28A3E8305022}" srcId="{660A423B-DC29-48E6-A775-E8CC158E578E}" destId="{D31E889B-A692-4D21-954A-B648FD35B8D7}" srcOrd="1" destOrd="0" parTransId="{D8D4E6F0-B51D-45A0-9487-055C0764EC83}" sibTransId="{2D10B9F7-9406-49DB-813D-ED5B5E416EAE}"/>
    <dgm:cxn modelId="{CDEFA25A-4433-4EA6-A94D-72CD889EC87F}" type="presParOf" srcId="{08910660-E66B-4D2F-BAAC-4959DAADB21C}" destId="{04E1468A-55C3-4F0B-817E-C7B3171BCFC6}" srcOrd="0" destOrd="0" presId="urn:microsoft.com/office/officeart/2016/7/layout/VerticalSolidActionList"/>
    <dgm:cxn modelId="{358DD756-F7EB-4DCE-809C-F7BF43DD2983}" type="presParOf" srcId="{04E1468A-55C3-4F0B-817E-C7B3171BCFC6}" destId="{8EB8DAA1-5C2A-4518-9160-D12C646EC45F}" srcOrd="0" destOrd="0" presId="urn:microsoft.com/office/officeart/2016/7/layout/VerticalSolidActionList"/>
    <dgm:cxn modelId="{08648532-F16B-4B07-BE6A-141720594F3F}" type="presParOf" srcId="{04E1468A-55C3-4F0B-817E-C7B3171BCFC6}" destId="{15025665-0980-42B9-A085-54B8C3D54985}" srcOrd="1" destOrd="0" presId="urn:microsoft.com/office/officeart/2016/7/layout/VerticalSolidActionList"/>
    <dgm:cxn modelId="{6D0A6749-D760-40F3-9FBA-EF1AEB0CF9A9}" type="presParOf" srcId="{08910660-E66B-4D2F-BAAC-4959DAADB21C}" destId="{E39B6BC4-0DC1-4DB4-A704-88921DADD381}" srcOrd="1" destOrd="0" presId="urn:microsoft.com/office/officeart/2016/7/layout/VerticalSolidActionList"/>
    <dgm:cxn modelId="{D875FAC0-827E-4D1C-9615-0C0DD7FC4D12}" type="presParOf" srcId="{08910660-E66B-4D2F-BAAC-4959DAADB21C}" destId="{6033D94D-ED5E-475E-81D3-671CF74C5CAB}" srcOrd="2" destOrd="0" presId="urn:microsoft.com/office/officeart/2016/7/layout/VerticalSolidActionList"/>
    <dgm:cxn modelId="{30EE87C2-FC1E-4C0C-B91E-D3BCB1E1266A}" type="presParOf" srcId="{6033D94D-ED5E-475E-81D3-671CF74C5CAB}" destId="{64C94C14-4CE1-41B3-A854-FE12CF19DAE0}" srcOrd="0" destOrd="0" presId="urn:microsoft.com/office/officeart/2016/7/layout/VerticalSolidActionList"/>
    <dgm:cxn modelId="{6B7F8C3F-2789-4F6A-A518-CC3B9B639ABF}" type="presParOf" srcId="{6033D94D-ED5E-475E-81D3-671CF74C5CAB}" destId="{E030179E-F585-49AB-ADAE-8317A832F409}" srcOrd="1" destOrd="0" presId="urn:microsoft.com/office/officeart/2016/7/layout/VerticalSolidActionList"/>
    <dgm:cxn modelId="{7CC8D806-F87A-480A-90B6-87487EFCFDA7}" type="presParOf" srcId="{08910660-E66B-4D2F-BAAC-4959DAADB21C}" destId="{EDED5FB6-F74C-474E-845B-5189D48A4BD8}" srcOrd="3" destOrd="0" presId="urn:microsoft.com/office/officeart/2016/7/layout/VerticalSolidActionList"/>
    <dgm:cxn modelId="{670FCF3B-E18C-461E-AEFB-28526E01A1C2}" type="presParOf" srcId="{08910660-E66B-4D2F-BAAC-4959DAADB21C}" destId="{182D909C-34D5-4086-B7D1-9F158F3222F5}" srcOrd="4" destOrd="0" presId="urn:microsoft.com/office/officeart/2016/7/layout/VerticalSolidActionList"/>
    <dgm:cxn modelId="{76FEC0F9-F88F-40F3-94BD-939809D6C435}" type="presParOf" srcId="{182D909C-34D5-4086-B7D1-9F158F3222F5}" destId="{07240307-7873-4D7D-A10C-C5DD04749596}" srcOrd="0" destOrd="0" presId="urn:microsoft.com/office/officeart/2016/7/layout/VerticalSolidActionList"/>
    <dgm:cxn modelId="{6E585CB4-C95E-4FA9-B0DF-3B58DE392A2B}" type="presParOf" srcId="{182D909C-34D5-4086-B7D1-9F158F3222F5}" destId="{8E30A868-D594-41D5-9DAC-45D780AFF0B9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393694C-E970-41C1-AC10-78C5226734F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AU"/>
        </a:p>
      </dgm:t>
    </dgm:pt>
    <dgm:pt modelId="{C8AE1D0D-07FB-412B-8AAF-7208182D7436}">
      <dgm:prSet phldrT="[Text]"/>
      <dgm:spPr/>
      <dgm:t>
        <a:bodyPr/>
        <a:lstStyle/>
        <a:p>
          <a:pPr>
            <a:defRPr b="1"/>
          </a:pPr>
          <a:r>
            <a:rPr lang="en-AU"/>
            <a:t>Predict class labels directly for key indicators</a:t>
          </a:r>
        </a:p>
      </dgm:t>
    </dgm:pt>
    <dgm:pt modelId="{950F28CE-650B-4073-8084-B51E30B3DA21}" type="parTrans" cxnId="{5F3F8F30-6F8C-4A2E-BCE7-D93003B8646A}">
      <dgm:prSet/>
      <dgm:spPr/>
      <dgm:t>
        <a:bodyPr/>
        <a:lstStyle/>
        <a:p>
          <a:endParaRPr lang="en-AU"/>
        </a:p>
      </dgm:t>
    </dgm:pt>
    <dgm:pt modelId="{605C9F04-7DB6-440C-88A1-2E7BE54ADAA4}" type="sibTrans" cxnId="{5F3F8F30-6F8C-4A2E-BCE7-D93003B8646A}">
      <dgm:prSet/>
      <dgm:spPr/>
      <dgm:t>
        <a:bodyPr/>
        <a:lstStyle/>
        <a:p>
          <a:endParaRPr lang="en-AU"/>
        </a:p>
      </dgm:t>
    </dgm:pt>
    <dgm:pt modelId="{62CA10ED-7D8D-4EDF-B854-54EDC70805FA}">
      <dgm:prSet phldrT="[Text]"/>
      <dgm:spPr/>
      <dgm:t>
        <a:bodyPr/>
        <a:lstStyle/>
        <a:p>
          <a:r>
            <a:rPr lang="en-AU" b="1"/>
            <a:t>Model:</a:t>
          </a:r>
          <a:endParaRPr lang="en-AU" b="0"/>
        </a:p>
      </dgm:t>
    </dgm:pt>
    <dgm:pt modelId="{8B9FFDB3-2DA7-4049-B22C-64F25A425915}" type="parTrans" cxnId="{F457858D-F1D4-47BA-B82E-72461EA709E6}">
      <dgm:prSet/>
      <dgm:spPr/>
      <dgm:t>
        <a:bodyPr/>
        <a:lstStyle/>
        <a:p>
          <a:endParaRPr lang="en-AU"/>
        </a:p>
      </dgm:t>
    </dgm:pt>
    <dgm:pt modelId="{E0980CFE-9094-43E3-97CF-8C328CA474C1}" type="sibTrans" cxnId="{F457858D-F1D4-47BA-B82E-72461EA709E6}">
      <dgm:prSet/>
      <dgm:spPr/>
      <dgm:t>
        <a:bodyPr/>
        <a:lstStyle/>
        <a:p>
          <a:endParaRPr lang="en-AU"/>
        </a:p>
      </dgm:t>
    </dgm:pt>
    <dgm:pt modelId="{3FBF7A28-2E60-4F87-9AE7-C20D94948EE6}">
      <dgm:prSet phldrT="[Text]"/>
      <dgm:spPr/>
      <dgm:t>
        <a:bodyPr/>
        <a:lstStyle/>
        <a:p>
          <a:r>
            <a:rPr lang="en-AU" b="1"/>
            <a:t>Pros:</a:t>
          </a:r>
          <a:endParaRPr lang="en-AU"/>
        </a:p>
      </dgm:t>
    </dgm:pt>
    <dgm:pt modelId="{30C7F227-5306-4734-94CB-7DF5C1987F4F}" type="parTrans" cxnId="{6AC6F4B8-D754-4160-A206-E9311EFAE364}">
      <dgm:prSet/>
      <dgm:spPr/>
      <dgm:t>
        <a:bodyPr/>
        <a:lstStyle/>
        <a:p>
          <a:endParaRPr lang="en-AU"/>
        </a:p>
      </dgm:t>
    </dgm:pt>
    <dgm:pt modelId="{CE6C38CF-3837-4F2F-A396-C4D2174581A9}" type="sibTrans" cxnId="{6AC6F4B8-D754-4160-A206-E9311EFAE364}">
      <dgm:prSet/>
      <dgm:spPr/>
      <dgm:t>
        <a:bodyPr/>
        <a:lstStyle/>
        <a:p>
          <a:endParaRPr lang="en-AU"/>
        </a:p>
      </dgm:t>
    </dgm:pt>
    <dgm:pt modelId="{67BED64E-EFD5-4946-8E5D-AC3EA066263C}">
      <dgm:prSet phldrT="[Text]"/>
      <dgm:spPr/>
      <dgm:t>
        <a:bodyPr/>
        <a:lstStyle/>
        <a:p>
          <a:pPr>
            <a:defRPr b="1"/>
          </a:pPr>
          <a:r>
            <a:rPr lang="en-AU"/>
            <a:t>Assign Persona Based on Threshold Patterns</a:t>
          </a:r>
        </a:p>
      </dgm:t>
    </dgm:pt>
    <dgm:pt modelId="{669630B7-2BC0-47CF-803F-12068259F72D}" type="parTrans" cxnId="{5A409F91-6C5C-4815-9491-E0621308A363}">
      <dgm:prSet/>
      <dgm:spPr/>
      <dgm:t>
        <a:bodyPr/>
        <a:lstStyle/>
        <a:p>
          <a:endParaRPr lang="en-AU"/>
        </a:p>
      </dgm:t>
    </dgm:pt>
    <dgm:pt modelId="{94048732-47E8-4DA1-AD74-0EEA401B33EB}" type="sibTrans" cxnId="{5A409F91-6C5C-4815-9491-E0621308A363}">
      <dgm:prSet/>
      <dgm:spPr/>
      <dgm:t>
        <a:bodyPr/>
        <a:lstStyle/>
        <a:p>
          <a:endParaRPr lang="en-AU"/>
        </a:p>
      </dgm:t>
    </dgm:pt>
    <dgm:pt modelId="{CA8A102B-E64F-48AD-9B4D-6EDB62F92A8A}">
      <dgm:prSet phldrT="[Text]"/>
      <dgm:spPr/>
      <dgm:t>
        <a:bodyPr/>
        <a:lstStyle/>
        <a:p>
          <a:pPr>
            <a:buNone/>
          </a:pPr>
          <a:r>
            <a:rPr lang="en-AU" b="1"/>
            <a:t>Model</a:t>
          </a:r>
          <a:r>
            <a:rPr lang="en-AU"/>
            <a:t>:</a:t>
          </a:r>
        </a:p>
      </dgm:t>
    </dgm:pt>
    <dgm:pt modelId="{684DCFDD-A289-488D-8D86-5BC6FA850A9B}" type="parTrans" cxnId="{B381E44E-0CE4-4659-BFA8-2CB1578AC570}">
      <dgm:prSet/>
      <dgm:spPr/>
      <dgm:t>
        <a:bodyPr/>
        <a:lstStyle/>
        <a:p>
          <a:endParaRPr lang="en-AU"/>
        </a:p>
      </dgm:t>
    </dgm:pt>
    <dgm:pt modelId="{3E65923D-AB83-4EBA-9597-FC32F270618D}" type="sibTrans" cxnId="{B381E44E-0CE4-4659-BFA8-2CB1578AC570}">
      <dgm:prSet/>
      <dgm:spPr/>
      <dgm:t>
        <a:bodyPr/>
        <a:lstStyle/>
        <a:p>
          <a:endParaRPr lang="en-AU"/>
        </a:p>
      </dgm:t>
    </dgm:pt>
    <dgm:pt modelId="{7F7769CA-97DF-4B55-B16B-C909DF42CD9C}">
      <dgm:prSet/>
      <dgm:spPr/>
      <dgm:t>
        <a:bodyPr/>
        <a:lstStyle/>
        <a:p>
          <a:r>
            <a:rPr lang="en-AU"/>
            <a:t>Clean, explainable ML pipeline</a:t>
          </a:r>
        </a:p>
      </dgm:t>
    </dgm:pt>
    <dgm:pt modelId="{45BC9A85-AB5E-4B3E-BBC4-4345BE50413C}" type="parTrans" cxnId="{671A3B7A-6C8A-4847-89D7-6F7909ECA5C5}">
      <dgm:prSet/>
      <dgm:spPr/>
      <dgm:t>
        <a:bodyPr/>
        <a:lstStyle/>
        <a:p>
          <a:endParaRPr lang="en-AU"/>
        </a:p>
      </dgm:t>
    </dgm:pt>
    <dgm:pt modelId="{04B07791-93F8-46BE-BE6E-2A31CC84ACE2}" type="sibTrans" cxnId="{671A3B7A-6C8A-4847-89D7-6F7909ECA5C5}">
      <dgm:prSet/>
      <dgm:spPr/>
      <dgm:t>
        <a:bodyPr/>
        <a:lstStyle/>
        <a:p>
          <a:endParaRPr lang="en-AU"/>
        </a:p>
      </dgm:t>
    </dgm:pt>
    <dgm:pt modelId="{2B59E818-A001-49E6-858E-6509E3E04539}">
      <dgm:prSet/>
      <dgm:spPr/>
      <dgm:t>
        <a:bodyPr/>
        <a:lstStyle/>
        <a:p>
          <a:r>
            <a:rPr lang="en-US"/>
            <a:t>Avoids confusion between style and outcome</a:t>
          </a:r>
        </a:p>
      </dgm:t>
    </dgm:pt>
    <dgm:pt modelId="{C9ECFC5E-6D86-496F-A653-2121F0994E5C}" type="parTrans" cxnId="{FD9DB43B-E8E2-470E-AB75-EE1F8F67A6E5}">
      <dgm:prSet/>
      <dgm:spPr/>
      <dgm:t>
        <a:bodyPr/>
        <a:lstStyle/>
        <a:p>
          <a:endParaRPr lang="en-AU"/>
        </a:p>
      </dgm:t>
    </dgm:pt>
    <dgm:pt modelId="{5AD45785-2D69-4F27-B41A-BB46FB7AEC61}" type="sibTrans" cxnId="{FD9DB43B-E8E2-470E-AB75-EE1F8F67A6E5}">
      <dgm:prSet/>
      <dgm:spPr/>
      <dgm:t>
        <a:bodyPr/>
        <a:lstStyle/>
        <a:p>
          <a:endParaRPr lang="en-AU"/>
        </a:p>
      </dgm:t>
    </dgm:pt>
    <dgm:pt modelId="{B0072B2D-108F-41BF-BEB0-A8538EC13CDB}">
      <dgm:prSet/>
      <dgm:spPr/>
      <dgm:t>
        <a:bodyPr/>
        <a:lstStyle/>
        <a:p>
          <a:r>
            <a:rPr lang="en-US" b="1"/>
            <a:t>Use</a:t>
          </a:r>
          <a:r>
            <a:rPr lang="en-US"/>
            <a:t>: </a:t>
          </a:r>
        </a:p>
      </dgm:t>
    </dgm:pt>
    <dgm:pt modelId="{4C231B88-EF53-44AB-95D0-452D179BB500}" type="parTrans" cxnId="{0C041CFE-ED45-4734-84EA-4ED7446BC909}">
      <dgm:prSet/>
      <dgm:spPr/>
      <dgm:t>
        <a:bodyPr/>
        <a:lstStyle/>
        <a:p>
          <a:endParaRPr lang="en-AU"/>
        </a:p>
      </dgm:t>
    </dgm:pt>
    <dgm:pt modelId="{0D944A9A-7A63-4147-A7B7-BCA7446F44FF}" type="sibTrans" cxnId="{0C041CFE-ED45-4734-84EA-4ED7446BC909}">
      <dgm:prSet/>
      <dgm:spPr/>
      <dgm:t>
        <a:bodyPr/>
        <a:lstStyle/>
        <a:p>
          <a:endParaRPr lang="en-AU"/>
        </a:p>
      </dgm:t>
    </dgm:pt>
    <dgm:pt modelId="{67A0DB72-DFF6-4B84-857C-B3265CEF3D12}">
      <dgm:prSet phldrT="[Text]"/>
      <dgm:spPr/>
      <dgm:t>
        <a:bodyPr/>
        <a:lstStyle/>
        <a:p>
          <a:r>
            <a:rPr lang="en-AU" b="1"/>
            <a:t> </a:t>
          </a:r>
          <a:r>
            <a:rPr lang="en-AU" b="0"/>
            <a:t>Classifies incident reports into engagement level, psych safety level and culture zone </a:t>
          </a:r>
          <a:br>
            <a:rPr lang="en-AU"/>
          </a:br>
          <a:endParaRPr lang="en-AU" b="0"/>
        </a:p>
      </dgm:t>
    </dgm:pt>
    <dgm:pt modelId="{7B47E174-C37C-4E6A-9FF4-30639497FE5D}" type="parTrans" cxnId="{F18B9542-2B3F-43F8-8FAA-35AD458261A3}">
      <dgm:prSet/>
      <dgm:spPr/>
      <dgm:t>
        <a:bodyPr/>
        <a:lstStyle/>
        <a:p>
          <a:endParaRPr lang="en-AU"/>
        </a:p>
      </dgm:t>
    </dgm:pt>
    <dgm:pt modelId="{CBE8882D-4BB8-49CB-AA3B-D6F560E28BE8}" type="sibTrans" cxnId="{F18B9542-2B3F-43F8-8FAA-35AD458261A3}">
      <dgm:prSet/>
      <dgm:spPr/>
      <dgm:t>
        <a:bodyPr/>
        <a:lstStyle/>
        <a:p>
          <a:endParaRPr lang="en-AU"/>
        </a:p>
      </dgm:t>
    </dgm:pt>
    <dgm:pt modelId="{0E85E7A4-DF9D-485A-B05B-F0DEF89AD348}">
      <dgm:prSet phldrT="[Text]"/>
      <dgm:spPr/>
      <dgm:t>
        <a:bodyPr/>
        <a:lstStyle/>
        <a:p>
          <a:r>
            <a:rPr lang="en-AU" b="0"/>
            <a:t>Post-event interpretation or visualisation only</a:t>
          </a:r>
        </a:p>
      </dgm:t>
    </dgm:pt>
    <dgm:pt modelId="{C8287023-2741-4023-B5A6-72C171D23882}" type="parTrans" cxnId="{10F50A6F-ADB2-4D54-8A23-79776A8CA139}">
      <dgm:prSet/>
      <dgm:spPr/>
      <dgm:t>
        <a:bodyPr/>
        <a:lstStyle/>
        <a:p>
          <a:endParaRPr lang="en-AU"/>
        </a:p>
      </dgm:t>
    </dgm:pt>
    <dgm:pt modelId="{EDE71BC9-4742-4B72-9B0B-0F21F3055081}" type="sibTrans" cxnId="{10F50A6F-ADB2-4D54-8A23-79776A8CA139}">
      <dgm:prSet/>
      <dgm:spPr/>
      <dgm:t>
        <a:bodyPr/>
        <a:lstStyle/>
        <a:p>
          <a:endParaRPr lang="en-AU"/>
        </a:p>
      </dgm:t>
    </dgm:pt>
    <dgm:pt modelId="{05A88F52-3127-4604-B86A-2038EA12DB26}">
      <dgm:prSet phldrT="[Text]"/>
      <dgm:spPr/>
      <dgm:t>
        <a:bodyPr/>
        <a:lstStyle/>
        <a:p>
          <a:pPr>
            <a:buNone/>
          </a:pPr>
          <a:r>
            <a:rPr lang="en-AU" b="1"/>
            <a:t>Pros:</a:t>
          </a:r>
          <a:endParaRPr lang="en-AU"/>
        </a:p>
      </dgm:t>
    </dgm:pt>
    <dgm:pt modelId="{12DC9F8F-F412-469F-BB8C-286B2D393CD4}" type="parTrans" cxnId="{A3AB8540-7018-4026-B971-D7C2FAD4935B}">
      <dgm:prSet/>
      <dgm:spPr/>
      <dgm:t>
        <a:bodyPr/>
        <a:lstStyle/>
        <a:p>
          <a:endParaRPr lang="en-AU"/>
        </a:p>
      </dgm:t>
    </dgm:pt>
    <dgm:pt modelId="{39569CB2-4951-4ACE-9658-B05DFFF4FB9E}" type="sibTrans" cxnId="{A3AB8540-7018-4026-B971-D7C2FAD4935B}">
      <dgm:prSet/>
      <dgm:spPr/>
      <dgm:t>
        <a:bodyPr/>
        <a:lstStyle/>
        <a:p>
          <a:endParaRPr lang="en-AU"/>
        </a:p>
      </dgm:t>
    </dgm:pt>
    <dgm:pt modelId="{F33F27F5-EDF0-463F-9B38-C4B6383E828D}">
      <dgm:prSet/>
      <dgm:spPr/>
      <dgm:t>
        <a:bodyPr/>
        <a:lstStyle/>
        <a:p>
          <a:pPr>
            <a:buNone/>
          </a:pPr>
          <a:r>
            <a:rPr lang="en-US"/>
            <a:t>Makes personas an interpretive output (like an archetype)</a:t>
          </a:r>
        </a:p>
      </dgm:t>
    </dgm:pt>
    <dgm:pt modelId="{8D0EF333-BA8E-4348-B33E-8CB2AEDA4E04}" type="parTrans" cxnId="{CADA0609-B6A2-497F-8722-3513073853EE}">
      <dgm:prSet/>
      <dgm:spPr/>
      <dgm:t>
        <a:bodyPr/>
        <a:lstStyle/>
        <a:p>
          <a:endParaRPr lang="en-AU"/>
        </a:p>
      </dgm:t>
    </dgm:pt>
    <dgm:pt modelId="{C849A3BB-65B9-4928-AA9E-0F0C137F7BF3}" type="sibTrans" cxnId="{CADA0609-B6A2-497F-8722-3513073853EE}">
      <dgm:prSet/>
      <dgm:spPr/>
      <dgm:t>
        <a:bodyPr/>
        <a:lstStyle/>
        <a:p>
          <a:endParaRPr lang="en-AU"/>
        </a:p>
      </dgm:t>
    </dgm:pt>
    <dgm:pt modelId="{5CB5B7E0-5813-45EB-A16F-0C69871D6392}">
      <dgm:prSet/>
      <dgm:spPr/>
      <dgm:t>
        <a:bodyPr/>
        <a:lstStyle/>
        <a:p>
          <a:pPr>
            <a:buNone/>
          </a:pPr>
          <a:r>
            <a:rPr lang="en-US"/>
            <a:t>Helps human users contextualize results (e.g. “This sounds like Mia”)</a:t>
          </a:r>
        </a:p>
      </dgm:t>
    </dgm:pt>
    <dgm:pt modelId="{78785E10-44EA-4C20-ACFA-674A502E6DF8}" type="parTrans" cxnId="{07525857-1A21-4F39-A5C6-1D6299CB98C7}">
      <dgm:prSet/>
      <dgm:spPr/>
      <dgm:t>
        <a:bodyPr/>
        <a:lstStyle/>
        <a:p>
          <a:endParaRPr lang="en-AU"/>
        </a:p>
      </dgm:t>
    </dgm:pt>
    <dgm:pt modelId="{035FE53B-027B-4182-9AFD-369FB8A62F7B}" type="sibTrans" cxnId="{07525857-1A21-4F39-A5C6-1D6299CB98C7}">
      <dgm:prSet/>
      <dgm:spPr/>
      <dgm:t>
        <a:bodyPr/>
        <a:lstStyle/>
        <a:p>
          <a:endParaRPr lang="en-AU"/>
        </a:p>
      </dgm:t>
    </dgm:pt>
    <dgm:pt modelId="{914CD607-B6DE-4E8F-A2C2-7BB6198B83A7}">
      <dgm:prSet/>
      <dgm:spPr/>
      <dgm:t>
        <a:bodyPr/>
        <a:lstStyle/>
        <a:p>
          <a:pPr>
            <a:buNone/>
          </a:pPr>
          <a:r>
            <a:rPr lang="en-US"/>
            <a:t>Great for training, benchmarking, and cultural coaching</a:t>
          </a:r>
        </a:p>
      </dgm:t>
    </dgm:pt>
    <dgm:pt modelId="{7F4EC7C6-3AA6-40F7-97E0-BAFC8BC3EFD8}" type="parTrans" cxnId="{9135E746-D065-4559-AD5B-E34E5A105E6D}">
      <dgm:prSet/>
      <dgm:spPr/>
      <dgm:t>
        <a:bodyPr/>
        <a:lstStyle/>
        <a:p>
          <a:endParaRPr lang="en-AU"/>
        </a:p>
      </dgm:t>
    </dgm:pt>
    <dgm:pt modelId="{7B1A9D96-E18B-41E9-B52E-3E5B4B74FDC5}" type="sibTrans" cxnId="{9135E746-D065-4559-AD5B-E34E5A105E6D}">
      <dgm:prSet/>
      <dgm:spPr/>
      <dgm:t>
        <a:bodyPr/>
        <a:lstStyle/>
        <a:p>
          <a:endParaRPr lang="en-AU"/>
        </a:p>
      </dgm:t>
    </dgm:pt>
    <dgm:pt modelId="{A3848B92-457F-4C5A-AC9A-5B609A5F1604}">
      <dgm:prSet/>
      <dgm:spPr/>
      <dgm:t>
        <a:bodyPr/>
        <a:lstStyle/>
        <a:p>
          <a:pPr>
            <a:buNone/>
          </a:pPr>
          <a:r>
            <a:rPr lang="en-AU" b="1"/>
            <a:t>Requires:</a:t>
          </a:r>
        </a:p>
      </dgm:t>
    </dgm:pt>
    <dgm:pt modelId="{7E04214E-FF81-4F1E-A940-26831E001A1B}" type="parTrans" cxnId="{979CA25D-EBB7-4C7C-A436-95CC3D1364A0}">
      <dgm:prSet/>
      <dgm:spPr/>
      <dgm:t>
        <a:bodyPr/>
        <a:lstStyle/>
        <a:p>
          <a:endParaRPr lang="en-AU"/>
        </a:p>
      </dgm:t>
    </dgm:pt>
    <dgm:pt modelId="{1F1EF9BB-265B-4A7E-8187-6AAA91689DBB}" type="sibTrans" cxnId="{979CA25D-EBB7-4C7C-A436-95CC3D1364A0}">
      <dgm:prSet/>
      <dgm:spPr/>
      <dgm:t>
        <a:bodyPr/>
        <a:lstStyle/>
        <a:p>
          <a:endParaRPr lang="en-AU"/>
        </a:p>
      </dgm:t>
    </dgm:pt>
    <dgm:pt modelId="{C617162A-1BB2-465D-A4B5-FE3567D7EAB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Persona definitions (e.g., thresholds for each trait)</a:t>
          </a:r>
        </a:p>
      </dgm:t>
    </dgm:pt>
    <dgm:pt modelId="{D23A2592-D5E0-4D67-AA97-4E8C8E033861}" type="parTrans" cxnId="{52DA3250-F7BE-4AEC-932A-A662ADB29DDE}">
      <dgm:prSet/>
      <dgm:spPr/>
      <dgm:t>
        <a:bodyPr/>
        <a:lstStyle/>
        <a:p>
          <a:endParaRPr lang="en-AU"/>
        </a:p>
      </dgm:t>
    </dgm:pt>
    <dgm:pt modelId="{65484201-FAE0-4AE8-9A92-574A888609B8}" type="sibTrans" cxnId="{52DA3250-F7BE-4AEC-932A-A662ADB29DDE}">
      <dgm:prSet/>
      <dgm:spPr/>
      <dgm:t>
        <a:bodyPr/>
        <a:lstStyle/>
        <a:p>
          <a:endParaRPr lang="en-AU"/>
        </a:p>
      </dgm:t>
    </dgm:pt>
    <dgm:pt modelId="{25909639-14E8-4B18-BA3D-7A6B6783C18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Clustering or scoring logic to match input to closest persona</a:t>
          </a:r>
        </a:p>
      </dgm:t>
    </dgm:pt>
    <dgm:pt modelId="{828F9F77-504F-4D95-AE73-98A39CCE1A03}" type="parTrans" cxnId="{ADEACBEC-C68D-49E5-89F5-EB618E016F6D}">
      <dgm:prSet/>
      <dgm:spPr/>
      <dgm:t>
        <a:bodyPr/>
        <a:lstStyle/>
        <a:p>
          <a:endParaRPr lang="en-AU"/>
        </a:p>
      </dgm:t>
    </dgm:pt>
    <dgm:pt modelId="{5DF0D041-971F-45B4-85B4-E50F2A632B09}" type="sibTrans" cxnId="{ADEACBEC-C68D-49E5-89F5-EB618E016F6D}">
      <dgm:prSet/>
      <dgm:spPr/>
      <dgm:t>
        <a:bodyPr/>
        <a:lstStyle/>
        <a:p>
          <a:endParaRPr lang="en-AU"/>
        </a:p>
      </dgm:t>
    </dgm:pt>
    <dgm:pt modelId="{C0B266E7-7B7D-4515-956A-052F662E9F76}">
      <dgm:prSet/>
      <dgm:spPr/>
      <dgm:t>
        <a:bodyPr/>
        <a:lstStyle/>
        <a:p>
          <a:pPr>
            <a:buNone/>
          </a:pPr>
          <a:r>
            <a:rPr lang="en-US" b="1"/>
            <a:t>Use</a:t>
          </a:r>
          <a:r>
            <a:rPr lang="en-US"/>
            <a:t>: Allows analysis on team dynamics and individual work styles</a:t>
          </a:r>
        </a:p>
        <a:p>
          <a:pPr>
            <a:buNone/>
          </a:pPr>
          <a:r>
            <a:rPr lang="en-US"/>
            <a:t>“ This employee’s  style of report (medium for psych safety, high effort)  most likely aligns with a persona like Anxious Validator”. Therefore they exhibit behaviours x and y”.</a:t>
          </a:r>
        </a:p>
      </dgm:t>
    </dgm:pt>
    <dgm:pt modelId="{362BE819-B613-4C81-BD05-C5ED1510DAD6}" type="parTrans" cxnId="{C10B34F0-FC76-4F84-B331-F40B06230F8F}">
      <dgm:prSet/>
      <dgm:spPr/>
      <dgm:t>
        <a:bodyPr/>
        <a:lstStyle/>
        <a:p>
          <a:endParaRPr lang="en-AU"/>
        </a:p>
      </dgm:t>
    </dgm:pt>
    <dgm:pt modelId="{AB9E9980-E91C-45DC-A1AC-38120C22274A}" type="sibTrans" cxnId="{C10B34F0-FC76-4F84-B331-F40B06230F8F}">
      <dgm:prSet/>
      <dgm:spPr/>
      <dgm:t>
        <a:bodyPr/>
        <a:lstStyle/>
        <a:p>
          <a:endParaRPr lang="en-AU"/>
        </a:p>
      </dgm:t>
    </dgm:pt>
    <dgm:pt modelId="{0B8BE941-C45B-44C6-A381-1120E9710584}">
      <dgm:prSet/>
      <dgm:spPr/>
      <dgm:t>
        <a:bodyPr/>
        <a:lstStyle/>
        <a:p>
          <a:r>
            <a:rPr lang="en-US"/>
            <a:t> Very useful for operations and monitoring dashboards –</a:t>
          </a:r>
        </a:p>
        <a:p>
          <a:r>
            <a:rPr lang="en-US"/>
            <a:t> “This report is LOW  STAFF PSYCH SAFETY + HIGH ENGAGEMENT”</a:t>
          </a:r>
        </a:p>
      </dgm:t>
    </dgm:pt>
    <dgm:pt modelId="{5EEE803A-CB6C-4F4E-B98D-A910DB0D67F3}" type="parTrans" cxnId="{E686AE67-9006-4C71-AA37-26B4537D5EC9}">
      <dgm:prSet/>
      <dgm:spPr/>
      <dgm:t>
        <a:bodyPr/>
        <a:lstStyle/>
        <a:p>
          <a:endParaRPr lang="en-AU"/>
        </a:p>
      </dgm:t>
    </dgm:pt>
    <dgm:pt modelId="{6812411B-C4BE-4E38-B49C-0293A904F92C}" type="sibTrans" cxnId="{E686AE67-9006-4C71-AA37-26B4537D5EC9}">
      <dgm:prSet/>
      <dgm:spPr/>
      <dgm:t>
        <a:bodyPr/>
        <a:lstStyle/>
        <a:p>
          <a:endParaRPr lang="en-AU"/>
        </a:p>
      </dgm:t>
    </dgm:pt>
    <dgm:pt modelId="{49A6C9ED-266D-4D37-84B0-E4E1CECC93A7}">
      <dgm:prSet phldrT="[Text]"/>
      <dgm:spPr/>
      <dgm:t>
        <a:bodyPr/>
        <a:lstStyle/>
        <a:p>
          <a:pPr>
            <a:buNone/>
          </a:pPr>
          <a:r>
            <a:rPr lang="en-AU"/>
            <a:t>Extracts psych safety + engagement features first then uses thresholds or KNN to assign persona-style label</a:t>
          </a:r>
        </a:p>
      </dgm:t>
    </dgm:pt>
    <dgm:pt modelId="{E22F05FE-C6CB-4B81-A7D9-357B32CE2690}" type="parTrans" cxnId="{4F2CDD1F-2820-4C1A-A148-983ADAC35513}">
      <dgm:prSet/>
      <dgm:spPr/>
      <dgm:t>
        <a:bodyPr/>
        <a:lstStyle/>
        <a:p>
          <a:endParaRPr lang="en-AU"/>
        </a:p>
      </dgm:t>
    </dgm:pt>
    <dgm:pt modelId="{3B7FD870-AA87-4162-8C0E-9724193BCDA6}" type="sibTrans" cxnId="{4F2CDD1F-2820-4C1A-A148-983ADAC35513}">
      <dgm:prSet/>
      <dgm:spPr/>
      <dgm:t>
        <a:bodyPr/>
        <a:lstStyle/>
        <a:p>
          <a:endParaRPr lang="en-AU"/>
        </a:p>
      </dgm:t>
    </dgm:pt>
    <dgm:pt modelId="{CCB88C83-DA38-4637-A4AE-4221E07F8064}">
      <dgm:prSet phldrT="[Text]"/>
      <dgm:spPr/>
      <dgm:t>
        <a:bodyPr/>
        <a:lstStyle/>
        <a:p>
          <a:r>
            <a:rPr lang="en-AU" b="1"/>
            <a:t>Persona use</a:t>
          </a:r>
          <a:endParaRPr lang="en-AU" b="0"/>
        </a:p>
      </dgm:t>
    </dgm:pt>
    <dgm:pt modelId="{870CECB0-9F6E-4AF4-80BC-8C48A185CAFA}" type="parTrans" cxnId="{58F0FA1F-90AB-41BF-8C53-D24F32576E4B}">
      <dgm:prSet/>
      <dgm:spPr/>
      <dgm:t>
        <a:bodyPr/>
        <a:lstStyle/>
        <a:p>
          <a:endParaRPr lang="en-AU"/>
        </a:p>
      </dgm:t>
    </dgm:pt>
    <dgm:pt modelId="{30C94EC4-9595-489A-998D-5A32A5BAA8C5}" type="sibTrans" cxnId="{58F0FA1F-90AB-41BF-8C53-D24F32576E4B}">
      <dgm:prSet/>
      <dgm:spPr/>
      <dgm:t>
        <a:bodyPr/>
        <a:lstStyle/>
        <a:p>
          <a:endParaRPr lang="en-AU"/>
        </a:p>
      </dgm:t>
    </dgm:pt>
    <dgm:pt modelId="{70A637CD-91AB-4AE0-B01A-18E3174006C0}" type="pres">
      <dgm:prSet presAssocID="{7393694C-E970-41C1-AC10-78C5226734FA}" presName="root" presStyleCnt="0">
        <dgm:presLayoutVars>
          <dgm:dir/>
          <dgm:resizeHandles val="exact"/>
        </dgm:presLayoutVars>
      </dgm:prSet>
      <dgm:spPr/>
    </dgm:pt>
    <dgm:pt modelId="{13787D8F-5DE4-46F1-B943-74A9A47772D3}" type="pres">
      <dgm:prSet presAssocID="{C8AE1D0D-07FB-412B-8AAF-7208182D7436}" presName="compNode" presStyleCnt="0"/>
      <dgm:spPr/>
    </dgm:pt>
    <dgm:pt modelId="{9236A922-62E1-4A4F-90A0-F6A2CBD56A5C}" type="pres">
      <dgm:prSet presAssocID="{C8AE1D0D-07FB-412B-8AAF-7208182D743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F4AEC855-9811-4987-B561-28EF1CEE2D5B}" type="pres">
      <dgm:prSet presAssocID="{C8AE1D0D-07FB-412B-8AAF-7208182D7436}" presName="iconSpace" presStyleCnt="0"/>
      <dgm:spPr/>
    </dgm:pt>
    <dgm:pt modelId="{777098CC-A978-409C-9B47-900F22708F30}" type="pres">
      <dgm:prSet presAssocID="{C8AE1D0D-07FB-412B-8AAF-7208182D7436}" presName="parTx" presStyleLbl="revTx" presStyleIdx="0" presStyleCnt="4">
        <dgm:presLayoutVars>
          <dgm:chMax val="0"/>
          <dgm:chPref val="0"/>
        </dgm:presLayoutVars>
      </dgm:prSet>
      <dgm:spPr/>
    </dgm:pt>
    <dgm:pt modelId="{C8E687CC-C8DD-4FF4-895C-D114CE55268A}" type="pres">
      <dgm:prSet presAssocID="{C8AE1D0D-07FB-412B-8AAF-7208182D7436}" presName="txSpace" presStyleCnt="0"/>
      <dgm:spPr/>
    </dgm:pt>
    <dgm:pt modelId="{7E68C814-4E11-47F7-ADB2-3449F8726CF2}" type="pres">
      <dgm:prSet presAssocID="{C8AE1D0D-07FB-412B-8AAF-7208182D7436}" presName="desTx" presStyleLbl="revTx" presStyleIdx="1" presStyleCnt="4">
        <dgm:presLayoutVars/>
      </dgm:prSet>
      <dgm:spPr/>
    </dgm:pt>
    <dgm:pt modelId="{B2BD7A52-5FE0-43FB-B763-41BBEE9893B9}" type="pres">
      <dgm:prSet presAssocID="{605C9F04-7DB6-440C-88A1-2E7BE54ADAA4}" presName="sibTrans" presStyleCnt="0"/>
      <dgm:spPr/>
    </dgm:pt>
    <dgm:pt modelId="{EB15DAE0-ABEE-4222-B91A-D3CF2758C62F}" type="pres">
      <dgm:prSet presAssocID="{67BED64E-EFD5-4946-8E5D-AC3EA066263C}" presName="compNode" presStyleCnt="0"/>
      <dgm:spPr/>
    </dgm:pt>
    <dgm:pt modelId="{939D082A-0D07-413A-A64D-CFC9720D7F07}" type="pres">
      <dgm:prSet presAssocID="{67BED64E-EFD5-4946-8E5D-AC3EA066263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7AC3A18-4D6F-4358-B7FD-DBB78DC8C483}" type="pres">
      <dgm:prSet presAssocID="{67BED64E-EFD5-4946-8E5D-AC3EA066263C}" presName="iconSpace" presStyleCnt="0"/>
      <dgm:spPr/>
    </dgm:pt>
    <dgm:pt modelId="{FD0B546E-43CB-4C76-96FC-FE4979BC2922}" type="pres">
      <dgm:prSet presAssocID="{67BED64E-EFD5-4946-8E5D-AC3EA066263C}" presName="parTx" presStyleLbl="revTx" presStyleIdx="2" presStyleCnt="4">
        <dgm:presLayoutVars>
          <dgm:chMax val="0"/>
          <dgm:chPref val="0"/>
        </dgm:presLayoutVars>
      </dgm:prSet>
      <dgm:spPr/>
    </dgm:pt>
    <dgm:pt modelId="{E3038E8B-D834-4219-A836-28EFFF7AA7F0}" type="pres">
      <dgm:prSet presAssocID="{67BED64E-EFD5-4946-8E5D-AC3EA066263C}" presName="txSpace" presStyleCnt="0"/>
      <dgm:spPr/>
    </dgm:pt>
    <dgm:pt modelId="{345C132E-609A-4877-9204-25AA2D440582}" type="pres">
      <dgm:prSet presAssocID="{67BED64E-EFD5-4946-8E5D-AC3EA066263C}" presName="desTx" presStyleLbl="revTx" presStyleIdx="3" presStyleCnt="4">
        <dgm:presLayoutVars/>
      </dgm:prSet>
      <dgm:spPr/>
    </dgm:pt>
  </dgm:ptLst>
  <dgm:cxnLst>
    <dgm:cxn modelId="{BB648301-8363-4025-BFC3-0EECB0D41CC1}" type="presOf" srcId="{2B59E818-A001-49E6-858E-6509E3E04539}" destId="{7E68C814-4E11-47F7-ADB2-3449F8726CF2}" srcOrd="0" destOrd="6" presId="urn:microsoft.com/office/officeart/2018/2/layout/IconLabelDescriptionList"/>
    <dgm:cxn modelId="{CADA0609-B6A2-497F-8722-3513073853EE}" srcId="{67BED64E-EFD5-4946-8E5D-AC3EA066263C}" destId="{F33F27F5-EDF0-463F-9B38-C4B6383E828D}" srcOrd="3" destOrd="0" parTransId="{8D0EF333-BA8E-4348-B33E-8CB2AEDA4E04}" sibTransId="{C849A3BB-65B9-4928-AA9E-0F0C137F7BF3}"/>
    <dgm:cxn modelId="{D8A5BB14-44DF-4136-9414-4773C13FEB6E}" type="presOf" srcId="{0B8BE941-C45B-44C6-A381-1120E9710584}" destId="{7E68C814-4E11-47F7-ADB2-3449F8726CF2}" srcOrd="0" destOrd="8" presId="urn:microsoft.com/office/officeart/2018/2/layout/IconLabelDescriptionList"/>
    <dgm:cxn modelId="{DBD23F1E-517F-4558-B2D0-C74EE3FBCCB4}" type="presOf" srcId="{7393694C-E970-41C1-AC10-78C5226734FA}" destId="{70A637CD-91AB-4AE0-B01A-18E3174006C0}" srcOrd="0" destOrd="0" presId="urn:microsoft.com/office/officeart/2018/2/layout/IconLabelDescriptionList"/>
    <dgm:cxn modelId="{4F2CDD1F-2820-4C1A-A148-983ADAC35513}" srcId="{67BED64E-EFD5-4946-8E5D-AC3EA066263C}" destId="{49A6C9ED-266D-4D37-84B0-E4E1CECC93A7}" srcOrd="1" destOrd="0" parTransId="{E22F05FE-C6CB-4B81-A7D9-357B32CE2690}" sibTransId="{3B7FD870-AA87-4162-8C0E-9724193BCDA6}"/>
    <dgm:cxn modelId="{58F0FA1F-90AB-41BF-8C53-D24F32576E4B}" srcId="{C8AE1D0D-07FB-412B-8AAF-7208182D7436}" destId="{CCB88C83-DA38-4637-A4AE-4221E07F8064}" srcOrd="2" destOrd="0" parTransId="{870CECB0-9F6E-4AF4-80BC-8C48A185CAFA}" sibTransId="{30C94EC4-9595-489A-998D-5A32A5BAA8C5}"/>
    <dgm:cxn modelId="{444E7624-64BA-4621-88AF-A389C1504F5C}" type="presOf" srcId="{914CD607-B6DE-4E8F-A2C2-7BB6198B83A7}" destId="{345C132E-609A-4877-9204-25AA2D440582}" srcOrd="0" destOrd="5" presId="urn:microsoft.com/office/officeart/2018/2/layout/IconLabelDescriptionList"/>
    <dgm:cxn modelId="{07C0BD26-9BD9-4355-AE26-0F3B56F947A9}" type="presOf" srcId="{0E85E7A4-DF9D-485A-B05B-F0DEF89AD348}" destId="{7E68C814-4E11-47F7-ADB2-3449F8726CF2}" srcOrd="0" destOrd="3" presId="urn:microsoft.com/office/officeart/2018/2/layout/IconLabelDescriptionList"/>
    <dgm:cxn modelId="{5F3F8F30-6F8C-4A2E-BCE7-D93003B8646A}" srcId="{7393694C-E970-41C1-AC10-78C5226734FA}" destId="{C8AE1D0D-07FB-412B-8AAF-7208182D7436}" srcOrd="0" destOrd="0" parTransId="{950F28CE-650B-4073-8084-B51E30B3DA21}" sibTransId="{605C9F04-7DB6-440C-88A1-2E7BE54ADAA4}"/>
    <dgm:cxn modelId="{0141F932-401F-4281-8223-0BAC3344552C}" type="presOf" srcId="{5CB5B7E0-5813-45EB-A16F-0C69871D6392}" destId="{345C132E-609A-4877-9204-25AA2D440582}" srcOrd="0" destOrd="4" presId="urn:microsoft.com/office/officeart/2018/2/layout/IconLabelDescriptionList"/>
    <dgm:cxn modelId="{E7ECCC33-D3B3-4567-999B-A67529310615}" type="presOf" srcId="{62CA10ED-7D8D-4EDF-B854-54EDC70805FA}" destId="{7E68C814-4E11-47F7-ADB2-3449F8726CF2}" srcOrd="0" destOrd="0" presId="urn:microsoft.com/office/officeart/2018/2/layout/IconLabelDescriptionList"/>
    <dgm:cxn modelId="{FD9DB43B-E8E2-470E-AB75-EE1F8F67A6E5}" srcId="{C8AE1D0D-07FB-412B-8AAF-7208182D7436}" destId="{2B59E818-A001-49E6-858E-6509E3E04539}" srcOrd="6" destOrd="0" parTransId="{C9ECFC5E-6D86-496F-A653-2121F0994E5C}" sibTransId="{5AD45785-2D69-4F27-B41A-BB46FB7AEC61}"/>
    <dgm:cxn modelId="{A3AB8540-7018-4026-B971-D7C2FAD4935B}" srcId="{67BED64E-EFD5-4946-8E5D-AC3EA066263C}" destId="{05A88F52-3127-4604-B86A-2038EA12DB26}" srcOrd="2" destOrd="0" parTransId="{12DC9F8F-F412-469F-BB8C-286B2D393CD4}" sibTransId="{39569CB2-4951-4ACE-9658-B05DFFF4FB9E}"/>
    <dgm:cxn modelId="{979CA25D-EBB7-4C7C-A436-95CC3D1364A0}" srcId="{67BED64E-EFD5-4946-8E5D-AC3EA066263C}" destId="{A3848B92-457F-4C5A-AC9A-5B609A5F1604}" srcOrd="6" destOrd="0" parTransId="{7E04214E-FF81-4F1E-A940-26831E001A1B}" sibTransId="{1F1EF9BB-265B-4A7E-8187-6AAA91689DBB}"/>
    <dgm:cxn modelId="{B0FDFD5D-27AC-4DB8-B2F3-817C761630E3}" type="presOf" srcId="{67A0DB72-DFF6-4B84-857C-B3265CEF3D12}" destId="{7E68C814-4E11-47F7-ADB2-3449F8726CF2}" srcOrd="0" destOrd="1" presId="urn:microsoft.com/office/officeart/2018/2/layout/IconLabelDescriptionList"/>
    <dgm:cxn modelId="{F18B9542-2B3F-43F8-8FAA-35AD458261A3}" srcId="{C8AE1D0D-07FB-412B-8AAF-7208182D7436}" destId="{67A0DB72-DFF6-4B84-857C-B3265CEF3D12}" srcOrd="1" destOrd="0" parTransId="{7B47E174-C37C-4E6A-9FF4-30639497FE5D}" sibTransId="{CBE8882D-4BB8-49CB-AA3B-D6F560E28BE8}"/>
    <dgm:cxn modelId="{98896D45-E6B3-4531-8A80-DCFD56FF44A0}" type="presOf" srcId="{F33F27F5-EDF0-463F-9B38-C4B6383E828D}" destId="{345C132E-609A-4877-9204-25AA2D440582}" srcOrd="0" destOrd="3" presId="urn:microsoft.com/office/officeart/2018/2/layout/IconLabelDescriptionList"/>
    <dgm:cxn modelId="{9135E746-D065-4559-AD5B-E34E5A105E6D}" srcId="{67BED64E-EFD5-4946-8E5D-AC3EA066263C}" destId="{914CD607-B6DE-4E8F-A2C2-7BB6198B83A7}" srcOrd="5" destOrd="0" parTransId="{7F4EC7C6-3AA6-40F7-97E0-BAFC8BC3EFD8}" sibTransId="{7B1A9D96-E18B-41E9-B52E-3E5B4B74FDC5}"/>
    <dgm:cxn modelId="{E686AE67-9006-4C71-AA37-26B4537D5EC9}" srcId="{C8AE1D0D-07FB-412B-8AAF-7208182D7436}" destId="{0B8BE941-C45B-44C6-A381-1120E9710584}" srcOrd="8" destOrd="0" parTransId="{5EEE803A-CB6C-4F4E-B98D-A910DB0D67F3}" sibTransId="{6812411B-C4BE-4E38-B49C-0293A904F92C}"/>
    <dgm:cxn modelId="{965D216B-0F79-4CBB-A7E4-0EB405C0D683}" type="presOf" srcId="{67BED64E-EFD5-4946-8E5D-AC3EA066263C}" destId="{FD0B546E-43CB-4C76-96FC-FE4979BC2922}" srcOrd="0" destOrd="0" presId="urn:microsoft.com/office/officeart/2018/2/layout/IconLabelDescriptionList"/>
    <dgm:cxn modelId="{18F2016D-68B8-46D3-B733-7CA5998A7C17}" type="presOf" srcId="{B0072B2D-108F-41BF-BEB0-A8538EC13CDB}" destId="{7E68C814-4E11-47F7-ADB2-3449F8726CF2}" srcOrd="0" destOrd="7" presId="urn:microsoft.com/office/officeart/2018/2/layout/IconLabelDescriptionList"/>
    <dgm:cxn modelId="{B381E44E-0CE4-4659-BFA8-2CB1578AC570}" srcId="{67BED64E-EFD5-4946-8E5D-AC3EA066263C}" destId="{CA8A102B-E64F-48AD-9B4D-6EDB62F92A8A}" srcOrd="0" destOrd="0" parTransId="{684DCFDD-A289-488D-8D86-5BC6FA850A9B}" sibTransId="{3E65923D-AB83-4EBA-9597-FC32F270618D}"/>
    <dgm:cxn modelId="{10F50A6F-ADB2-4D54-8A23-79776A8CA139}" srcId="{C8AE1D0D-07FB-412B-8AAF-7208182D7436}" destId="{0E85E7A4-DF9D-485A-B05B-F0DEF89AD348}" srcOrd="3" destOrd="0" parTransId="{C8287023-2741-4023-B5A6-72C171D23882}" sibTransId="{EDE71BC9-4742-4B72-9B0B-0F21F3055081}"/>
    <dgm:cxn modelId="{52DA3250-F7BE-4AEC-932A-A662ADB29DDE}" srcId="{67BED64E-EFD5-4946-8E5D-AC3EA066263C}" destId="{C617162A-1BB2-465D-A4B5-FE3567D7EAB9}" srcOrd="7" destOrd="0" parTransId="{D23A2592-D5E0-4D67-AA97-4E8C8E033861}" sibTransId="{65484201-FAE0-4AE8-9A92-574A888609B8}"/>
    <dgm:cxn modelId="{EA4EB052-AA95-4B91-8AE3-6367BA15640B}" type="presOf" srcId="{CCB88C83-DA38-4637-A4AE-4221E07F8064}" destId="{7E68C814-4E11-47F7-ADB2-3449F8726CF2}" srcOrd="0" destOrd="2" presId="urn:microsoft.com/office/officeart/2018/2/layout/IconLabelDescriptionList"/>
    <dgm:cxn modelId="{07525857-1A21-4F39-A5C6-1D6299CB98C7}" srcId="{67BED64E-EFD5-4946-8E5D-AC3EA066263C}" destId="{5CB5B7E0-5813-45EB-A16F-0C69871D6392}" srcOrd="4" destOrd="0" parTransId="{78785E10-44EA-4C20-ACFA-674A502E6DF8}" sibTransId="{035FE53B-027B-4182-9AFD-369FB8A62F7B}"/>
    <dgm:cxn modelId="{3E36EA59-C7C1-427A-A31E-8106C0CF0AAF}" type="presOf" srcId="{C0B266E7-7B7D-4515-956A-052F662E9F76}" destId="{345C132E-609A-4877-9204-25AA2D440582}" srcOrd="0" destOrd="9" presId="urn:microsoft.com/office/officeart/2018/2/layout/IconLabelDescriptionList"/>
    <dgm:cxn modelId="{671A3B7A-6C8A-4847-89D7-6F7909ECA5C5}" srcId="{C8AE1D0D-07FB-412B-8AAF-7208182D7436}" destId="{7F7769CA-97DF-4B55-B16B-C909DF42CD9C}" srcOrd="5" destOrd="0" parTransId="{45BC9A85-AB5E-4B3E-BBC4-4345BE50413C}" sibTransId="{04B07791-93F8-46BE-BE6E-2A31CC84ACE2}"/>
    <dgm:cxn modelId="{E0BF6F7A-0EA5-46B1-B3F0-4806057C60BB}" type="presOf" srcId="{25909639-14E8-4B18-BA3D-7A6B6783C186}" destId="{345C132E-609A-4877-9204-25AA2D440582}" srcOrd="0" destOrd="8" presId="urn:microsoft.com/office/officeart/2018/2/layout/IconLabelDescriptionList"/>
    <dgm:cxn modelId="{5B479F84-FB19-4F7B-97BA-88308D90416D}" type="presOf" srcId="{C617162A-1BB2-465D-A4B5-FE3567D7EAB9}" destId="{345C132E-609A-4877-9204-25AA2D440582}" srcOrd="0" destOrd="7" presId="urn:microsoft.com/office/officeart/2018/2/layout/IconLabelDescriptionList"/>
    <dgm:cxn modelId="{26F10987-8C77-48FC-8501-21809E141814}" type="presOf" srcId="{CA8A102B-E64F-48AD-9B4D-6EDB62F92A8A}" destId="{345C132E-609A-4877-9204-25AA2D440582}" srcOrd="0" destOrd="0" presId="urn:microsoft.com/office/officeart/2018/2/layout/IconLabelDescriptionList"/>
    <dgm:cxn modelId="{50F17E8A-B1BD-4AEA-B03E-DC498801BD5C}" type="presOf" srcId="{3FBF7A28-2E60-4F87-9AE7-C20D94948EE6}" destId="{7E68C814-4E11-47F7-ADB2-3449F8726CF2}" srcOrd="0" destOrd="4" presId="urn:microsoft.com/office/officeart/2018/2/layout/IconLabelDescriptionList"/>
    <dgm:cxn modelId="{F457858D-F1D4-47BA-B82E-72461EA709E6}" srcId="{C8AE1D0D-07FB-412B-8AAF-7208182D7436}" destId="{62CA10ED-7D8D-4EDF-B854-54EDC70805FA}" srcOrd="0" destOrd="0" parTransId="{8B9FFDB3-2DA7-4049-B22C-64F25A425915}" sibTransId="{E0980CFE-9094-43E3-97CF-8C328CA474C1}"/>
    <dgm:cxn modelId="{346C4C8F-2A35-444A-B9D0-D88F3A6F9CDD}" type="presOf" srcId="{7F7769CA-97DF-4B55-B16B-C909DF42CD9C}" destId="{7E68C814-4E11-47F7-ADB2-3449F8726CF2}" srcOrd="0" destOrd="5" presId="urn:microsoft.com/office/officeart/2018/2/layout/IconLabelDescriptionList"/>
    <dgm:cxn modelId="{5A409F91-6C5C-4815-9491-E0621308A363}" srcId="{7393694C-E970-41C1-AC10-78C5226734FA}" destId="{67BED64E-EFD5-4946-8E5D-AC3EA066263C}" srcOrd="1" destOrd="0" parTransId="{669630B7-2BC0-47CF-803F-12068259F72D}" sibTransId="{94048732-47E8-4DA1-AD74-0EEA401B33EB}"/>
    <dgm:cxn modelId="{B84EE095-3969-401E-AC9C-192470ADAB87}" type="presOf" srcId="{C8AE1D0D-07FB-412B-8AAF-7208182D7436}" destId="{777098CC-A978-409C-9B47-900F22708F30}" srcOrd="0" destOrd="0" presId="urn:microsoft.com/office/officeart/2018/2/layout/IconLabelDescriptionList"/>
    <dgm:cxn modelId="{6AC6F4B8-D754-4160-A206-E9311EFAE364}" srcId="{C8AE1D0D-07FB-412B-8AAF-7208182D7436}" destId="{3FBF7A28-2E60-4F87-9AE7-C20D94948EE6}" srcOrd="4" destOrd="0" parTransId="{30C7F227-5306-4734-94CB-7DF5C1987F4F}" sibTransId="{CE6C38CF-3837-4F2F-A396-C4D2174581A9}"/>
    <dgm:cxn modelId="{E07141D1-AC18-4925-AA97-1A66DA592BA7}" type="presOf" srcId="{A3848B92-457F-4C5A-AC9A-5B609A5F1604}" destId="{345C132E-609A-4877-9204-25AA2D440582}" srcOrd="0" destOrd="6" presId="urn:microsoft.com/office/officeart/2018/2/layout/IconLabelDescriptionList"/>
    <dgm:cxn modelId="{F075F8D2-6195-40BD-8C6B-360E8F90C822}" type="presOf" srcId="{49A6C9ED-266D-4D37-84B0-E4E1CECC93A7}" destId="{345C132E-609A-4877-9204-25AA2D440582}" srcOrd="0" destOrd="1" presId="urn:microsoft.com/office/officeart/2018/2/layout/IconLabelDescriptionList"/>
    <dgm:cxn modelId="{ADEACBEC-C68D-49E5-89F5-EB618E016F6D}" srcId="{67BED64E-EFD5-4946-8E5D-AC3EA066263C}" destId="{25909639-14E8-4B18-BA3D-7A6B6783C186}" srcOrd="8" destOrd="0" parTransId="{828F9F77-504F-4D95-AE73-98A39CCE1A03}" sibTransId="{5DF0D041-971F-45B4-85B4-E50F2A632B09}"/>
    <dgm:cxn modelId="{DECC27EF-684B-4226-B57C-328D784BEAAF}" type="presOf" srcId="{05A88F52-3127-4604-B86A-2038EA12DB26}" destId="{345C132E-609A-4877-9204-25AA2D440582}" srcOrd="0" destOrd="2" presId="urn:microsoft.com/office/officeart/2018/2/layout/IconLabelDescriptionList"/>
    <dgm:cxn modelId="{C10B34F0-FC76-4F84-B331-F40B06230F8F}" srcId="{67BED64E-EFD5-4946-8E5D-AC3EA066263C}" destId="{C0B266E7-7B7D-4515-956A-052F662E9F76}" srcOrd="9" destOrd="0" parTransId="{362BE819-B613-4C81-BD05-C5ED1510DAD6}" sibTransId="{AB9E9980-E91C-45DC-A1AC-38120C22274A}"/>
    <dgm:cxn modelId="{0C041CFE-ED45-4734-84EA-4ED7446BC909}" srcId="{C8AE1D0D-07FB-412B-8AAF-7208182D7436}" destId="{B0072B2D-108F-41BF-BEB0-A8538EC13CDB}" srcOrd="7" destOrd="0" parTransId="{4C231B88-EF53-44AB-95D0-452D179BB500}" sibTransId="{0D944A9A-7A63-4147-A7B7-BCA7446F44FF}"/>
    <dgm:cxn modelId="{A185FC60-6EAB-42A0-BD84-9FE7E6789211}" type="presParOf" srcId="{70A637CD-91AB-4AE0-B01A-18E3174006C0}" destId="{13787D8F-5DE4-46F1-B943-74A9A47772D3}" srcOrd="0" destOrd="0" presId="urn:microsoft.com/office/officeart/2018/2/layout/IconLabelDescriptionList"/>
    <dgm:cxn modelId="{E037C583-7973-4E5A-BA9D-7794E90907FB}" type="presParOf" srcId="{13787D8F-5DE4-46F1-B943-74A9A47772D3}" destId="{9236A922-62E1-4A4F-90A0-F6A2CBD56A5C}" srcOrd="0" destOrd="0" presId="urn:microsoft.com/office/officeart/2018/2/layout/IconLabelDescriptionList"/>
    <dgm:cxn modelId="{3A7322D8-5880-4EE4-8882-F7E9CCDE8149}" type="presParOf" srcId="{13787D8F-5DE4-46F1-B943-74A9A47772D3}" destId="{F4AEC855-9811-4987-B561-28EF1CEE2D5B}" srcOrd="1" destOrd="0" presId="urn:microsoft.com/office/officeart/2018/2/layout/IconLabelDescriptionList"/>
    <dgm:cxn modelId="{BA488D41-03A8-498A-A938-304DF5367942}" type="presParOf" srcId="{13787D8F-5DE4-46F1-B943-74A9A47772D3}" destId="{777098CC-A978-409C-9B47-900F22708F30}" srcOrd="2" destOrd="0" presId="urn:microsoft.com/office/officeart/2018/2/layout/IconLabelDescriptionList"/>
    <dgm:cxn modelId="{EE470AAF-E4FD-4E1E-BDA7-C8F97DCFFF44}" type="presParOf" srcId="{13787D8F-5DE4-46F1-B943-74A9A47772D3}" destId="{C8E687CC-C8DD-4FF4-895C-D114CE55268A}" srcOrd="3" destOrd="0" presId="urn:microsoft.com/office/officeart/2018/2/layout/IconLabelDescriptionList"/>
    <dgm:cxn modelId="{A7656501-4015-4718-90D7-325AA6A98AE2}" type="presParOf" srcId="{13787D8F-5DE4-46F1-B943-74A9A47772D3}" destId="{7E68C814-4E11-47F7-ADB2-3449F8726CF2}" srcOrd="4" destOrd="0" presId="urn:microsoft.com/office/officeart/2018/2/layout/IconLabelDescriptionList"/>
    <dgm:cxn modelId="{023DC070-141A-4F0C-A7FC-473C68751437}" type="presParOf" srcId="{70A637CD-91AB-4AE0-B01A-18E3174006C0}" destId="{B2BD7A52-5FE0-43FB-B763-41BBEE9893B9}" srcOrd="1" destOrd="0" presId="urn:microsoft.com/office/officeart/2018/2/layout/IconLabelDescriptionList"/>
    <dgm:cxn modelId="{F8BB66F1-AA0B-4514-8A7B-A0AA32924878}" type="presParOf" srcId="{70A637CD-91AB-4AE0-B01A-18E3174006C0}" destId="{EB15DAE0-ABEE-4222-B91A-D3CF2758C62F}" srcOrd="2" destOrd="0" presId="urn:microsoft.com/office/officeart/2018/2/layout/IconLabelDescriptionList"/>
    <dgm:cxn modelId="{A39008D7-70CD-471B-A8FB-62F85F5FD015}" type="presParOf" srcId="{EB15DAE0-ABEE-4222-B91A-D3CF2758C62F}" destId="{939D082A-0D07-413A-A64D-CFC9720D7F07}" srcOrd="0" destOrd="0" presId="urn:microsoft.com/office/officeart/2018/2/layout/IconLabelDescriptionList"/>
    <dgm:cxn modelId="{962379BD-C09F-42C3-9A1B-5A34767EED1D}" type="presParOf" srcId="{EB15DAE0-ABEE-4222-B91A-D3CF2758C62F}" destId="{F7AC3A18-4D6F-4358-B7FD-DBB78DC8C483}" srcOrd="1" destOrd="0" presId="urn:microsoft.com/office/officeart/2018/2/layout/IconLabelDescriptionList"/>
    <dgm:cxn modelId="{84025BA3-CC3A-4811-8037-9FB2E50452F0}" type="presParOf" srcId="{EB15DAE0-ABEE-4222-B91A-D3CF2758C62F}" destId="{FD0B546E-43CB-4C76-96FC-FE4979BC2922}" srcOrd="2" destOrd="0" presId="urn:microsoft.com/office/officeart/2018/2/layout/IconLabelDescriptionList"/>
    <dgm:cxn modelId="{436EFB2A-5789-4BA2-8748-7D4C2F076F21}" type="presParOf" srcId="{EB15DAE0-ABEE-4222-B91A-D3CF2758C62F}" destId="{E3038E8B-D834-4219-A836-28EFFF7AA7F0}" srcOrd="3" destOrd="0" presId="urn:microsoft.com/office/officeart/2018/2/layout/IconLabelDescriptionList"/>
    <dgm:cxn modelId="{7D6DD668-DBF9-40AF-9194-EC61663C86E4}" type="presParOf" srcId="{EB15DAE0-ABEE-4222-B91A-D3CF2758C62F}" destId="{345C132E-609A-4877-9204-25AA2D44058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20E7E49-B6DD-4C18-950D-DCC596439C00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0CEDD638-311E-4FC8-A013-9078DEB03545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kumimoji="0" lang="en-US" altLang="en-US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Language is rich but ambiguous</a:t>
          </a:r>
          <a:endParaRPr lang="en-AU">
            <a:solidFill>
              <a:schemeClr val="bg1"/>
            </a:solidFill>
          </a:endParaRPr>
        </a:p>
      </dgm:t>
    </dgm:pt>
    <dgm:pt modelId="{3C9AE5A4-F3A7-4D7D-9864-00E11D2A51E0}" type="parTrans" cxnId="{A6C1E85C-84A4-4E65-88EB-A3014A26AFF6}">
      <dgm:prSet/>
      <dgm:spPr/>
      <dgm:t>
        <a:bodyPr/>
        <a:lstStyle/>
        <a:p>
          <a:endParaRPr lang="en-AU"/>
        </a:p>
      </dgm:t>
    </dgm:pt>
    <dgm:pt modelId="{B5742222-AF04-4342-9810-E5816B1995C3}" type="sibTrans" cxnId="{A6C1E85C-84A4-4E65-88EB-A3014A26AFF6}">
      <dgm:prSet/>
      <dgm:spPr/>
      <dgm:t>
        <a:bodyPr/>
        <a:lstStyle/>
        <a:p>
          <a:endParaRPr lang="en-AU"/>
        </a:p>
      </dgm:t>
    </dgm:pt>
    <dgm:pt modelId="{EEA10253-B3A8-4330-863B-A1BA8BB9B50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kumimoji="0" lang="en-US" altLang="en-US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Feature engineering matters more than model complexity</a:t>
          </a:r>
          <a:endParaRPr kumimoji="0" lang="en-US" altLang="en-US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endParaRPr>
        </a:p>
      </dgm:t>
    </dgm:pt>
    <dgm:pt modelId="{678E03F2-307F-4F62-B5F8-0F925FE0F58E}" type="parTrans" cxnId="{FD521D04-EE0E-44A1-A5BA-DDCF1246EA2F}">
      <dgm:prSet/>
      <dgm:spPr/>
      <dgm:t>
        <a:bodyPr/>
        <a:lstStyle/>
        <a:p>
          <a:endParaRPr lang="en-AU"/>
        </a:p>
      </dgm:t>
    </dgm:pt>
    <dgm:pt modelId="{BA98BEDD-D1AF-445D-9805-8F23EC01BD93}" type="sibTrans" cxnId="{FD521D04-EE0E-44A1-A5BA-DDCF1246EA2F}">
      <dgm:prSet/>
      <dgm:spPr/>
      <dgm:t>
        <a:bodyPr/>
        <a:lstStyle/>
        <a:p>
          <a:endParaRPr lang="en-AU"/>
        </a:p>
      </dgm:t>
    </dgm:pt>
    <dgm:pt modelId="{2BCB57DB-2E94-4DBD-AFE7-E50823C21C5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kumimoji="0" lang="en-US" altLang="en-US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Explainability is essential for trust</a:t>
          </a:r>
          <a:endParaRPr kumimoji="0" lang="en-US" altLang="en-US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endParaRPr>
        </a:p>
      </dgm:t>
    </dgm:pt>
    <dgm:pt modelId="{0F999B2C-B416-42DE-8839-8C9439B73B59}" type="parTrans" cxnId="{40B43EE6-050F-4465-AE7E-FD11C94A57DC}">
      <dgm:prSet/>
      <dgm:spPr/>
      <dgm:t>
        <a:bodyPr/>
        <a:lstStyle/>
        <a:p>
          <a:endParaRPr lang="en-AU"/>
        </a:p>
      </dgm:t>
    </dgm:pt>
    <dgm:pt modelId="{D370ECD0-D378-4C5E-AE4B-8E615C41BC3F}" type="sibTrans" cxnId="{40B43EE6-050F-4465-AE7E-FD11C94A57DC}">
      <dgm:prSet/>
      <dgm:spPr/>
      <dgm:t>
        <a:bodyPr/>
        <a:lstStyle/>
        <a:p>
          <a:endParaRPr lang="en-AU"/>
        </a:p>
      </dgm:t>
    </dgm:pt>
    <dgm:pt modelId="{B97798E6-8714-45C4-8E65-C88B7F0EF1E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kumimoji="0" lang="en-US" altLang="en-US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Synthetic data can support rigorous prototyping</a:t>
          </a:r>
          <a:endParaRPr kumimoji="0" lang="en-US" altLang="en-US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endParaRPr>
        </a:p>
      </dgm:t>
    </dgm:pt>
    <dgm:pt modelId="{1ED5425E-EA57-478B-BA3D-39D05C3370F3}" type="parTrans" cxnId="{C9CDFF6E-2EDB-4B4C-9DBC-C0211A9DCADA}">
      <dgm:prSet/>
      <dgm:spPr/>
      <dgm:t>
        <a:bodyPr/>
        <a:lstStyle/>
        <a:p>
          <a:endParaRPr lang="en-AU"/>
        </a:p>
      </dgm:t>
    </dgm:pt>
    <dgm:pt modelId="{20E950EF-EE1F-4390-82BF-56E8310B4F4D}" type="sibTrans" cxnId="{C9CDFF6E-2EDB-4B4C-9DBC-C0211A9DCADA}">
      <dgm:prSet/>
      <dgm:spPr/>
      <dgm:t>
        <a:bodyPr/>
        <a:lstStyle/>
        <a:p>
          <a:endParaRPr lang="en-AU"/>
        </a:p>
      </dgm:t>
    </dgm:pt>
    <dgm:pt modelId="{458FE313-1421-4850-9AF2-CD5DA2B9639B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rPr>
            <a:t>Handcrafted features such as passive voice, hedging, and pronoun usage proved effective in predicting psychological safety, but only when carefully </a:t>
          </a:r>
          <a:r>
            <a:rPr kumimoji="0" lang="en-US" altLang="en-US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</a:rPr>
            <a:t>contextualised</a:t>
          </a: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rPr>
            <a:t>.</a:t>
          </a:r>
          <a:endParaRPr lang="en-AU" dirty="0">
            <a:latin typeface="+mn-lt"/>
          </a:endParaRPr>
        </a:p>
      </dgm:t>
    </dgm:pt>
    <dgm:pt modelId="{30E737C2-B904-4D3E-BC1F-62E92F4A84F5}" type="parTrans" cxnId="{0083A933-2D26-478A-B5FB-DF30124BD61A}">
      <dgm:prSet/>
      <dgm:spPr/>
      <dgm:t>
        <a:bodyPr/>
        <a:lstStyle/>
        <a:p>
          <a:endParaRPr lang="en-AU"/>
        </a:p>
      </dgm:t>
    </dgm:pt>
    <dgm:pt modelId="{3470973B-4F47-4993-812E-9D3D845FAB43}" type="sibTrans" cxnId="{0083A933-2D26-478A-B5FB-DF30124BD61A}">
      <dgm:prSet/>
      <dgm:spPr/>
      <dgm:t>
        <a:bodyPr/>
        <a:lstStyle/>
        <a:p>
          <a:endParaRPr lang="en-AU"/>
        </a:p>
      </dgm:t>
    </dgm:pt>
    <dgm:pt modelId="{4FDBC0CB-BEEA-41C4-9D1B-D3752286C35C}">
      <dgm:prSet/>
      <dgm:spPr/>
      <dgm:t>
        <a:bodyPr/>
        <a:lstStyle/>
        <a:p>
          <a:pPr>
            <a:lnSpc>
              <a:spcPct val="100000"/>
            </a:lnSpc>
          </a:pP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rPr>
            <a:t>The Random Forest model significantly outperformed, TF-IDF logistic regression, not because of algorithmic superiority, but due to (I’d like think) thoughtful, theory-driven feature design. This confirmed the value of domain expertise in AI applications – of which I probably need a lot more</a:t>
          </a:r>
        </a:p>
      </dgm:t>
    </dgm:pt>
    <dgm:pt modelId="{ED7E86C5-EBC1-46DC-956F-D2D87F58D698}" type="parTrans" cxnId="{E2136E83-448A-4B3E-8AC3-5B8F6124D1CC}">
      <dgm:prSet/>
      <dgm:spPr/>
      <dgm:t>
        <a:bodyPr/>
        <a:lstStyle/>
        <a:p>
          <a:endParaRPr lang="en-AU"/>
        </a:p>
      </dgm:t>
    </dgm:pt>
    <dgm:pt modelId="{D3D415BE-A78B-4DFD-8509-7C68A0F097F7}" type="sibTrans" cxnId="{E2136E83-448A-4B3E-8AC3-5B8F6124D1CC}">
      <dgm:prSet/>
      <dgm:spPr/>
      <dgm:t>
        <a:bodyPr/>
        <a:lstStyle/>
        <a:p>
          <a:endParaRPr lang="en-AU"/>
        </a:p>
      </dgm:t>
    </dgm:pt>
    <dgm:pt modelId="{D2878A1A-5175-443B-A7DD-53EC715B8CC4}">
      <dgm:prSet/>
      <dgm:spPr/>
      <dgm:t>
        <a:bodyPr/>
        <a:lstStyle/>
        <a:p>
          <a:pPr>
            <a:lnSpc>
              <a:spcPct val="100000"/>
            </a:lnSpc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rPr>
            <a:t>SHAP and visual tools like word clouds provided transparency into model behaviour.</a:t>
          </a:r>
        </a:p>
      </dgm:t>
    </dgm:pt>
    <dgm:pt modelId="{6AD95D0B-1B2B-4984-9154-ED159F980C64}" type="parTrans" cxnId="{D8DCAD78-B412-4B3D-BEE4-D1E08FDAECFF}">
      <dgm:prSet/>
      <dgm:spPr/>
      <dgm:t>
        <a:bodyPr/>
        <a:lstStyle/>
        <a:p>
          <a:endParaRPr lang="en-AU"/>
        </a:p>
      </dgm:t>
    </dgm:pt>
    <dgm:pt modelId="{B0B3666B-A551-4154-ABD9-C3C5252DDA45}" type="sibTrans" cxnId="{D8DCAD78-B412-4B3D-BEE4-D1E08FDAECFF}">
      <dgm:prSet/>
      <dgm:spPr/>
      <dgm:t>
        <a:bodyPr/>
        <a:lstStyle/>
        <a:p>
          <a:endParaRPr lang="en-AU"/>
        </a:p>
      </dgm:t>
    </dgm:pt>
    <dgm:pt modelId="{E328DD0F-971E-4DDB-A45E-3C683A0B1F5F}">
      <dgm:prSet/>
      <dgm:spPr/>
      <dgm:t>
        <a:bodyPr/>
        <a:lstStyle/>
        <a:p>
          <a:pPr>
            <a:lnSpc>
              <a:spcPct val="100000"/>
            </a:lnSpc>
          </a:pP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rPr>
            <a:t>With privacy constraints in real WHS reporting, the use of well-designed personas and generated incident narratives enabled full pipeline development without compromising ethics.</a:t>
          </a:r>
        </a:p>
      </dgm:t>
    </dgm:pt>
    <dgm:pt modelId="{B37BE916-BAB7-436C-B8CB-5EFE8CD1D583}" type="parTrans" cxnId="{E7B168B6-716E-4DD4-BA6E-264C49C158E8}">
      <dgm:prSet/>
      <dgm:spPr/>
      <dgm:t>
        <a:bodyPr/>
        <a:lstStyle/>
        <a:p>
          <a:endParaRPr lang="en-AU"/>
        </a:p>
      </dgm:t>
    </dgm:pt>
    <dgm:pt modelId="{C60AE66C-2081-496F-A7A8-F6FD020FFEDF}" type="sibTrans" cxnId="{E7B168B6-716E-4DD4-BA6E-264C49C158E8}">
      <dgm:prSet/>
      <dgm:spPr/>
      <dgm:t>
        <a:bodyPr/>
        <a:lstStyle/>
        <a:p>
          <a:endParaRPr lang="en-AU"/>
        </a:p>
      </dgm:t>
    </dgm:pt>
    <dgm:pt modelId="{41501A8F-C412-44C0-B372-D1EC412203B7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AU" dirty="0">
              <a:latin typeface="+mn-lt"/>
            </a:rPr>
            <a:t>Corporate language is domain specific but not noisy. Which made sentiment style analysis difficult and therefore needed a more novel approach.</a:t>
          </a:r>
        </a:p>
      </dgm:t>
    </dgm:pt>
    <dgm:pt modelId="{AECED3BA-1ADA-4005-B418-1B8A72AA5CB0}" type="parTrans" cxnId="{A44D9049-1F26-4BA8-A27E-DDA5C0D9BB1C}">
      <dgm:prSet/>
      <dgm:spPr/>
      <dgm:t>
        <a:bodyPr/>
        <a:lstStyle/>
        <a:p>
          <a:endParaRPr lang="en-AU"/>
        </a:p>
      </dgm:t>
    </dgm:pt>
    <dgm:pt modelId="{ECE65200-2FFE-4842-9450-EB8D24C73DFF}" type="sibTrans" cxnId="{A44D9049-1F26-4BA8-A27E-DDA5C0D9BB1C}">
      <dgm:prSet/>
      <dgm:spPr/>
      <dgm:t>
        <a:bodyPr/>
        <a:lstStyle/>
        <a:p>
          <a:endParaRPr lang="en-AU"/>
        </a:p>
      </dgm:t>
    </dgm:pt>
    <dgm:pt modelId="{8B56260A-E21A-4768-847D-F5F6003A7929}">
      <dgm:prSet/>
      <dgm:spPr/>
      <dgm:t>
        <a:bodyPr/>
        <a:lstStyle/>
        <a:p>
          <a:pPr>
            <a:lnSpc>
              <a:spcPct val="100000"/>
            </a:lnSpc>
          </a:pP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rPr>
            <a:t>This was essential is assessing prototype design. </a:t>
          </a:r>
        </a:p>
      </dgm:t>
    </dgm:pt>
    <dgm:pt modelId="{800CDEB8-8F0F-477A-BAE5-804BEA20041F}" type="parTrans" cxnId="{C386E634-4380-4D10-A1F9-111E81239CB7}">
      <dgm:prSet/>
      <dgm:spPr/>
      <dgm:t>
        <a:bodyPr/>
        <a:lstStyle/>
        <a:p>
          <a:endParaRPr lang="en-AU"/>
        </a:p>
      </dgm:t>
    </dgm:pt>
    <dgm:pt modelId="{EC9477EC-00BD-4BDE-BE3F-478269E6C73F}" type="sibTrans" cxnId="{C386E634-4380-4D10-A1F9-111E81239CB7}">
      <dgm:prSet/>
      <dgm:spPr/>
      <dgm:t>
        <a:bodyPr/>
        <a:lstStyle/>
        <a:p>
          <a:endParaRPr lang="en-AU"/>
        </a:p>
      </dgm:t>
    </dgm:pt>
    <dgm:pt modelId="{4AC8612D-616A-4BC9-835B-48F59370AAB5}">
      <dgm:prSet/>
      <dgm:spPr/>
      <dgm:t>
        <a:bodyPr/>
        <a:lstStyle/>
        <a:p>
          <a:pPr>
            <a:lnSpc>
              <a:spcPct val="100000"/>
            </a:lnSpc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rPr>
            <a:t>Potentially however, these visuals are essential in these types of analysis to make  the insights accessible and meaningful to non-technical stakeholders—a critical factor for projects looking to improve and uplift governance and ensuring ethical and safe AI use.</a:t>
          </a:r>
        </a:p>
      </dgm:t>
    </dgm:pt>
    <dgm:pt modelId="{C211DB4F-12CC-4E7B-8537-D4C7E766D79C}" type="parTrans" cxnId="{C639F8B2-A9A2-4AB8-9709-69C1773A88ED}">
      <dgm:prSet/>
      <dgm:spPr/>
      <dgm:t>
        <a:bodyPr/>
        <a:lstStyle/>
        <a:p>
          <a:endParaRPr lang="en-AU"/>
        </a:p>
      </dgm:t>
    </dgm:pt>
    <dgm:pt modelId="{EF5767B4-2A3B-4A04-A918-E5F63A1F9FAE}" type="sibTrans" cxnId="{C639F8B2-A9A2-4AB8-9709-69C1773A88ED}">
      <dgm:prSet/>
      <dgm:spPr/>
      <dgm:t>
        <a:bodyPr/>
        <a:lstStyle/>
        <a:p>
          <a:endParaRPr lang="en-AU"/>
        </a:p>
      </dgm:t>
    </dgm:pt>
    <dgm:pt modelId="{2F980AB3-6259-47FB-9B4C-2CC93D4657BF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rPr>
            <a:t>Not all tentative language reflects low safety—sometimes it's simply cautious professionalism.</a:t>
          </a:r>
          <a:endParaRPr lang="en-AU" dirty="0">
            <a:latin typeface="+mn-lt"/>
          </a:endParaRPr>
        </a:p>
      </dgm:t>
    </dgm:pt>
    <dgm:pt modelId="{662B1F2E-0C39-47F9-BD0B-8E62B74D3EBA}" type="parTrans" cxnId="{26079267-76CF-48C6-A809-94D56C6BCAB6}">
      <dgm:prSet/>
      <dgm:spPr/>
      <dgm:t>
        <a:bodyPr/>
        <a:lstStyle/>
        <a:p>
          <a:endParaRPr lang="en-AU"/>
        </a:p>
      </dgm:t>
    </dgm:pt>
    <dgm:pt modelId="{B60F572E-91B2-4ED0-93A4-C7932C0BCAB7}" type="sibTrans" cxnId="{26079267-76CF-48C6-A809-94D56C6BCAB6}">
      <dgm:prSet/>
      <dgm:spPr/>
      <dgm:t>
        <a:bodyPr/>
        <a:lstStyle/>
        <a:p>
          <a:endParaRPr lang="en-AU"/>
        </a:p>
      </dgm:t>
    </dgm:pt>
    <dgm:pt modelId="{4A3EB532-9C7C-4C0C-B000-EC9B56CA429E}" type="pres">
      <dgm:prSet presAssocID="{620E7E49-B6DD-4C18-950D-DCC596439C00}" presName="root" presStyleCnt="0">
        <dgm:presLayoutVars>
          <dgm:dir/>
          <dgm:resizeHandles val="exact"/>
        </dgm:presLayoutVars>
      </dgm:prSet>
      <dgm:spPr/>
    </dgm:pt>
    <dgm:pt modelId="{D0FDE992-1C95-4036-91FE-C0C0AC4BA2C0}" type="pres">
      <dgm:prSet presAssocID="{0CEDD638-311E-4FC8-A013-9078DEB03545}" presName="compNode" presStyleCnt="0"/>
      <dgm:spPr/>
    </dgm:pt>
    <dgm:pt modelId="{26EA52FA-B55C-40CE-BD0D-2DE7718AE5A8}" type="pres">
      <dgm:prSet presAssocID="{0CEDD638-311E-4FC8-A013-9078DEB0354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ngue"/>
        </a:ext>
      </dgm:extLst>
    </dgm:pt>
    <dgm:pt modelId="{84100032-F0F0-4462-A89C-3093DA7DE35F}" type="pres">
      <dgm:prSet presAssocID="{0CEDD638-311E-4FC8-A013-9078DEB03545}" presName="iconSpace" presStyleCnt="0"/>
      <dgm:spPr/>
    </dgm:pt>
    <dgm:pt modelId="{645133E8-EB7D-4B45-871C-D7154DD11E26}" type="pres">
      <dgm:prSet presAssocID="{0CEDD638-311E-4FC8-A013-9078DEB03545}" presName="parTx" presStyleLbl="revTx" presStyleIdx="0" presStyleCnt="8">
        <dgm:presLayoutVars>
          <dgm:chMax val="0"/>
          <dgm:chPref val="0"/>
        </dgm:presLayoutVars>
      </dgm:prSet>
      <dgm:spPr/>
    </dgm:pt>
    <dgm:pt modelId="{D4DCD436-430A-4CE1-A2C5-F61D2D0F2925}" type="pres">
      <dgm:prSet presAssocID="{0CEDD638-311E-4FC8-A013-9078DEB03545}" presName="txSpace" presStyleCnt="0"/>
      <dgm:spPr/>
    </dgm:pt>
    <dgm:pt modelId="{82350065-0074-4F6F-9BDA-2969573802F4}" type="pres">
      <dgm:prSet presAssocID="{0CEDD638-311E-4FC8-A013-9078DEB03545}" presName="desTx" presStyleLbl="revTx" presStyleIdx="1" presStyleCnt="8">
        <dgm:presLayoutVars/>
      </dgm:prSet>
      <dgm:spPr/>
    </dgm:pt>
    <dgm:pt modelId="{05434BCD-12E5-4EF1-9F8D-EEC695931452}" type="pres">
      <dgm:prSet presAssocID="{B5742222-AF04-4342-9810-E5816B1995C3}" presName="sibTrans" presStyleCnt="0"/>
      <dgm:spPr/>
    </dgm:pt>
    <dgm:pt modelId="{4D9CC5C4-A375-452E-A42A-E8F4D405B627}" type="pres">
      <dgm:prSet presAssocID="{EEA10253-B3A8-4330-863B-A1BA8BB9B50F}" presName="compNode" presStyleCnt="0"/>
      <dgm:spPr/>
    </dgm:pt>
    <dgm:pt modelId="{0A364F8D-4C51-4DE4-B117-6D9F4C0E5A3D}" type="pres">
      <dgm:prSet presAssocID="{EEA10253-B3A8-4330-863B-A1BA8BB9B50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1F0110B-5475-4118-B80B-385FF93A5F76}" type="pres">
      <dgm:prSet presAssocID="{EEA10253-B3A8-4330-863B-A1BA8BB9B50F}" presName="iconSpace" presStyleCnt="0"/>
      <dgm:spPr/>
    </dgm:pt>
    <dgm:pt modelId="{88E4FFD6-6F11-4E44-8838-7BF46CDDA532}" type="pres">
      <dgm:prSet presAssocID="{EEA10253-B3A8-4330-863B-A1BA8BB9B50F}" presName="parTx" presStyleLbl="revTx" presStyleIdx="2" presStyleCnt="8">
        <dgm:presLayoutVars>
          <dgm:chMax val="0"/>
          <dgm:chPref val="0"/>
        </dgm:presLayoutVars>
      </dgm:prSet>
      <dgm:spPr/>
    </dgm:pt>
    <dgm:pt modelId="{B97A654C-B40B-482A-97FA-6DD5B2481DD2}" type="pres">
      <dgm:prSet presAssocID="{EEA10253-B3A8-4330-863B-A1BA8BB9B50F}" presName="txSpace" presStyleCnt="0"/>
      <dgm:spPr/>
    </dgm:pt>
    <dgm:pt modelId="{62FDFA08-8BAB-4276-B771-5DD2FA678B93}" type="pres">
      <dgm:prSet presAssocID="{EEA10253-B3A8-4330-863B-A1BA8BB9B50F}" presName="desTx" presStyleLbl="revTx" presStyleIdx="3" presStyleCnt="8">
        <dgm:presLayoutVars/>
      </dgm:prSet>
      <dgm:spPr/>
    </dgm:pt>
    <dgm:pt modelId="{72F7F9F0-A4BA-4A2F-89A4-8C4D0109D8CE}" type="pres">
      <dgm:prSet presAssocID="{BA98BEDD-D1AF-445D-9805-8F23EC01BD93}" presName="sibTrans" presStyleCnt="0"/>
      <dgm:spPr/>
    </dgm:pt>
    <dgm:pt modelId="{B78A2114-C615-42CC-BA93-93D7F49372BB}" type="pres">
      <dgm:prSet presAssocID="{2BCB57DB-2E94-4DBD-AFE7-E50823C21C57}" presName="compNode" presStyleCnt="0"/>
      <dgm:spPr/>
    </dgm:pt>
    <dgm:pt modelId="{1613928B-2153-4219-877C-50B83A38C101}" type="pres">
      <dgm:prSet presAssocID="{2BCB57DB-2E94-4DBD-AFE7-E50823C21C5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4431B192-97BB-4995-A09D-04D903E7774D}" type="pres">
      <dgm:prSet presAssocID="{2BCB57DB-2E94-4DBD-AFE7-E50823C21C57}" presName="iconSpace" presStyleCnt="0"/>
      <dgm:spPr/>
    </dgm:pt>
    <dgm:pt modelId="{DD7B4D39-3297-4CB9-BC74-7C31A7C76163}" type="pres">
      <dgm:prSet presAssocID="{2BCB57DB-2E94-4DBD-AFE7-E50823C21C57}" presName="parTx" presStyleLbl="revTx" presStyleIdx="4" presStyleCnt="8">
        <dgm:presLayoutVars>
          <dgm:chMax val="0"/>
          <dgm:chPref val="0"/>
        </dgm:presLayoutVars>
      </dgm:prSet>
      <dgm:spPr/>
    </dgm:pt>
    <dgm:pt modelId="{4F4191E1-FB73-48EB-BE54-4E910468963A}" type="pres">
      <dgm:prSet presAssocID="{2BCB57DB-2E94-4DBD-AFE7-E50823C21C57}" presName="txSpace" presStyleCnt="0"/>
      <dgm:spPr/>
    </dgm:pt>
    <dgm:pt modelId="{8257767A-50D7-4B6C-97C0-D3FD05DF3E3D}" type="pres">
      <dgm:prSet presAssocID="{2BCB57DB-2E94-4DBD-AFE7-E50823C21C57}" presName="desTx" presStyleLbl="revTx" presStyleIdx="5" presStyleCnt="8">
        <dgm:presLayoutVars/>
      </dgm:prSet>
      <dgm:spPr/>
    </dgm:pt>
    <dgm:pt modelId="{AB75EACD-0498-45B6-9D9C-1F1C01B52AAF}" type="pres">
      <dgm:prSet presAssocID="{D370ECD0-D378-4C5E-AE4B-8E615C41BC3F}" presName="sibTrans" presStyleCnt="0"/>
      <dgm:spPr/>
    </dgm:pt>
    <dgm:pt modelId="{38BA4C9A-058C-4398-B462-F4F717C57938}" type="pres">
      <dgm:prSet presAssocID="{B97798E6-8714-45C4-8E65-C88B7F0EF1E9}" presName="compNode" presStyleCnt="0"/>
      <dgm:spPr/>
    </dgm:pt>
    <dgm:pt modelId="{7AF0724E-DFEF-4C04-A575-8574EE5ECC6D}" type="pres">
      <dgm:prSet presAssocID="{B97798E6-8714-45C4-8E65-C88B7F0EF1E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98C9AD5-E2D2-4D2D-AC36-6C8331B084EF}" type="pres">
      <dgm:prSet presAssocID="{B97798E6-8714-45C4-8E65-C88B7F0EF1E9}" presName="iconSpace" presStyleCnt="0"/>
      <dgm:spPr/>
    </dgm:pt>
    <dgm:pt modelId="{ACB3D5E3-9F53-4CB1-8589-F728F7AC2032}" type="pres">
      <dgm:prSet presAssocID="{B97798E6-8714-45C4-8E65-C88B7F0EF1E9}" presName="parTx" presStyleLbl="revTx" presStyleIdx="6" presStyleCnt="8">
        <dgm:presLayoutVars>
          <dgm:chMax val="0"/>
          <dgm:chPref val="0"/>
        </dgm:presLayoutVars>
      </dgm:prSet>
      <dgm:spPr/>
    </dgm:pt>
    <dgm:pt modelId="{45A7739F-FBCB-4114-B551-5B6D46409B9F}" type="pres">
      <dgm:prSet presAssocID="{B97798E6-8714-45C4-8E65-C88B7F0EF1E9}" presName="txSpace" presStyleCnt="0"/>
      <dgm:spPr/>
    </dgm:pt>
    <dgm:pt modelId="{5BFE7E97-8EB9-4E1E-8EA8-6F4A813AC09C}" type="pres">
      <dgm:prSet presAssocID="{B97798E6-8714-45C4-8E65-C88B7F0EF1E9}" presName="desTx" presStyleLbl="revTx" presStyleIdx="7" presStyleCnt="8">
        <dgm:presLayoutVars/>
      </dgm:prSet>
      <dgm:spPr/>
    </dgm:pt>
  </dgm:ptLst>
  <dgm:cxnLst>
    <dgm:cxn modelId="{FD521D04-EE0E-44A1-A5BA-DDCF1246EA2F}" srcId="{620E7E49-B6DD-4C18-950D-DCC596439C00}" destId="{EEA10253-B3A8-4330-863B-A1BA8BB9B50F}" srcOrd="1" destOrd="0" parTransId="{678E03F2-307F-4F62-B5F8-0F925FE0F58E}" sibTransId="{BA98BEDD-D1AF-445D-9805-8F23EC01BD93}"/>
    <dgm:cxn modelId="{6B83D508-CB5A-4653-8C02-0C8D662FF324}" type="presOf" srcId="{620E7E49-B6DD-4C18-950D-DCC596439C00}" destId="{4A3EB532-9C7C-4C0C-B000-EC9B56CA429E}" srcOrd="0" destOrd="0" presId="urn:microsoft.com/office/officeart/2018/2/layout/IconLabelDescriptionList"/>
    <dgm:cxn modelId="{D0BCD013-322B-43AD-A99C-1B502996CDA2}" type="presOf" srcId="{B97798E6-8714-45C4-8E65-C88B7F0EF1E9}" destId="{ACB3D5E3-9F53-4CB1-8589-F728F7AC2032}" srcOrd="0" destOrd="0" presId="urn:microsoft.com/office/officeart/2018/2/layout/IconLabelDescriptionList"/>
    <dgm:cxn modelId="{C6F07F1B-E097-4720-BDA8-DDC1F64CD80F}" type="presOf" srcId="{2BCB57DB-2E94-4DBD-AFE7-E50823C21C57}" destId="{DD7B4D39-3297-4CB9-BC74-7C31A7C76163}" srcOrd="0" destOrd="0" presId="urn:microsoft.com/office/officeart/2018/2/layout/IconLabelDescriptionList"/>
    <dgm:cxn modelId="{E93D3B2A-7659-4179-8D98-8A7F1C041A14}" type="presOf" srcId="{8B56260A-E21A-4768-847D-F5F6003A7929}" destId="{8257767A-50D7-4B6C-97C0-D3FD05DF3E3D}" srcOrd="0" destOrd="1" presId="urn:microsoft.com/office/officeart/2018/2/layout/IconLabelDescriptionList"/>
    <dgm:cxn modelId="{EA3B9D2D-D21E-42E1-B2D3-6C61567CCC47}" type="presOf" srcId="{41501A8F-C412-44C0-B372-D1EC412203B7}" destId="{82350065-0074-4F6F-9BDA-2969573802F4}" srcOrd="0" destOrd="2" presId="urn:microsoft.com/office/officeart/2018/2/layout/IconLabelDescriptionList"/>
    <dgm:cxn modelId="{0083A933-2D26-478A-B5FB-DF30124BD61A}" srcId="{0CEDD638-311E-4FC8-A013-9078DEB03545}" destId="{458FE313-1421-4850-9AF2-CD5DA2B9639B}" srcOrd="0" destOrd="0" parTransId="{30E737C2-B904-4D3E-BC1F-62E92F4A84F5}" sibTransId="{3470973B-4F47-4993-812E-9D3D845FAB43}"/>
    <dgm:cxn modelId="{C386E634-4380-4D10-A1F9-111E81239CB7}" srcId="{2BCB57DB-2E94-4DBD-AFE7-E50823C21C57}" destId="{8B56260A-E21A-4768-847D-F5F6003A7929}" srcOrd="1" destOrd="0" parTransId="{800CDEB8-8F0F-477A-BAE5-804BEA20041F}" sibTransId="{EC9477EC-00BD-4BDE-BE3F-478269E6C73F}"/>
    <dgm:cxn modelId="{FF3D4135-6C45-4A80-91D6-55466FAD904E}" type="presOf" srcId="{458FE313-1421-4850-9AF2-CD5DA2B9639B}" destId="{82350065-0074-4F6F-9BDA-2969573802F4}" srcOrd="0" destOrd="0" presId="urn:microsoft.com/office/officeart/2018/2/layout/IconLabelDescriptionList"/>
    <dgm:cxn modelId="{A6C1E85C-84A4-4E65-88EB-A3014A26AFF6}" srcId="{620E7E49-B6DD-4C18-950D-DCC596439C00}" destId="{0CEDD638-311E-4FC8-A013-9078DEB03545}" srcOrd="0" destOrd="0" parTransId="{3C9AE5A4-F3A7-4D7D-9864-00E11D2A51E0}" sibTransId="{B5742222-AF04-4342-9810-E5816B1995C3}"/>
    <dgm:cxn modelId="{54E17161-885E-449B-BD65-8978F4AAAE41}" type="presOf" srcId="{E328DD0F-971E-4DDB-A45E-3C683A0B1F5F}" destId="{5BFE7E97-8EB9-4E1E-8EA8-6F4A813AC09C}" srcOrd="0" destOrd="0" presId="urn:microsoft.com/office/officeart/2018/2/layout/IconLabelDescriptionList"/>
    <dgm:cxn modelId="{B07BCF61-80D0-4ADB-ABE3-FBD5EF5335E0}" type="presOf" srcId="{4FDBC0CB-BEEA-41C4-9D1B-D3752286C35C}" destId="{62FDFA08-8BAB-4276-B771-5DD2FA678B93}" srcOrd="0" destOrd="0" presId="urn:microsoft.com/office/officeart/2018/2/layout/IconLabelDescriptionList"/>
    <dgm:cxn modelId="{26079267-76CF-48C6-A809-94D56C6BCAB6}" srcId="{0CEDD638-311E-4FC8-A013-9078DEB03545}" destId="{2F980AB3-6259-47FB-9B4C-2CC93D4657BF}" srcOrd="1" destOrd="0" parTransId="{662B1F2E-0C39-47F9-BD0B-8E62B74D3EBA}" sibTransId="{B60F572E-91B2-4ED0-93A4-C7932C0BCAB7}"/>
    <dgm:cxn modelId="{A44D9049-1F26-4BA8-A27E-DDA5C0D9BB1C}" srcId="{0CEDD638-311E-4FC8-A013-9078DEB03545}" destId="{41501A8F-C412-44C0-B372-D1EC412203B7}" srcOrd="2" destOrd="0" parTransId="{AECED3BA-1ADA-4005-B418-1B8A72AA5CB0}" sibTransId="{ECE65200-2FFE-4842-9450-EB8D24C73DFF}"/>
    <dgm:cxn modelId="{03EBC76B-A122-4577-A275-42BF60F934CD}" type="presOf" srcId="{2F980AB3-6259-47FB-9B4C-2CC93D4657BF}" destId="{82350065-0074-4F6F-9BDA-2969573802F4}" srcOrd="0" destOrd="1" presId="urn:microsoft.com/office/officeart/2018/2/layout/IconLabelDescriptionList"/>
    <dgm:cxn modelId="{C9CDFF6E-2EDB-4B4C-9DBC-C0211A9DCADA}" srcId="{620E7E49-B6DD-4C18-950D-DCC596439C00}" destId="{B97798E6-8714-45C4-8E65-C88B7F0EF1E9}" srcOrd="3" destOrd="0" parTransId="{1ED5425E-EA57-478B-BA3D-39D05C3370F3}" sibTransId="{20E950EF-EE1F-4390-82BF-56E8310B4F4D}"/>
    <dgm:cxn modelId="{CA53D474-1876-4B5B-8FA5-A7818A9FAB92}" type="presOf" srcId="{4AC8612D-616A-4BC9-835B-48F59370AAB5}" destId="{8257767A-50D7-4B6C-97C0-D3FD05DF3E3D}" srcOrd="0" destOrd="2" presId="urn:microsoft.com/office/officeart/2018/2/layout/IconLabelDescriptionList"/>
    <dgm:cxn modelId="{D8DCAD78-B412-4B3D-BEE4-D1E08FDAECFF}" srcId="{2BCB57DB-2E94-4DBD-AFE7-E50823C21C57}" destId="{D2878A1A-5175-443B-A7DD-53EC715B8CC4}" srcOrd="0" destOrd="0" parTransId="{6AD95D0B-1B2B-4984-9154-ED159F980C64}" sibTransId="{B0B3666B-A551-4154-ABD9-C3C5252DDA45}"/>
    <dgm:cxn modelId="{E2136E83-448A-4B3E-8AC3-5B8F6124D1CC}" srcId="{EEA10253-B3A8-4330-863B-A1BA8BB9B50F}" destId="{4FDBC0CB-BEEA-41C4-9D1B-D3752286C35C}" srcOrd="0" destOrd="0" parTransId="{ED7E86C5-EBC1-46DC-956F-D2D87F58D698}" sibTransId="{D3D415BE-A78B-4DFD-8509-7C68A0F097F7}"/>
    <dgm:cxn modelId="{8640F288-B581-415D-8F44-5AA53D545222}" type="presOf" srcId="{EEA10253-B3A8-4330-863B-A1BA8BB9B50F}" destId="{88E4FFD6-6F11-4E44-8838-7BF46CDDA532}" srcOrd="0" destOrd="0" presId="urn:microsoft.com/office/officeart/2018/2/layout/IconLabelDescriptionList"/>
    <dgm:cxn modelId="{C639F8B2-A9A2-4AB8-9709-69C1773A88ED}" srcId="{2BCB57DB-2E94-4DBD-AFE7-E50823C21C57}" destId="{4AC8612D-616A-4BC9-835B-48F59370AAB5}" srcOrd="2" destOrd="0" parTransId="{C211DB4F-12CC-4E7B-8537-D4C7E766D79C}" sibTransId="{EF5767B4-2A3B-4A04-A918-E5F63A1F9FAE}"/>
    <dgm:cxn modelId="{42C91AB5-BD8E-4421-A4B9-4E77B792B2D4}" type="presOf" srcId="{0CEDD638-311E-4FC8-A013-9078DEB03545}" destId="{645133E8-EB7D-4B45-871C-D7154DD11E26}" srcOrd="0" destOrd="0" presId="urn:microsoft.com/office/officeart/2018/2/layout/IconLabelDescriptionList"/>
    <dgm:cxn modelId="{E7B168B6-716E-4DD4-BA6E-264C49C158E8}" srcId="{B97798E6-8714-45C4-8E65-C88B7F0EF1E9}" destId="{E328DD0F-971E-4DDB-A45E-3C683A0B1F5F}" srcOrd="0" destOrd="0" parTransId="{B37BE916-BAB7-436C-B8CB-5EFE8CD1D583}" sibTransId="{C60AE66C-2081-496F-A7A8-F6FD020FFEDF}"/>
    <dgm:cxn modelId="{49DC33DA-1C53-4C76-A1B3-1397616A13F8}" type="presOf" srcId="{D2878A1A-5175-443B-A7DD-53EC715B8CC4}" destId="{8257767A-50D7-4B6C-97C0-D3FD05DF3E3D}" srcOrd="0" destOrd="0" presId="urn:microsoft.com/office/officeart/2018/2/layout/IconLabelDescriptionList"/>
    <dgm:cxn modelId="{40B43EE6-050F-4465-AE7E-FD11C94A57DC}" srcId="{620E7E49-B6DD-4C18-950D-DCC596439C00}" destId="{2BCB57DB-2E94-4DBD-AFE7-E50823C21C57}" srcOrd="2" destOrd="0" parTransId="{0F999B2C-B416-42DE-8839-8C9439B73B59}" sibTransId="{D370ECD0-D378-4C5E-AE4B-8E615C41BC3F}"/>
    <dgm:cxn modelId="{0840C41E-5F32-4B91-B66F-1CFD3689C47F}" type="presParOf" srcId="{4A3EB532-9C7C-4C0C-B000-EC9B56CA429E}" destId="{D0FDE992-1C95-4036-91FE-C0C0AC4BA2C0}" srcOrd="0" destOrd="0" presId="urn:microsoft.com/office/officeart/2018/2/layout/IconLabelDescriptionList"/>
    <dgm:cxn modelId="{7AA1128C-4CE0-4A61-8243-C00AEC3368DE}" type="presParOf" srcId="{D0FDE992-1C95-4036-91FE-C0C0AC4BA2C0}" destId="{26EA52FA-B55C-40CE-BD0D-2DE7718AE5A8}" srcOrd="0" destOrd="0" presId="urn:microsoft.com/office/officeart/2018/2/layout/IconLabelDescriptionList"/>
    <dgm:cxn modelId="{330E3425-EAC7-4F64-A5DE-2298E8D9EE38}" type="presParOf" srcId="{D0FDE992-1C95-4036-91FE-C0C0AC4BA2C0}" destId="{84100032-F0F0-4462-A89C-3093DA7DE35F}" srcOrd="1" destOrd="0" presId="urn:microsoft.com/office/officeart/2018/2/layout/IconLabelDescriptionList"/>
    <dgm:cxn modelId="{082CC8C1-360C-4461-A3AF-0FA51E8C8CE9}" type="presParOf" srcId="{D0FDE992-1C95-4036-91FE-C0C0AC4BA2C0}" destId="{645133E8-EB7D-4B45-871C-D7154DD11E26}" srcOrd="2" destOrd="0" presId="urn:microsoft.com/office/officeart/2018/2/layout/IconLabelDescriptionList"/>
    <dgm:cxn modelId="{1386E04B-1F46-4493-B708-67DEF81F4492}" type="presParOf" srcId="{D0FDE992-1C95-4036-91FE-C0C0AC4BA2C0}" destId="{D4DCD436-430A-4CE1-A2C5-F61D2D0F2925}" srcOrd="3" destOrd="0" presId="urn:microsoft.com/office/officeart/2018/2/layout/IconLabelDescriptionList"/>
    <dgm:cxn modelId="{6B006205-24BB-40C1-9183-A9E5ED69578E}" type="presParOf" srcId="{D0FDE992-1C95-4036-91FE-C0C0AC4BA2C0}" destId="{82350065-0074-4F6F-9BDA-2969573802F4}" srcOrd="4" destOrd="0" presId="urn:microsoft.com/office/officeart/2018/2/layout/IconLabelDescriptionList"/>
    <dgm:cxn modelId="{83B3D4E7-95D8-492B-B5F3-C9ABA00EF300}" type="presParOf" srcId="{4A3EB532-9C7C-4C0C-B000-EC9B56CA429E}" destId="{05434BCD-12E5-4EF1-9F8D-EEC695931452}" srcOrd="1" destOrd="0" presId="urn:microsoft.com/office/officeart/2018/2/layout/IconLabelDescriptionList"/>
    <dgm:cxn modelId="{7E06FB06-CBEC-41E0-A6F3-9080F5F88538}" type="presParOf" srcId="{4A3EB532-9C7C-4C0C-B000-EC9B56CA429E}" destId="{4D9CC5C4-A375-452E-A42A-E8F4D405B627}" srcOrd="2" destOrd="0" presId="urn:microsoft.com/office/officeart/2018/2/layout/IconLabelDescriptionList"/>
    <dgm:cxn modelId="{0CBD77AB-2FE0-4A54-B5D5-242F049E54D1}" type="presParOf" srcId="{4D9CC5C4-A375-452E-A42A-E8F4D405B627}" destId="{0A364F8D-4C51-4DE4-B117-6D9F4C0E5A3D}" srcOrd="0" destOrd="0" presId="urn:microsoft.com/office/officeart/2018/2/layout/IconLabelDescriptionList"/>
    <dgm:cxn modelId="{2B3FD76A-97EA-4D09-B97B-065D81BF1B03}" type="presParOf" srcId="{4D9CC5C4-A375-452E-A42A-E8F4D405B627}" destId="{91F0110B-5475-4118-B80B-385FF93A5F76}" srcOrd="1" destOrd="0" presId="urn:microsoft.com/office/officeart/2018/2/layout/IconLabelDescriptionList"/>
    <dgm:cxn modelId="{F41BD579-8F3A-49B3-AFC0-41A485A6D6BE}" type="presParOf" srcId="{4D9CC5C4-A375-452E-A42A-E8F4D405B627}" destId="{88E4FFD6-6F11-4E44-8838-7BF46CDDA532}" srcOrd="2" destOrd="0" presId="urn:microsoft.com/office/officeart/2018/2/layout/IconLabelDescriptionList"/>
    <dgm:cxn modelId="{B3F2960B-3EFA-4C09-A5CD-06D43939002B}" type="presParOf" srcId="{4D9CC5C4-A375-452E-A42A-E8F4D405B627}" destId="{B97A654C-B40B-482A-97FA-6DD5B2481DD2}" srcOrd="3" destOrd="0" presId="urn:microsoft.com/office/officeart/2018/2/layout/IconLabelDescriptionList"/>
    <dgm:cxn modelId="{76D90B1B-2C0D-4B74-B2A3-885AD5A62A2A}" type="presParOf" srcId="{4D9CC5C4-A375-452E-A42A-E8F4D405B627}" destId="{62FDFA08-8BAB-4276-B771-5DD2FA678B93}" srcOrd="4" destOrd="0" presId="urn:microsoft.com/office/officeart/2018/2/layout/IconLabelDescriptionList"/>
    <dgm:cxn modelId="{B5CFE5B2-1C44-4CC6-9240-A927E8E20E9D}" type="presParOf" srcId="{4A3EB532-9C7C-4C0C-B000-EC9B56CA429E}" destId="{72F7F9F0-A4BA-4A2F-89A4-8C4D0109D8CE}" srcOrd="3" destOrd="0" presId="urn:microsoft.com/office/officeart/2018/2/layout/IconLabelDescriptionList"/>
    <dgm:cxn modelId="{06DAF848-EF45-4909-9E17-A3C34F565B4A}" type="presParOf" srcId="{4A3EB532-9C7C-4C0C-B000-EC9B56CA429E}" destId="{B78A2114-C615-42CC-BA93-93D7F49372BB}" srcOrd="4" destOrd="0" presId="urn:microsoft.com/office/officeart/2018/2/layout/IconLabelDescriptionList"/>
    <dgm:cxn modelId="{58062032-B110-404B-8DF7-03BD49A5C828}" type="presParOf" srcId="{B78A2114-C615-42CC-BA93-93D7F49372BB}" destId="{1613928B-2153-4219-877C-50B83A38C101}" srcOrd="0" destOrd="0" presId="urn:microsoft.com/office/officeart/2018/2/layout/IconLabelDescriptionList"/>
    <dgm:cxn modelId="{613A92E9-12F4-4713-970C-67CDEA8F17D6}" type="presParOf" srcId="{B78A2114-C615-42CC-BA93-93D7F49372BB}" destId="{4431B192-97BB-4995-A09D-04D903E7774D}" srcOrd="1" destOrd="0" presId="urn:microsoft.com/office/officeart/2018/2/layout/IconLabelDescriptionList"/>
    <dgm:cxn modelId="{45371626-424A-4191-BE90-6304D13FCFEF}" type="presParOf" srcId="{B78A2114-C615-42CC-BA93-93D7F49372BB}" destId="{DD7B4D39-3297-4CB9-BC74-7C31A7C76163}" srcOrd="2" destOrd="0" presId="urn:microsoft.com/office/officeart/2018/2/layout/IconLabelDescriptionList"/>
    <dgm:cxn modelId="{CED32188-C4DE-4B89-9A1E-44007FC47566}" type="presParOf" srcId="{B78A2114-C615-42CC-BA93-93D7F49372BB}" destId="{4F4191E1-FB73-48EB-BE54-4E910468963A}" srcOrd="3" destOrd="0" presId="urn:microsoft.com/office/officeart/2018/2/layout/IconLabelDescriptionList"/>
    <dgm:cxn modelId="{671531E2-8594-4D81-8B49-1A3342764FC9}" type="presParOf" srcId="{B78A2114-C615-42CC-BA93-93D7F49372BB}" destId="{8257767A-50D7-4B6C-97C0-D3FD05DF3E3D}" srcOrd="4" destOrd="0" presId="urn:microsoft.com/office/officeart/2018/2/layout/IconLabelDescriptionList"/>
    <dgm:cxn modelId="{A1CD10F9-0895-4901-A622-1866BF017491}" type="presParOf" srcId="{4A3EB532-9C7C-4C0C-B000-EC9B56CA429E}" destId="{AB75EACD-0498-45B6-9D9C-1F1C01B52AAF}" srcOrd="5" destOrd="0" presId="urn:microsoft.com/office/officeart/2018/2/layout/IconLabelDescriptionList"/>
    <dgm:cxn modelId="{31D679B7-0413-40D5-8497-CD8E3F2BB1A6}" type="presParOf" srcId="{4A3EB532-9C7C-4C0C-B000-EC9B56CA429E}" destId="{38BA4C9A-058C-4398-B462-F4F717C57938}" srcOrd="6" destOrd="0" presId="urn:microsoft.com/office/officeart/2018/2/layout/IconLabelDescriptionList"/>
    <dgm:cxn modelId="{38C4ADF6-D971-4AC6-9579-29263B3EFF06}" type="presParOf" srcId="{38BA4C9A-058C-4398-B462-F4F717C57938}" destId="{7AF0724E-DFEF-4C04-A575-8574EE5ECC6D}" srcOrd="0" destOrd="0" presId="urn:microsoft.com/office/officeart/2018/2/layout/IconLabelDescriptionList"/>
    <dgm:cxn modelId="{72BA31B4-A560-4E3A-A201-74EA8D2EDE77}" type="presParOf" srcId="{38BA4C9A-058C-4398-B462-F4F717C57938}" destId="{A98C9AD5-E2D2-4D2D-AC36-6C8331B084EF}" srcOrd="1" destOrd="0" presId="urn:microsoft.com/office/officeart/2018/2/layout/IconLabelDescriptionList"/>
    <dgm:cxn modelId="{925B9E4B-3224-4239-83AC-079495970A0B}" type="presParOf" srcId="{38BA4C9A-058C-4398-B462-F4F717C57938}" destId="{ACB3D5E3-9F53-4CB1-8589-F728F7AC2032}" srcOrd="2" destOrd="0" presId="urn:microsoft.com/office/officeart/2018/2/layout/IconLabelDescriptionList"/>
    <dgm:cxn modelId="{6837A45D-B3CD-4E41-88E9-2148D97459BF}" type="presParOf" srcId="{38BA4C9A-058C-4398-B462-F4F717C57938}" destId="{45A7739F-FBCB-4114-B551-5B6D46409B9F}" srcOrd="3" destOrd="0" presId="urn:microsoft.com/office/officeart/2018/2/layout/IconLabelDescriptionList"/>
    <dgm:cxn modelId="{8BA87C54-79D5-40BE-8E0C-F0056EF98E9D}" type="presParOf" srcId="{38BA4C9A-058C-4398-B462-F4F717C57938}" destId="{5BFE7E97-8EB9-4E1E-8EA8-6F4A813AC09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F9EFF3A-E7ED-46CB-9412-CD108A48F0AC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AU"/>
        </a:p>
      </dgm:t>
    </dgm:pt>
    <dgm:pt modelId="{5E2E4369-7268-49C1-BAFD-B146AFC64CA7}">
      <dgm:prSet phldrT="[Text]"/>
      <dgm:spPr/>
      <dgm:t>
        <a:bodyPr/>
        <a:lstStyle/>
        <a:p>
          <a:pPr>
            <a:defRPr b="1"/>
          </a:pPr>
          <a:r>
            <a:rPr kumimoji="0" lang="en-US" altLang="en-US" b="1" i="0" u="none" strike="noStrike" cap="none" normalizeH="0" baseline="0">
              <a:effectLst/>
              <a:latin typeface="Arial" panose="020B0604020202020204" pitchFamily="34" charset="0"/>
            </a:rPr>
            <a:t>Medium safety reports were the most revealing</a:t>
          </a:r>
          <a:endParaRPr lang="en-AU"/>
        </a:p>
      </dgm:t>
    </dgm:pt>
    <dgm:pt modelId="{01EA6BD0-4E2B-4983-AFE9-05C0C7E50691}" type="parTrans" cxnId="{85C59D69-D994-4D45-AF5B-1642FE921B82}">
      <dgm:prSet/>
      <dgm:spPr/>
      <dgm:t>
        <a:bodyPr/>
        <a:lstStyle/>
        <a:p>
          <a:endParaRPr lang="en-AU"/>
        </a:p>
      </dgm:t>
    </dgm:pt>
    <dgm:pt modelId="{490B97FE-B187-466C-B67C-106305D3A6E3}" type="sibTrans" cxnId="{85C59D69-D994-4D45-AF5B-1642FE921B82}">
      <dgm:prSet/>
      <dgm:spPr/>
      <dgm:t>
        <a:bodyPr/>
        <a:lstStyle/>
        <a:p>
          <a:endParaRPr lang="en-AU"/>
        </a:p>
      </dgm:t>
    </dgm:pt>
    <dgm:pt modelId="{BB143E6D-BA00-4664-99BB-022931E0E871}">
      <dgm:prSet/>
      <dgm:spPr/>
      <dgm:t>
        <a:bodyPr/>
        <a:lstStyle/>
        <a:p>
          <a:pPr>
            <a:defRPr b="1"/>
          </a:pPr>
          <a:r>
            <a:rPr kumimoji="0" lang="en-US" altLang="en-US" b="1" i="0" u="none" strike="noStrike" cap="none" normalizeH="0" baseline="0">
              <a:effectLst/>
              <a:latin typeface="Arial" panose="020B0604020202020204" pitchFamily="34" charset="0"/>
            </a:rPr>
            <a:t>Emotion signals often contradicted tone</a:t>
          </a:r>
          <a:endParaRPr kumimoji="0" lang="en-US" altLang="en-US" b="0" i="0" u="none" strike="noStrike" cap="none" normalizeH="0" baseline="0">
            <a:effectLst/>
            <a:latin typeface="Arial" panose="020B0604020202020204" pitchFamily="34" charset="0"/>
          </a:endParaRPr>
        </a:p>
      </dgm:t>
    </dgm:pt>
    <dgm:pt modelId="{A1D7C593-D675-45A0-AAF9-246E9BBC0DEC}" type="parTrans" cxnId="{D9704119-768F-41FD-BBB5-4BD6ABFBE2FA}">
      <dgm:prSet/>
      <dgm:spPr/>
      <dgm:t>
        <a:bodyPr/>
        <a:lstStyle/>
        <a:p>
          <a:endParaRPr lang="en-AU"/>
        </a:p>
      </dgm:t>
    </dgm:pt>
    <dgm:pt modelId="{7B08BCA4-DDA5-4532-B7F0-EA2B85445C04}" type="sibTrans" cxnId="{D9704119-768F-41FD-BBB5-4BD6ABFBE2FA}">
      <dgm:prSet/>
      <dgm:spPr/>
      <dgm:t>
        <a:bodyPr/>
        <a:lstStyle/>
        <a:p>
          <a:endParaRPr lang="en-AU"/>
        </a:p>
      </dgm:t>
    </dgm:pt>
    <dgm:pt modelId="{116A2389-58F7-4A44-967F-F14F756697B5}">
      <dgm:prSet/>
      <dgm:spPr/>
      <dgm:t>
        <a:bodyPr/>
        <a:lstStyle/>
        <a:p>
          <a:pPr>
            <a:defRPr b="1"/>
          </a:pPr>
          <a:r>
            <a:rPr kumimoji="0" lang="en-US" altLang="en-US" b="1" i="0" u="none" strike="noStrike" cap="none" normalizeH="0" baseline="0">
              <a:effectLst/>
              <a:latin typeface="Arial" panose="020B0604020202020204" pitchFamily="34" charset="0"/>
            </a:rPr>
            <a:t>High effort doesn't always mean high safety</a:t>
          </a:r>
          <a:endParaRPr kumimoji="0" lang="en-US" altLang="en-US" b="0" i="0" u="none" strike="noStrike" cap="none" normalizeH="0" baseline="0">
            <a:effectLst/>
            <a:latin typeface="Arial" panose="020B0604020202020204" pitchFamily="34" charset="0"/>
          </a:endParaRPr>
        </a:p>
      </dgm:t>
    </dgm:pt>
    <dgm:pt modelId="{3BD8152A-0663-48FD-BEE2-BA441B4AAEAB}" type="parTrans" cxnId="{3EDE9A26-A5DC-40AB-9516-6D1CEA34A758}">
      <dgm:prSet/>
      <dgm:spPr/>
      <dgm:t>
        <a:bodyPr/>
        <a:lstStyle/>
        <a:p>
          <a:endParaRPr lang="en-AU"/>
        </a:p>
      </dgm:t>
    </dgm:pt>
    <dgm:pt modelId="{68EE6FE1-5EDC-4A51-AA4F-EDA7DAE12B0C}" type="sibTrans" cxnId="{3EDE9A26-A5DC-40AB-9516-6D1CEA34A758}">
      <dgm:prSet/>
      <dgm:spPr/>
      <dgm:t>
        <a:bodyPr/>
        <a:lstStyle/>
        <a:p>
          <a:endParaRPr lang="en-AU"/>
        </a:p>
      </dgm:t>
    </dgm:pt>
    <dgm:pt modelId="{243B149A-C2B2-4639-BA91-41318620F4E5}">
      <dgm:prSet/>
      <dgm:spPr/>
      <dgm:t>
        <a:bodyPr/>
        <a:lstStyle/>
        <a:p>
          <a:r>
            <a:rPr kumimoji="0" lang="en-US" altLang="en-US" b="0" i="0" u="none" strike="noStrike" cap="none" normalizeH="0" baseline="0" dirty="0">
              <a:effectLst/>
              <a:latin typeface="+mj-lt"/>
            </a:rPr>
            <a:t>Surprisingly, some longer reports (noting that the test data was not ‘long’ by definition) were associated with lower psychological safety, especially when filled with procedural language and hedging—suggesting a “cover-your-back” writing style rather than genuine engagement.</a:t>
          </a:r>
        </a:p>
      </dgm:t>
    </dgm:pt>
    <dgm:pt modelId="{E03B0E89-0FDE-4FD6-A4B4-AB347F8F2DFA}" type="parTrans" cxnId="{7BD2D2C9-B0FE-474F-B531-A14EB356125A}">
      <dgm:prSet/>
      <dgm:spPr/>
      <dgm:t>
        <a:bodyPr/>
        <a:lstStyle/>
        <a:p>
          <a:endParaRPr lang="en-AU"/>
        </a:p>
      </dgm:t>
    </dgm:pt>
    <dgm:pt modelId="{274CC6FB-EB26-4B4F-9546-31E0B6682514}" type="sibTrans" cxnId="{7BD2D2C9-B0FE-474F-B531-A14EB356125A}">
      <dgm:prSet/>
      <dgm:spPr/>
      <dgm:t>
        <a:bodyPr/>
        <a:lstStyle/>
        <a:p>
          <a:endParaRPr lang="en-AU"/>
        </a:p>
      </dgm:t>
    </dgm:pt>
    <dgm:pt modelId="{46E1599F-2F6F-4B9D-93B4-316F44C7DCBF}">
      <dgm:prSet/>
      <dgm:spPr/>
      <dgm:t>
        <a:bodyPr/>
        <a:lstStyle/>
        <a:p>
          <a:r>
            <a:rPr kumimoji="0" lang="en-US" altLang="en-US" b="0" i="0" u="none" strike="noStrike" cap="none" normalizeH="0" baseline="0" dirty="0">
              <a:effectLst/>
              <a:latin typeface="+mj-lt"/>
            </a:rPr>
            <a:t>Some reports that appeared “neutral” on the surface contained hidden emotional signals (e.g., fear or guilt) when modelled with </a:t>
          </a:r>
          <a:r>
            <a:rPr kumimoji="0" lang="en-US" altLang="en-US" b="0" i="0" u="none" strike="noStrike" cap="none" normalizeH="0" baseline="0" dirty="0" err="1">
              <a:effectLst/>
              <a:latin typeface="+mj-lt"/>
            </a:rPr>
            <a:t>RoBERTa</a:t>
          </a:r>
          <a:r>
            <a:rPr kumimoji="0" lang="en-US" altLang="en-US" b="0" i="0" u="none" strike="noStrike" cap="none" normalizeH="0" baseline="0" dirty="0">
              <a:effectLst/>
              <a:latin typeface="+mj-lt"/>
            </a:rPr>
            <a:t>. This highlighted the limitations of sentiment analysis and the importance of multi-dimensional emotion detection.</a:t>
          </a:r>
        </a:p>
      </dgm:t>
    </dgm:pt>
    <dgm:pt modelId="{532A50DD-5626-478F-97F8-D068B68957EB}" type="parTrans" cxnId="{AA081ECF-2140-4593-9064-07D91F8EF5E0}">
      <dgm:prSet/>
      <dgm:spPr/>
      <dgm:t>
        <a:bodyPr/>
        <a:lstStyle/>
        <a:p>
          <a:endParaRPr lang="en-AU"/>
        </a:p>
      </dgm:t>
    </dgm:pt>
    <dgm:pt modelId="{805FC444-3CC3-4BA8-ACD9-09DCFDD22275}" type="sibTrans" cxnId="{AA081ECF-2140-4593-9064-07D91F8EF5E0}">
      <dgm:prSet/>
      <dgm:spPr/>
      <dgm:t>
        <a:bodyPr/>
        <a:lstStyle/>
        <a:p>
          <a:endParaRPr lang="en-AU"/>
        </a:p>
      </dgm:t>
    </dgm:pt>
    <dgm:pt modelId="{740B9B40-0E5E-497D-AA3B-63558D7D7186}">
      <dgm:prSet phldrT="[Text]"/>
      <dgm:spPr/>
      <dgm:t>
        <a:bodyPr/>
        <a:lstStyle/>
        <a:p>
          <a:r>
            <a:rPr kumimoji="0" lang="en-US" altLang="en-US" b="0" i="0" u="none" strike="noStrike" cap="none" normalizeH="0" baseline="0" dirty="0">
              <a:effectLst/>
              <a:latin typeface="+mj-lt"/>
            </a:rPr>
            <a:t>Reports classified as “Medium” consistently exhibited subtle forms of defensive or self-protective </a:t>
          </a:r>
          <a:r>
            <a:rPr kumimoji="0" lang="en-US" altLang="en-US" b="0" i="0" u="none" strike="noStrike" cap="none" normalizeH="0" baseline="0" dirty="0" err="1">
              <a:effectLst/>
              <a:latin typeface="+mj-lt"/>
            </a:rPr>
            <a:t>behaviour</a:t>
          </a:r>
          <a:r>
            <a:rPr kumimoji="0" lang="en-US" altLang="en-US" b="0" i="0" u="none" strike="noStrike" cap="none" normalizeH="0" baseline="0" dirty="0">
              <a:effectLst/>
              <a:latin typeface="+mj-lt"/>
            </a:rPr>
            <a:t>—not overt fear or disengagement, but a careful balance of compliance, caution, and hopefulness. This “grey zone” appears to hold key signals of emerging cultural risk.</a:t>
          </a:r>
          <a:endParaRPr lang="en-AU" dirty="0">
            <a:latin typeface="+mj-lt"/>
          </a:endParaRPr>
        </a:p>
      </dgm:t>
    </dgm:pt>
    <dgm:pt modelId="{D5B98E02-AAA2-4FAD-9087-EAA67A0ACBE0}" type="parTrans" cxnId="{6752AB0B-408A-4E35-BEB6-5A49201B0B43}">
      <dgm:prSet/>
      <dgm:spPr/>
      <dgm:t>
        <a:bodyPr/>
        <a:lstStyle/>
        <a:p>
          <a:endParaRPr lang="en-AU"/>
        </a:p>
      </dgm:t>
    </dgm:pt>
    <dgm:pt modelId="{F6F66012-3724-4543-BC95-B5955529491F}" type="sibTrans" cxnId="{6752AB0B-408A-4E35-BEB6-5A49201B0B43}">
      <dgm:prSet/>
      <dgm:spPr/>
      <dgm:t>
        <a:bodyPr/>
        <a:lstStyle/>
        <a:p>
          <a:endParaRPr lang="en-AU"/>
        </a:p>
      </dgm:t>
    </dgm:pt>
    <dgm:pt modelId="{9900501F-8A3C-4DA4-B65F-2B73362EA0DB}" type="pres">
      <dgm:prSet presAssocID="{BF9EFF3A-E7ED-46CB-9412-CD108A48F0AC}" presName="Name0" presStyleCnt="0">
        <dgm:presLayoutVars>
          <dgm:dir/>
          <dgm:animLvl val="lvl"/>
          <dgm:resizeHandles val="exact"/>
        </dgm:presLayoutVars>
      </dgm:prSet>
      <dgm:spPr/>
    </dgm:pt>
    <dgm:pt modelId="{D4DE36F0-63F2-4954-A381-C24575B0DD86}" type="pres">
      <dgm:prSet presAssocID="{5E2E4369-7268-49C1-BAFD-B146AFC64CA7}" presName="composite" presStyleCnt="0"/>
      <dgm:spPr/>
    </dgm:pt>
    <dgm:pt modelId="{FD9AAE27-1D85-45E0-9954-F44DC49067FD}" type="pres">
      <dgm:prSet presAssocID="{5E2E4369-7268-49C1-BAFD-B146AFC64CA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298305E-27E9-4256-AC92-B2DE01184EA5}" type="pres">
      <dgm:prSet presAssocID="{5E2E4369-7268-49C1-BAFD-B146AFC64CA7}" presName="desTx" presStyleLbl="alignAccFollowNode1" presStyleIdx="0" presStyleCnt="3">
        <dgm:presLayoutVars>
          <dgm:bulletEnabled val="1"/>
        </dgm:presLayoutVars>
      </dgm:prSet>
      <dgm:spPr/>
    </dgm:pt>
    <dgm:pt modelId="{68F23DD3-2913-4FAA-A039-A55761FC8E6B}" type="pres">
      <dgm:prSet presAssocID="{490B97FE-B187-466C-B67C-106305D3A6E3}" presName="space" presStyleCnt="0"/>
      <dgm:spPr/>
    </dgm:pt>
    <dgm:pt modelId="{C90221EC-CA85-4C21-9199-77129EBF34C2}" type="pres">
      <dgm:prSet presAssocID="{BB143E6D-BA00-4664-99BB-022931E0E871}" presName="composite" presStyleCnt="0"/>
      <dgm:spPr/>
    </dgm:pt>
    <dgm:pt modelId="{59388729-17D1-41B0-BF40-046857319C20}" type="pres">
      <dgm:prSet presAssocID="{BB143E6D-BA00-4664-99BB-022931E0E87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6E75FC2-4D4D-490E-8E5D-36D58DC96DCC}" type="pres">
      <dgm:prSet presAssocID="{BB143E6D-BA00-4664-99BB-022931E0E871}" presName="desTx" presStyleLbl="alignAccFollowNode1" presStyleIdx="1" presStyleCnt="3">
        <dgm:presLayoutVars>
          <dgm:bulletEnabled val="1"/>
        </dgm:presLayoutVars>
      </dgm:prSet>
      <dgm:spPr/>
    </dgm:pt>
    <dgm:pt modelId="{C5603F69-2CA2-473D-8BC5-014295CEB5F0}" type="pres">
      <dgm:prSet presAssocID="{7B08BCA4-DDA5-4532-B7F0-EA2B85445C04}" presName="space" presStyleCnt="0"/>
      <dgm:spPr/>
    </dgm:pt>
    <dgm:pt modelId="{72546D7A-094E-45B7-878E-09819CFA6373}" type="pres">
      <dgm:prSet presAssocID="{116A2389-58F7-4A44-967F-F14F756697B5}" presName="composite" presStyleCnt="0"/>
      <dgm:spPr/>
    </dgm:pt>
    <dgm:pt modelId="{259E8915-81DC-4474-B2EF-0EAC1FABE30D}" type="pres">
      <dgm:prSet presAssocID="{116A2389-58F7-4A44-967F-F14F756697B5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6E6D7E6-460F-499B-96F3-FC8E7D226EF0}" type="pres">
      <dgm:prSet presAssocID="{116A2389-58F7-4A44-967F-F14F756697B5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6752AB0B-408A-4E35-BEB6-5A49201B0B43}" srcId="{5E2E4369-7268-49C1-BAFD-B146AFC64CA7}" destId="{740B9B40-0E5E-497D-AA3B-63558D7D7186}" srcOrd="0" destOrd="0" parTransId="{D5B98E02-AAA2-4FAD-9087-EAA67A0ACBE0}" sibTransId="{F6F66012-3724-4543-BC95-B5955529491F}"/>
    <dgm:cxn modelId="{D9704119-768F-41FD-BBB5-4BD6ABFBE2FA}" srcId="{BF9EFF3A-E7ED-46CB-9412-CD108A48F0AC}" destId="{BB143E6D-BA00-4664-99BB-022931E0E871}" srcOrd="1" destOrd="0" parTransId="{A1D7C593-D675-45A0-AAF9-246E9BBC0DEC}" sibTransId="{7B08BCA4-DDA5-4532-B7F0-EA2B85445C04}"/>
    <dgm:cxn modelId="{3EDE9A26-A5DC-40AB-9516-6D1CEA34A758}" srcId="{BF9EFF3A-E7ED-46CB-9412-CD108A48F0AC}" destId="{116A2389-58F7-4A44-967F-F14F756697B5}" srcOrd="2" destOrd="0" parTransId="{3BD8152A-0663-48FD-BEE2-BA441B4AAEAB}" sibTransId="{68EE6FE1-5EDC-4A51-AA4F-EDA7DAE12B0C}"/>
    <dgm:cxn modelId="{1480482E-6B35-4A81-A29F-CF8089E6F5E8}" type="presOf" srcId="{740B9B40-0E5E-497D-AA3B-63558D7D7186}" destId="{8298305E-27E9-4256-AC92-B2DE01184EA5}" srcOrd="0" destOrd="0" presId="urn:microsoft.com/office/officeart/2005/8/layout/hList1"/>
    <dgm:cxn modelId="{85C59D69-D994-4D45-AF5B-1642FE921B82}" srcId="{BF9EFF3A-E7ED-46CB-9412-CD108A48F0AC}" destId="{5E2E4369-7268-49C1-BAFD-B146AFC64CA7}" srcOrd="0" destOrd="0" parTransId="{01EA6BD0-4E2B-4983-AFE9-05C0C7E50691}" sibTransId="{490B97FE-B187-466C-B67C-106305D3A6E3}"/>
    <dgm:cxn modelId="{4CAA128B-3078-4EF0-880B-232C958F8419}" type="presOf" srcId="{116A2389-58F7-4A44-967F-F14F756697B5}" destId="{259E8915-81DC-4474-B2EF-0EAC1FABE30D}" srcOrd="0" destOrd="0" presId="urn:microsoft.com/office/officeart/2005/8/layout/hList1"/>
    <dgm:cxn modelId="{18FEA095-21D1-437C-A74E-90EB41B9552B}" type="presOf" srcId="{BB143E6D-BA00-4664-99BB-022931E0E871}" destId="{59388729-17D1-41B0-BF40-046857319C20}" srcOrd="0" destOrd="0" presId="urn:microsoft.com/office/officeart/2005/8/layout/hList1"/>
    <dgm:cxn modelId="{BF1BCA9E-C19B-42A8-9D85-8F959655450C}" type="presOf" srcId="{243B149A-C2B2-4639-BA91-41318620F4E5}" destId="{06E6D7E6-460F-499B-96F3-FC8E7D226EF0}" srcOrd="0" destOrd="0" presId="urn:microsoft.com/office/officeart/2005/8/layout/hList1"/>
    <dgm:cxn modelId="{EB84CEB5-78FD-4591-A5EC-5CC2F8CB04BB}" type="presOf" srcId="{46E1599F-2F6F-4B9D-93B4-316F44C7DCBF}" destId="{D6E75FC2-4D4D-490E-8E5D-36D58DC96DCC}" srcOrd="0" destOrd="0" presId="urn:microsoft.com/office/officeart/2005/8/layout/hList1"/>
    <dgm:cxn modelId="{F3738FB7-2909-4AEF-83AD-EE4BD3EB46F0}" type="presOf" srcId="{5E2E4369-7268-49C1-BAFD-B146AFC64CA7}" destId="{FD9AAE27-1D85-45E0-9954-F44DC49067FD}" srcOrd="0" destOrd="0" presId="urn:microsoft.com/office/officeart/2005/8/layout/hList1"/>
    <dgm:cxn modelId="{D86CE9B8-4D31-4B56-9D28-55DD97D74B17}" type="presOf" srcId="{BF9EFF3A-E7ED-46CB-9412-CD108A48F0AC}" destId="{9900501F-8A3C-4DA4-B65F-2B73362EA0DB}" srcOrd="0" destOrd="0" presId="urn:microsoft.com/office/officeart/2005/8/layout/hList1"/>
    <dgm:cxn modelId="{7BD2D2C9-B0FE-474F-B531-A14EB356125A}" srcId="{116A2389-58F7-4A44-967F-F14F756697B5}" destId="{243B149A-C2B2-4639-BA91-41318620F4E5}" srcOrd="0" destOrd="0" parTransId="{E03B0E89-0FDE-4FD6-A4B4-AB347F8F2DFA}" sibTransId="{274CC6FB-EB26-4B4F-9546-31E0B6682514}"/>
    <dgm:cxn modelId="{AA081ECF-2140-4593-9064-07D91F8EF5E0}" srcId="{BB143E6D-BA00-4664-99BB-022931E0E871}" destId="{46E1599F-2F6F-4B9D-93B4-316F44C7DCBF}" srcOrd="0" destOrd="0" parTransId="{532A50DD-5626-478F-97F8-D068B68957EB}" sibTransId="{805FC444-3CC3-4BA8-ACD9-09DCFDD22275}"/>
    <dgm:cxn modelId="{0D21832D-25C9-44C4-A2D0-68B378A4FA85}" type="presParOf" srcId="{9900501F-8A3C-4DA4-B65F-2B73362EA0DB}" destId="{D4DE36F0-63F2-4954-A381-C24575B0DD86}" srcOrd="0" destOrd="0" presId="urn:microsoft.com/office/officeart/2005/8/layout/hList1"/>
    <dgm:cxn modelId="{EF5AF4E8-89FD-4FAD-8823-7E7FA8BB4BB5}" type="presParOf" srcId="{D4DE36F0-63F2-4954-A381-C24575B0DD86}" destId="{FD9AAE27-1D85-45E0-9954-F44DC49067FD}" srcOrd="0" destOrd="0" presId="urn:microsoft.com/office/officeart/2005/8/layout/hList1"/>
    <dgm:cxn modelId="{11CF4725-064F-400F-B515-7B9E14EDA1E3}" type="presParOf" srcId="{D4DE36F0-63F2-4954-A381-C24575B0DD86}" destId="{8298305E-27E9-4256-AC92-B2DE01184EA5}" srcOrd="1" destOrd="0" presId="urn:microsoft.com/office/officeart/2005/8/layout/hList1"/>
    <dgm:cxn modelId="{CC767AF4-164F-479B-A5D3-7A69283C56D3}" type="presParOf" srcId="{9900501F-8A3C-4DA4-B65F-2B73362EA0DB}" destId="{68F23DD3-2913-4FAA-A039-A55761FC8E6B}" srcOrd="1" destOrd="0" presId="urn:microsoft.com/office/officeart/2005/8/layout/hList1"/>
    <dgm:cxn modelId="{7D265B33-CD70-44EA-86D0-80D00FEAF15C}" type="presParOf" srcId="{9900501F-8A3C-4DA4-B65F-2B73362EA0DB}" destId="{C90221EC-CA85-4C21-9199-77129EBF34C2}" srcOrd="2" destOrd="0" presId="urn:microsoft.com/office/officeart/2005/8/layout/hList1"/>
    <dgm:cxn modelId="{1C508B81-393C-427F-9584-52209ACE0BE6}" type="presParOf" srcId="{C90221EC-CA85-4C21-9199-77129EBF34C2}" destId="{59388729-17D1-41B0-BF40-046857319C20}" srcOrd="0" destOrd="0" presId="urn:microsoft.com/office/officeart/2005/8/layout/hList1"/>
    <dgm:cxn modelId="{F61C80B0-8563-4401-BA89-C35A048B7012}" type="presParOf" srcId="{C90221EC-CA85-4C21-9199-77129EBF34C2}" destId="{D6E75FC2-4D4D-490E-8E5D-36D58DC96DCC}" srcOrd="1" destOrd="0" presId="urn:microsoft.com/office/officeart/2005/8/layout/hList1"/>
    <dgm:cxn modelId="{811A3CD0-04BF-455A-A059-69039639920E}" type="presParOf" srcId="{9900501F-8A3C-4DA4-B65F-2B73362EA0DB}" destId="{C5603F69-2CA2-473D-8BC5-014295CEB5F0}" srcOrd="3" destOrd="0" presId="urn:microsoft.com/office/officeart/2005/8/layout/hList1"/>
    <dgm:cxn modelId="{BB6290B9-BABE-4A41-BB3A-D5EA9C16959F}" type="presParOf" srcId="{9900501F-8A3C-4DA4-B65F-2B73362EA0DB}" destId="{72546D7A-094E-45B7-878E-09819CFA6373}" srcOrd="4" destOrd="0" presId="urn:microsoft.com/office/officeart/2005/8/layout/hList1"/>
    <dgm:cxn modelId="{2FD14F0B-09ED-404C-A565-EF3125D2B7D6}" type="presParOf" srcId="{72546D7A-094E-45B7-878E-09819CFA6373}" destId="{259E8915-81DC-4474-B2EF-0EAC1FABE30D}" srcOrd="0" destOrd="0" presId="urn:microsoft.com/office/officeart/2005/8/layout/hList1"/>
    <dgm:cxn modelId="{2C2A0839-141C-4C26-94C0-364FE1E99C69}" type="presParOf" srcId="{72546D7A-094E-45B7-878E-09819CFA6373}" destId="{06E6D7E6-460F-499B-96F3-FC8E7D226EF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476829-1FD0-4C13-9571-E3C695EC71F2}">
      <dsp:nvSpPr>
        <dsp:cNvPr id="0" name=""/>
        <dsp:cNvSpPr/>
      </dsp:nvSpPr>
      <dsp:spPr>
        <a:xfrm rot="5400000">
          <a:off x="1276125" y="796538"/>
          <a:ext cx="685641" cy="78057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9B7486-DB65-4804-B17E-D4DF90A2F17A}">
      <dsp:nvSpPr>
        <dsp:cNvPr id="0" name=""/>
        <dsp:cNvSpPr/>
      </dsp:nvSpPr>
      <dsp:spPr>
        <a:xfrm>
          <a:off x="1094471" y="36491"/>
          <a:ext cx="1154216" cy="80791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Culture risk and linguistic signals</a:t>
          </a:r>
        </a:p>
      </dsp:txBody>
      <dsp:txXfrm>
        <a:off x="1133917" y="75937"/>
        <a:ext cx="1075324" cy="729021"/>
      </dsp:txXfrm>
    </dsp:sp>
    <dsp:sp modelId="{C66705B4-6A52-4F39-B6C1-28EBA1FB549D}">
      <dsp:nvSpPr>
        <dsp:cNvPr id="0" name=""/>
        <dsp:cNvSpPr/>
      </dsp:nvSpPr>
      <dsp:spPr>
        <a:xfrm>
          <a:off x="2248688" y="113544"/>
          <a:ext cx="839466" cy="652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D343D5-1518-4308-A812-315CC91C90F8}">
      <dsp:nvSpPr>
        <dsp:cNvPr id="0" name=""/>
        <dsp:cNvSpPr/>
      </dsp:nvSpPr>
      <dsp:spPr>
        <a:xfrm rot="5400000">
          <a:off x="2233093" y="1704092"/>
          <a:ext cx="685641" cy="78057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3F8FE4-D65D-486F-A26F-0B5A74E8548E}">
      <dsp:nvSpPr>
        <dsp:cNvPr id="0" name=""/>
        <dsp:cNvSpPr/>
      </dsp:nvSpPr>
      <dsp:spPr>
        <a:xfrm>
          <a:off x="2051439" y="944045"/>
          <a:ext cx="1154216" cy="80791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/>
            <a:t>Designing the model and prototyping phases</a:t>
          </a:r>
          <a:endParaRPr lang="en-US" sz="1100" b="1" kern="1200" dirty="0"/>
        </a:p>
      </dsp:txBody>
      <dsp:txXfrm>
        <a:off x="2090885" y="983491"/>
        <a:ext cx="1075324" cy="729021"/>
      </dsp:txXfrm>
    </dsp:sp>
    <dsp:sp modelId="{9C42DE26-FF04-4AE3-83D7-62E1DA74350E}">
      <dsp:nvSpPr>
        <dsp:cNvPr id="0" name=""/>
        <dsp:cNvSpPr/>
      </dsp:nvSpPr>
      <dsp:spPr>
        <a:xfrm>
          <a:off x="3205656" y="1021098"/>
          <a:ext cx="839466" cy="652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146F33-086C-4771-9861-0FDC4E991B04}">
      <dsp:nvSpPr>
        <dsp:cNvPr id="0" name=""/>
        <dsp:cNvSpPr/>
      </dsp:nvSpPr>
      <dsp:spPr>
        <a:xfrm rot="5400000">
          <a:off x="3190061" y="2611646"/>
          <a:ext cx="685641" cy="78057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0C84BF-3D34-4AC6-B85D-C3B72F54FA71}">
      <dsp:nvSpPr>
        <dsp:cNvPr id="0" name=""/>
        <dsp:cNvSpPr/>
      </dsp:nvSpPr>
      <dsp:spPr>
        <a:xfrm>
          <a:off x="3008407" y="1851599"/>
          <a:ext cx="1154216" cy="80791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Feature engineering</a:t>
          </a:r>
        </a:p>
      </dsp:txBody>
      <dsp:txXfrm>
        <a:off x="3047853" y="1891045"/>
        <a:ext cx="1075324" cy="729021"/>
      </dsp:txXfrm>
    </dsp:sp>
    <dsp:sp modelId="{D314715B-0998-40E4-85F1-983B9F6D0C51}">
      <dsp:nvSpPr>
        <dsp:cNvPr id="0" name=""/>
        <dsp:cNvSpPr/>
      </dsp:nvSpPr>
      <dsp:spPr>
        <a:xfrm>
          <a:off x="4162624" y="1928652"/>
          <a:ext cx="839466" cy="652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A0B5B9-11E5-4664-902E-183C0FBBEF37}">
      <dsp:nvSpPr>
        <dsp:cNvPr id="0" name=""/>
        <dsp:cNvSpPr/>
      </dsp:nvSpPr>
      <dsp:spPr>
        <a:xfrm rot="5400000">
          <a:off x="4147029" y="3519200"/>
          <a:ext cx="685641" cy="78057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463F78-457F-4C9F-AFBB-739547E93E12}">
      <dsp:nvSpPr>
        <dsp:cNvPr id="0" name=""/>
        <dsp:cNvSpPr/>
      </dsp:nvSpPr>
      <dsp:spPr>
        <a:xfrm>
          <a:off x="3965375" y="2759153"/>
          <a:ext cx="1154216" cy="80791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Personas and exemplars</a:t>
          </a:r>
        </a:p>
      </dsp:txBody>
      <dsp:txXfrm>
        <a:off x="4004821" y="2798599"/>
        <a:ext cx="1075324" cy="729021"/>
      </dsp:txXfrm>
    </dsp:sp>
    <dsp:sp modelId="{1EEDDC01-29AE-4913-989F-D47C0864B08F}">
      <dsp:nvSpPr>
        <dsp:cNvPr id="0" name=""/>
        <dsp:cNvSpPr/>
      </dsp:nvSpPr>
      <dsp:spPr>
        <a:xfrm>
          <a:off x="5119592" y="2836206"/>
          <a:ext cx="839466" cy="652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4D37CA-454B-466E-9B43-9C98E2833614}">
      <dsp:nvSpPr>
        <dsp:cNvPr id="0" name=""/>
        <dsp:cNvSpPr/>
      </dsp:nvSpPr>
      <dsp:spPr>
        <a:xfrm rot="5400000">
          <a:off x="5103997" y="4426754"/>
          <a:ext cx="685641" cy="78057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043470-BF68-4F71-8D62-34ECBEF30A4A}">
      <dsp:nvSpPr>
        <dsp:cNvPr id="0" name=""/>
        <dsp:cNvSpPr/>
      </dsp:nvSpPr>
      <dsp:spPr>
        <a:xfrm>
          <a:off x="4922343" y="3666707"/>
          <a:ext cx="1154216" cy="80791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/>
            <a:t>Demonstrating reporting -  culture risk index</a:t>
          </a:r>
        </a:p>
      </dsp:txBody>
      <dsp:txXfrm>
        <a:off x="4961789" y="3706153"/>
        <a:ext cx="1075324" cy="729021"/>
      </dsp:txXfrm>
    </dsp:sp>
    <dsp:sp modelId="{11B3F71F-5DC9-47F5-92B9-D9C13B10F0CA}">
      <dsp:nvSpPr>
        <dsp:cNvPr id="0" name=""/>
        <dsp:cNvSpPr/>
      </dsp:nvSpPr>
      <dsp:spPr>
        <a:xfrm>
          <a:off x="6076560" y="3743760"/>
          <a:ext cx="839466" cy="652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A74AB5-364C-4A4E-8C7E-F5A60D9A42D5}">
      <dsp:nvSpPr>
        <dsp:cNvPr id="0" name=""/>
        <dsp:cNvSpPr/>
      </dsp:nvSpPr>
      <dsp:spPr>
        <a:xfrm>
          <a:off x="5879311" y="4574261"/>
          <a:ext cx="1154216" cy="80791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/>
            <a:t>Post project reflection and insights</a:t>
          </a:r>
          <a:endParaRPr lang="en-US" sz="1100" b="1" kern="1200" dirty="0"/>
        </a:p>
      </dsp:txBody>
      <dsp:txXfrm>
        <a:off x="5918757" y="4613707"/>
        <a:ext cx="1075324" cy="7290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7D21B2-253B-4412-9741-312A59010E8E}">
      <dsp:nvSpPr>
        <dsp:cNvPr id="0" name=""/>
        <dsp:cNvSpPr/>
      </dsp:nvSpPr>
      <dsp:spPr>
        <a:xfrm>
          <a:off x="311379" y="1003922"/>
          <a:ext cx="969328" cy="96932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FFB627-3989-49AD-850C-723CA33A4A0D}">
      <dsp:nvSpPr>
        <dsp:cNvPr id="0" name=""/>
        <dsp:cNvSpPr/>
      </dsp:nvSpPr>
      <dsp:spPr>
        <a:xfrm>
          <a:off x="517957" y="1210500"/>
          <a:ext cx="556171" cy="5561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0D4C31-98D5-41E2-90FD-04AFC4A73EE3}">
      <dsp:nvSpPr>
        <dsp:cNvPr id="0" name=""/>
        <dsp:cNvSpPr/>
      </dsp:nvSpPr>
      <dsp:spPr>
        <a:xfrm>
          <a:off x="1512" y="2275172"/>
          <a:ext cx="1589062" cy="913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baseline="0" dirty="0"/>
            <a:t>Early warning signals TO IMPROVE COMPLIANCE AND MINIMISE ‘RISKY BEHAVIOURS’ AS CONTRIBUTORS OF INCIDENTS</a:t>
          </a:r>
          <a:endParaRPr lang="en-US" sz="1100" b="0" kern="1200" dirty="0"/>
        </a:p>
      </dsp:txBody>
      <dsp:txXfrm>
        <a:off x="1512" y="2275172"/>
        <a:ext cx="1589062" cy="913710"/>
      </dsp:txXfrm>
    </dsp:sp>
    <dsp:sp modelId="{D8AF051B-8940-48F5-A505-DC73C0E395F7}">
      <dsp:nvSpPr>
        <dsp:cNvPr id="0" name=""/>
        <dsp:cNvSpPr/>
      </dsp:nvSpPr>
      <dsp:spPr>
        <a:xfrm>
          <a:off x="2178527" y="1003922"/>
          <a:ext cx="969328" cy="96932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0D7E84-F974-4DDB-AAE1-BE909BCE7FF2}">
      <dsp:nvSpPr>
        <dsp:cNvPr id="0" name=""/>
        <dsp:cNvSpPr/>
      </dsp:nvSpPr>
      <dsp:spPr>
        <a:xfrm>
          <a:off x="2385105" y="1210500"/>
          <a:ext cx="556171" cy="5561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9E9387-19F4-482C-9531-6D9E0C63B46F}">
      <dsp:nvSpPr>
        <dsp:cNvPr id="0" name=""/>
        <dsp:cNvSpPr/>
      </dsp:nvSpPr>
      <dsp:spPr>
        <a:xfrm>
          <a:off x="1868660" y="2275172"/>
          <a:ext cx="1589062" cy="913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 baseline="0" dirty="0"/>
            <a:t>Sharper models and forecasts</a:t>
          </a:r>
          <a:endParaRPr lang="en-US" sz="1100" kern="1200" dirty="0"/>
        </a:p>
      </dsp:txBody>
      <dsp:txXfrm>
        <a:off x="1868660" y="2275172"/>
        <a:ext cx="1589062" cy="913710"/>
      </dsp:txXfrm>
    </dsp:sp>
    <dsp:sp modelId="{BA5F48D7-8AB2-4374-8794-25474B941314}">
      <dsp:nvSpPr>
        <dsp:cNvPr id="0" name=""/>
        <dsp:cNvSpPr/>
      </dsp:nvSpPr>
      <dsp:spPr>
        <a:xfrm>
          <a:off x="4045676" y="1003922"/>
          <a:ext cx="969328" cy="96932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FCD68C-B991-41A8-ACD1-BA883690E935}">
      <dsp:nvSpPr>
        <dsp:cNvPr id="0" name=""/>
        <dsp:cNvSpPr/>
      </dsp:nvSpPr>
      <dsp:spPr>
        <a:xfrm>
          <a:off x="4252254" y="1210500"/>
          <a:ext cx="556171" cy="5561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0B9675-2E67-427F-A967-E3D9E6033E6A}">
      <dsp:nvSpPr>
        <dsp:cNvPr id="0" name=""/>
        <dsp:cNvSpPr/>
      </dsp:nvSpPr>
      <dsp:spPr>
        <a:xfrm>
          <a:off x="3735809" y="2275172"/>
          <a:ext cx="1589062" cy="913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baseline="0" dirty="0"/>
            <a:t>Explainability and storytelling</a:t>
          </a:r>
          <a:endParaRPr lang="en-US" sz="1100" kern="1200" dirty="0"/>
        </a:p>
      </dsp:txBody>
      <dsp:txXfrm>
        <a:off x="3735809" y="2275172"/>
        <a:ext cx="1589062" cy="913710"/>
      </dsp:txXfrm>
    </dsp:sp>
    <dsp:sp modelId="{6706F9A6-A12F-4761-9700-A3DB80850E05}">
      <dsp:nvSpPr>
        <dsp:cNvPr id="0" name=""/>
        <dsp:cNvSpPr/>
      </dsp:nvSpPr>
      <dsp:spPr>
        <a:xfrm>
          <a:off x="5912824" y="1003922"/>
          <a:ext cx="969328" cy="96932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BEDEF5-8AC3-45C3-AB0E-16435F6E9434}">
      <dsp:nvSpPr>
        <dsp:cNvPr id="0" name=""/>
        <dsp:cNvSpPr/>
      </dsp:nvSpPr>
      <dsp:spPr>
        <a:xfrm>
          <a:off x="6119402" y="1210500"/>
          <a:ext cx="556171" cy="5561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DC5E0-E532-4940-9B24-10380D033B4C}">
      <dsp:nvSpPr>
        <dsp:cNvPr id="0" name=""/>
        <dsp:cNvSpPr/>
      </dsp:nvSpPr>
      <dsp:spPr>
        <a:xfrm>
          <a:off x="5602957" y="2275172"/>
          <a:ext cx="1589062" cy="913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BENCHMARKING ACROSS BUSINESS UNITS AND TIME</a:t>
          </a:r>
        </a:p>
      </dsp:txBody>
      <dsp:txXfrm>
        <a:off x="5602957" y="2275172"/>
        <a:ext cx="1589062" cy="913710"/>
      </dsp:txXfrm>
    </dsp:sp>
    <dsp:sp modelId="{B8F073A8-8289-444B-A915-A7318CBE2C7C}">
      <dsp:nvSpPr>
        <dsp:cNvPr id="0" name=""/>
        <dsp:cNvSpPr/>
      </dsp:nvSpPr>
      <dsp:spPr>
        <a:xfrm>
          <a:off x="7779973" y="1003922"/>
          <a:ext cx="969328" cy="96932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345211-CD2F-43A2-870B-D9E269758D95}">
      <dsp:nvSpPr>
        <dsp:cNvPr id="0" name=""/>
        <dsp:cNvSpPr/>
      </dsp:nvSpPr>
      <dsp:spPr>
        <a:xfrm>
          <a:off x="7986551" y="1210500"/>
          <a:ext cx="556171" cy="55617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469F3-F2D4-4BF0-B533-4F664CD31578}">
      <dsp:nvSpPr>
        <dsp:cNvPr id="0" name=""/>
        <dsp:cNvSpPr/>
      </dsp:nvSpPr>
      <dsp:spPr>
        <a:xfrm>
          <a:off x="7470105" y="2275172"/>
          <a:ext cx="1589062" cy="913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TARGETED INVENTIONS</a:t>
          </a:r>
        </a:p>
      </dsp:txBody>
      <dsp:txXfrm>
        <a:off x="7470105" y="2275172"/>
        <a:ext cx="1589062" cy="913710"/>
      </dsp:txXfrm>
    </dsp:sp>
    <dsp:sp modelId="{E3909B8F-35F0-4FFA-BCA0-347A90163FF7}">
      <dsp:nvSpPr>
        <dsp:cNvPr id="0" name=""/>
        <dsp:cNvSpPr/>
      </dsp:nvSpPr>
      <dsp:spPr>
        <a:xfrm>
          <a:off x="9647121" y="1003922"/>
          <a:ext cx="969328" cy="96932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7F2C7E-8BF1-4191-A4FB-E3A348ACA395}">
      <dsp:nvSpPr>
        <dsp:cNvPr id="0" name=""/>
        <dsp:cNvSpPr/>
      </dsp:nvSpPr>
      <dsp:spPr>
        <a:xfrm>
          <a:off x="9853699" y="1210500"/>
          <a:ext cx="556171" cy="55617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A760B-7532-4674-A09A-2B6B53B0BCD9}">
      <dsp:nvSpPr>
        <dsp:cNvPr id="0" name=""/>
        <dsp:cNvSpPr/>
      </dsp:nvSpPr>
      <dsp:spPr>
        <a:xfrm>
          <a:off x="9337254" y="2275172"/>
          <a:ext cx="1589062" cy="913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BRIDGING SOLOS BETWEEN SAFETY, AND OTHER DISCIPLINES</a:t>
          </a:r>
        </a:p>
      </dsp:txBody>
      <dsp:txXfrm>
        <a:off x="9337254" y="2275172"/>
        <a:ext cx="1589062" cy="9137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763B07-B5C2-4C2C-B7EA-300E02BFF0BF}">
      <dsp:nvSpPr>
        <dsp:cNvPr id="0" name=""/>
        <dsp:cNvSpPr/>
      </dsp:nvSpPr>
      <dsp:spPr>
        <a:xfrm>
          <a:off x="1065737" y="448249"/>
          <a:ext cx="1140268" cy="11402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A1D92-9597-4E38-809F-FB9B51096301}">
      <dsp:nvSpPr>
        <dsp:cNvPr id="0" name=""/>
        <dsp:cNvSpPr/>
      </dsp:nvSpPr>
      <dsp:spPr>
        <a:xfrm>
          <a:off x="6916" y="1730258"/>
          <a:ext cx="3257909" cy="488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500" b="1" kern="1200"/>
            <a:t>1. Psychological Safety &amp; Engagement</a:t>
          </a:r>
          <a:endParaRPr lang="en-AU" sz="1500" kern="1200"/>
        </a:p>
      </dsp:txBody>
      <dsp:txXfrm>
        <a:off x="6916" y="1730258"/>
        <a:ext cx="3257909" cy="488686"/>
      </dsp:txXfrm>
    </dsp:sp>
    <dsp:sp modelId="{B0C3CF5F-36E6-477B-867C-24B94CE8B097}">
      <dsp:nvSpPr>
        <dsp:cNvPr id="0" name=""/>
        <dsp:cNvSpPr/>
      </dsp:nvSpPr>
      <dsp:spPr>
        <a:xfrm>
          <a:off x="6916" y="2284871"/>
          <a:ext cx="3257909" cy="1459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Amy Edmondson’s work on psychological safety (Harvard) defines behaviors that signal voice, risk-taking, and trust — which informed terms like </a:t>
          </a:r>
          <a:r>
            <a:rPr lang="en-US" sz="1100" b="0" i="1" kern="1200"/>
            <a:t>"Cautious"</a:t>
          </a:r>
          <a:r>
            <a:rPr lang="en-US" sz="1100" b="0" kern="1200"/>
            <a:t> or </a:t>
          </a:r>
          <a:r>
            <a:rPr lang="en-US" sz="1100" b="0" i="1" kern="1200"/>
            <a:t>"Proactive"</a:t>
          </a:r>
          <a:r>
            <a:rPr lang="en-US" sz="1100" b="0" kern="1200"/>
            <a:t>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Engagement concepts from Kahn (1990) and Maslach &amp; Leiter (1997) describe involvement, ownership, and burnout — leading to labels like </a:t>
          </a:r>
          <a:r>
            <a:rPr lang="en-US" sz="1100" b="0" i="1" kern="1200"/>
            <a:t>“Concerned”</a:t>
          </a:r>
          <a:r>
            <a:rPr lang="en-US" sz="1100" b="0" kern="1200"/>
            <a:t>, </a:t>
          </a:r>
          <a:r>
            <a:rPr lang="en-US" sz="1100" b="0" i="1" kern="1200"/>
            <a:t>“Disengaged”</a:t>
          </a:r>
          <a:r>
            <a:rPr lang="en-US" sz="1100" b="0" kern="1200"/>
            <a:t>, etc</a:t>
          </a:r>
          <a:r>
            <a:rPr lang="en-US" sz="1100" kern="1200"/>
            <a:t>.</a:t>
          </a:r>
        </a:p>
      </dsp:txBody>
      <dsp:txXfrm>
        <a:off x="6916" y="2284871"/>
        <a:ext cx="3257909" cy="1459684"/>
      </dsp:txXfrm>
    </dsp:sp>
    <dsp:sp modelId="{D5468604-D3BD-45DA-8741-EA0E6414E286}">
      <dsp:nvSpPr>
        <dsp:cNvPr id="0" name=""/>
        <dsp:cNvSpPr/>
      </dsp:nvSpPr>
      <dsp:spPr>
        <a:xfrm>
          <a:off x="4893780" y="448249"/>
          <a:ext cx="1140268" cy="11402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2470B1-99E1-4892-8A7D-40D2C335FDC9}">
      <dsp:nvSpPr>
        <dsp:cNvPr id="0" name=""/>
        <dsp:cNvSpPr/>
      </dsp:nvSpPr>
      <dsp:spPr>
        <a:xfrm>
          <a:off x="3834959" y="1730258"/>
          <a:ext cx="3257909" cy="488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1500" b="1" kern="1200"/>
            <a:t>2. Sociolinguistics &amp; Organisational Discourse</a:t>
          </a:r>
        </a:p>
      </dsp:txBody>
      <dsp:txXfrm>
        <a:off x="3834959" y="1730258"/>
        <a:ext cx="3257909" cy="488686"/>
      </dsp:txXfrm>
    </dsp:sp>
    <dsp:sp modelId="{C47786DA-A356-4855-9B2E-252DB41B0294}">
      <dsp:nvSpPr>
        <dsp:cNvPr id="0" name=""/>
        <dsp:cNvSpPr/>
      </dsp:nvSpPr>
      <dsp:spPr>
        <a:xfrm>
          <a:off x="3834959" y="2284871"/>
          <a:ext cx="3257909" cy="1459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Workplace styles draw on </a:t>
          </a:r>
          <a:r>
            <a:rPr lang="en-US" sz="1100" b="0" kern="1200"/>
            <a:t>sociolinguistic analysis </a:t>
          </a:r>
          <a:r>
            <a:rPr lang="en-US" sz="1100" kern="1200"/>
            <a:t>of workplace communication (Holmes &amp; Marra 2011, Gee 1999).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Terms like </a:t>
          </a:r>
          <a:r>
            <a:rPr lang="en-US" sz="1100" b="1" kern="1200"/>
            <a:t>“</a:t>
          </a:r>
          <a:r>
            <a:rPr lang="en-US" sz="1100" b="0" i="1" kern="1200"/>
            <a:t>Complier</a:t>
          </a:r>
          <a:r>
            <a:rPr lang="en-US" sz="1100" b="1" kern="1200"/>
            <a:t>,” “</a:t>
          </a:r>
          <a:r>
            <a:rPr lang="en-US" sz="1100" b="0" i="1" kern="1200"/>
            <a:t>Fixer</a:t>
          </a:r>
          <a:r>
            <a:rPr lang="en-US" sz="1100" b="1" kern="1200"/>
            <a:t>,” “</a:t>
          </a:r>
          <a:r>
            <a:rPr lang="en-US" sz="1100" b="0" i="1" kern="1200"/>
            <a:t>Champion</a:t>
          </a:r>
          <a:r>
            <a:rPr lang="en-US" sz="1100" b="1" kern="1200"/>
            <a:t>”</a:t>
          </a:r>
          <a:r>
            <a:rPr lang="en-US" sz="1100" kern="1200"/>
            <a:t> emerge from ethnographic descriptions of how people “talk safety” in different roles.</a:t>
          </a:r>
        </a:p>
      </dsp:txBody>
      <dsp:txXfrm>
        <a:off x="3834959" y="2284871"/>
        <a:ext cx="3257909" cy="1459684"/>
      </dsp:txXfrm>
    </dsp:sp>
    <dsp:sp modelId="{4E41C492-A9F6-4477-B692-26591F9F8DA7}">
      <dsp:nvSpPr>
        <dsp:cNvPr id="0" name=""/>
        <dsp:cNvSpPr/>
      </dsp:nvSpPr>
      <dsp:spPr>
        <a:xfrm>
          <a:off x="8721823" y="448249"/>
          <a:ext cx="1140268" cy="11402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10895-AC98-4785-AD6D-A615FC84A9BE}">
      <dsp:nvSpPr>
        <dsp:cNvPr id="0" name=""/>
        <dsp:cNvSpPr/>
      </dsp:nvSpPr>
      <dsp:spPr>
        <a:xfrm>
          <a:off x="7663003" y="1730258"/>
          <a:ext cx="3257909" cy="488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1500" b="1" kern="1200"/>
            <a:t>3. Practice-Driven Persona Modelling (UX design)</a:t>
          </a:r>
        </a:p>
      </dsp:txBody>
      <dsp:txXfrm>
        <a:off x="7663003" y="1730258"/>
        <a:ext cx="3257909" cy="488686"/>
      </dsp:txXfrm>
    </dsp:sp>
    <dsp:sp modelId="{A93AE8AB-096C-4521-ADA5-F9578EAFFE2A}">
      <dsp:nvSpPr>
        <dsp:cNvPr id="0" name=""/>
        <dsp:cNvSpPr/>
      </dsp:nvSpPr>
      <dsp:spPr>
        <a:xfrm>
          <a:off x="7663003" y="2284871"/>
          <a:ext cx="3257909" cy="1459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Similar to UX design, in this case I apply behavioral labels that capture motivations + communication style.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Used heavily in safety culture training, healthcare team simulations, and even nudge-based risk design (e.g. UK Behavioural Insights Team).</a:t>
          </a:r>
        </a:p>
      </dsp:txBody>
      <dsp:txXfrm>
        <a:off x="7663003" y="2284871"/>
        <a:ext cx="3257909" cy="14596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4DE2A3-6275-4EEF-A025-CD1B1565B8AB}">
      <dsp:nvSpPr>
        <dsp:cNvPr id="0" name=""/>
        <dsp:cNvSpPr/>
      </dsp:nvSpPr>
      <dsp:spPr>
        <a:xfrm>
          <a:off x="3201" y="445489"/>
          <a:ext cx="2539866" cy="152391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/>
            <a:t>Formal tone masks emotional cues in corporate reports</a:t>
          </a:r>
          <a:endParaRPr lang="en-AU" sz="2000" kern="1200"/>
        </a:p>
      </dsp:txBody>
      <dsp:txXfrm>
        <a:off x="3201" y="445489"/>
        <a:ext cx="2539866" cy="1523919"/>
      </dsp:txXfrm>
    </dsp:sp>
    <dsp:sp modelId="{24A87844-B9A8-4663-8737-ED03FD55C0B8}">
      <dsp:nvSpPr>
        <dsp:cNvPr id="0" name=""/>
        <dsp:cNvSpPr/>
      </dsp:nvSpPr>
      <dsp:spPr>
        <a:xfrm>
          <a:off x="2797054" y="445489"/>
          <a:ext cx="2539866" cy="1523919"/>
        </a:xfrm>
        <a:prstGeom prst="rect">
          <a:avLst/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000" b="1" kern="1200"/>
            <a:t>Vagueness and avoidance is the norm</a:t>
          </a:r>
        </a:p>
      </dsp:txBody>
      <dsp:txXfrm>
        <a:off x="2797054" y="445489"/>
        <a:ext cx="2539866" cy="1523919"/>
      </dsp:txXfrm>
    </dsp:sp>
    <dsp:sp modelId="{D946D6D0-E48C-42FB-BF82-DF214A510DA1}">
      <dsp:nvSpPr>
        <dsp:cNvPr id="0" name=""/>
        <dsp:cNvSpPr/>
      </dsp:nvSpPr>
      <dsp:spPr>
        <a:xfrm>
          <a:off x="5590907" y="445489"/>
          <a:ext cx="2539866" cy="1523919"/>
        </a:xfrm>
        <a:prstGeom prst="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000" b="1" kern="1200"/>
            <a:t>Low variance in language makes feature extraction tricky</a:t>
          </a:r>
        </a:p>
      </dsp:txBody>
      <dsp:txXfrm>
        <a:off x="5590907" y="445489"/>
        <a:ext cx="2539866" cy="1523919"/>
      </dsp:txXfrm>
    </dsp:sp>
    <dsp:sp modelId="{A52B7DF2-3112-4B6C-932C-88BAD3A99F86}">
      <dsp:nvSpPr>
        <dsp:cNvPr id="0" name=""/>
        <dsp:cNvSpPr/>
      </dsp:nvSpPr>
      <dsp:spPr>
        <a:xfrm>
          <a:off x="8384760" y="445489"/>
          <a:ext cx="2539866" cy="1523919"/>
        </a:xfrm>
        <a:prstGeom prst="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1" kern="1200" dirty="0"/>
            <a:t>Ambiguity between engagement and safety</a:t>
          </a:r>
        </a:p>
      </dsp:txBody>
      <dsp:txXfrm>
        <a:off x="8384760" y="445489"/>
        <a:ext cx="2539866" cy="1523919"/>
      </dsp:txXfrm>
    </dsp:sp>
    <dsp:sp modelId="{932163C2-A46F-42BA-9AB5-7893A0B3D550}">
      <dsp:nvSpPr>
        <dsp:cNvPr id="0" name=""/>
        <dsp:cNvSpPr/>
      </dsp:nvSpPr>
      <dsp:spPr>
        <a:xfrm>
          <a:off x="1400128" y="2223395"/>
          <a:ext cx="2539866" cy="1523919"/>
        </a:xfrm>
        <a:prstGeom prst="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1" kern="1200"/>
            <a:t>Lack of labelled data</a:t>
          </a:r>
        </a:p>
      </dsp:txBody>
      <dsp:txXfrm>
        <a:off x="1400128" y="2223395"/>
        <a:ext cx="2539866" cy="1523919"/>
      </dsp:txXfrm>
    </dsp:sp>
    <dsp:sp modelId="{33DF0A14-2F21-4DEE-BBB7-E445EAF7E538}">
      <dsp:nvSpPr>
        <dsp:cNvPr id="0" name=""/>
        <dsp:cNvSpPr/>
      </dsp:nvSpPr>
      <dsp:spPr>
        <a:xfrm>
          <a:off x="4193981" y="2223395"/>
          <a:ext cx="2539866" cy="1523919"/>
        </a:xfrm>
        <a:prstGeom prst="rect">
          <a:avLst/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1" kern="1200"/>
            <a:t>Generally, models and pipelines are pretrained on casual or news language</a:t>
          </a:r>
        </a:p>
      </dsp:txBody>
      <dsp:txXfrm>
        <a:off x="4193981" y="2223395"/>
        <a:ext cx="2539866" cy="1523919"/>
      </dsp:txXfrm>
    </dsp:sp>
    <dsp:sp modelId="{EE1129E9-9B0C-4B22-A011-53CB9E5C917D}">
      <dsp:nvSpPr>
        <dsp:cNvPr id="0" name=""/>
        <dsp:cNvSpPr/>
      </dsp:nvSpPr>
      <dsp:spPr>
        <a:xfrm>
          <a:off x="6987834" y="2223395"/>
          <a:ext cx="2539866" cy="1523919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1" kern="1200"/>
            <a:t>Industry-specific jargon requires custom glossaries</a:t>
          </a:r>
        </a:p>
      </dsp:txBody>
      <dsp:txXfrm>
        <a:off x="6987834" y="2223395"/>
        <a:ext cx="2539866" cy="15239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831277-08BC-43C0-AF66-F26B815985EC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21CD9A-7188-4AEF-A292-70FCB2A580CD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Synthetic data design and creation</a:t>
          </a:r>
        </a:p>
      </dsp:txBody>
      <dsp:txXfrm>
        <a:off x="100682" y="2427484"/>
        <a:ext cx="2370489" cy="720000"/>
      </dsp:txXfrm>
    </dsp:sp>
    <dsp:sp modelId="{27FDD5AD-97B4-4B29-8C8F-469B4C8DB80D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1C579F-B040-4DAE-AA9B-911A4F077711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 dirty="0"/>
            <a:t>Feature Engineering</a:t>
          </a:r>
        </a:p>
      </dsp:txBody>
      <dsp:txXfrm>
        <a:off x="2886007" y="2427484"/>
        <a:ext cx="2370489" cy="720000"/>
      </dsp:txXfrm>
    </dsp:sp>
    <dsp:sp modelId="{70EF3571-2FC5-48DF-8EFB-DD9BEA5F6F73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242E16-FFCC-441F-A23C-47C8FA34D7D2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Modelling and evaluation </a:t>
          </a:r>
        </a:p>
      </dsp:txBody>
      <dsp:txXfrm>
        <a:off x="5671332" y="2427484"/>
        <a:ext cx="2370489" cy="720000"/>
      </dsp:txXfrm>
    </dsp:sp>
    <dsp:sp modelId="{7560FC33-3F41-43D2-A408-90F4FBED2D1B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0E18AB-AA60-459A-862C-7B0AAA36F5CB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Refinement Loop</a:t>
          </a:r>
        </a:p>
      </dsp:txBody>
      <dsp:txXfrm>
        <a:off x="8456657" y="2427484"/>
        <a:ext cx="2370489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793871-DD44-4749-897A-1946FF8C7707}">
      <dsp:nvSpPr>
        <dsp:cNvPr id="0" name=""/>
        <dsp:cNvSpPr/>
      </dsp:nvSpPr>
      <dsp:spPr>
        <a:xfrm>
          <a:off x="2173131" y="83631"/>
          <a:ext cx="1510523" cy="12076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D6B5B4-6C33-438A-8B6C-2EE362A53E9F}">
      <dsp:nvSpPr>
        <dsp:cNvPr id="0" name=""/>
        <dsp:cNvSpPr/>
      </dsp:nvSpPr>
      <dsp:spPr>
        <a:xfrm>
          <a:off x="770502" y="1435459"/>
          <a:ext cx="4315781" cy="517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1600" kern="1200"/>
            <a:t>Synthetic data design and creation</a:t>
          </a:r>
        </a:p>
      </dsp:txBody>
      <dsp:txXfrm>
        <a:off x="770502" y="1435459"/>
        <a:ext cx="4315781" cy="517578"/>
      </dsp:txXfrm>
    </dsp:sp>
    <dsp:sp modelId="{5709E550-2421-4D53-82E0-F1FA9D1B3048}">
      <dsp:nvSpPr>
        <dsp:cNvPr id="0" name=""/>
        <dsp:cNvSpPr/>
      </dsp:nvSpPr>
      <dsp:spPr>
        <a:xfrm>
          <a:off x="770502" y="2020082"/>
          <a:ext cx="4315781" cy="2089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b="0" kern="1200"/>
            <a:t>Why: To overcome confidentiality and access limitations with real WHS data.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b="0" kern="1200"/>
            <a:t>Templates with WHS structure: </a:t>
          </a:r>
          <a:r>
            <a:rPr lang="en-AU" sz="1200" b="0" i="1" kern="1200"/>
            <a:t>incident description</a:t>
          </a:r>
          <a:r>
            <a:rPr lang="en-AU" sz="1200" b="0" kern="1200"/>
            <a:t>, </a:t>
          </a:r>
          <a:r>
            <a:rPr lang="en-AU" sz="1200" b="0" i="1" kern="1200"/>
            <a:t>corrective action</a:t>
          </a:r>
          <a:r>
            <a:rPr lang="en-AU" sz="1200" b="0" kern="1200"/>
            <a:t>, </a:t>
          </a:r>
          <a:r>
            <a:rPr lang="en-AU" sz="1200" b="0" i="1" kern="1200"/>
            <a:t>location/team and other data</a:t>
          </a:r>
          <a:endParaRPr lang="en-AU" sz="1200" b="0" kern="120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/>
            <a:t>Injected tone and variation using linguistic rules and TOOCS-aligned OHS terminology </a:t>
          </a:r>
          <a:br>
            <a:rPr lang="en-US" sz="1200" b="0" kern="1200"/>
          </a:br>
          <a:r>
            <a:rPr lang="en-US" sz="1200" b="0" kern="1200"/>
            <a:t>aligned language with behavioral science terminology (ie modal verbs etc)</a:t>
          </a:r>
          <a:endParaRPr lang="en-AU" sz="1200" b="0" kern="120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b="1" kern="1200"/>
            <a:t>Result</a:t>
          </a:r>
          <a:r>
            <a:rPr lang="en-AU" sz="1200" b="0" kern="1200"/>
            <a:t>: 500 labelled records with embedded psychological safety, engagement, emotion and action quality traits.</a:t>
          </a:r>
        </a:p>
      </dsp:txBody>
      <dsp:txXfrm>
        <a:off x="770502" y="2020082"/>
        <a:ext cx="4315781" cy="2089090"/>
      </dsp:txXfrm>
    </dsp:sp>
    <dsp:sp modelId="{04DA8161-BBD5-43E1-8F64-836568813B7E}">
      <dsp:nvSpPr>
        <dsp:cNvPr id="0" name=""/>
        <dsp:cNvSpPr/>
      </dsp:nvSpPr>
      <dsp:spPr>
        <a:xfrm>
          <a:off x="7244174" y="83631"/>
          <a:ext cx="1510523" cy="12076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8B2794-81C0-41DD-8A4D-579A3911BD40}">
      <dsp:nvSpPr>
        <dsp:cNvPr id="0" name=""/>
        <dsp:cNvSpPr/>
      </dsp:nvSpPr>
      <dsp:spPr>
        <a:xfrm>
          <a:off x="5841545" y="1435459"/>
          <a:ext cx="4315781" cy="517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1600" kern="1200"/>
            <a:t>Build and trained exemplars for training and allocation</a:t>
          </a:r>
        </a:p>
      </dsp:txBody>
      <dsp:txXfrm>
        <a:off x="5841545" y="1435459"/>
        <a:ext cx="4315781" cy="517578"/>
      </dsp:txXfrm>
    </dsp:sp>
    <dsp:sp modelId="{98802D8A-E26C-448F-AF80-A3F22747ECB7}">
      <dsp:nvSpPr>
        <dsp:cNvPr id="0" name=""/>
        <dsp:cNvSpPr/>
      </dsp:nvSpPr>
      <dsp:spPr>
        <a:xfrm>
          <a:off x="5841545" y="2020082"/>
          <a:ext cx="4315781" cy="2089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Why: To ground the model in real world reasoning needed a library of annotated exemplar texts.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Purpose: To act as semantic anchors for similarity-based scoring (LM and RoBERTa)</a:t>
          </a:r>
          <a:br>
            <a:rPr lang="en-AU" sz="1200" kern="1200"/>
          </a:br>
          <a:r>
            <a:rPr lang="en-AU" sz="1200" kern="1200"/>
            <a:t>Support ‘human-in-the-loop calibration’ and bias testing</a:t>
          </a:r>
          <a:br>
            <a:rPr lang="en-AU" sz="1200" kern="1200"/>
          </a:br>
          <a:r>
            <a:rPr lang="en-AU" sz="1200" kern="1200"/>
            <a:t>Served as ground truth for SHAP interpretation</a:t>
          </a:r>
        </a:p>
      </dsp:txBody>
      <dsp:txXfrm>
        <a:off x="5841545" y="2020082"/>
        <a:ext cx="4315781" cy="208909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BF980D-4A47-45A7-A92E-665C080ECC28}">
      <dsp:nvSpPr>
        <dsp:cNvPr id="0" name=""/>
        <dsp:cNvSpPr/>
      </dsp:nvSpPr>
      <dsp:spPr>
        <a:xfrm>
          <a:off x="746064" y="224666"/>
          <a:ext cx="796565" cy="7965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6AB98D-88A8-48B4-BAE0-650202048047}">
      <dsp:nvSpPr>
        <dsp:cNvPr id="0" name=""/>
        <dsp:cNvSpPr/>
      </dsp:nvSpPr>
      <dsp:spPr>
        <a:xfrm>
          <a:off x="6397" y="1207445"/>
          <a:ext cx="2275900" cy="341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1500" kern="1200"/>
            <a:t>Feature Engineering</a:t>
          </a:r>
        </a:p>
      </dsp:txBody>
      <dsp:txXfrm>
        <a:off x="6397" y="1207445"/>
        <a:ext cx="2275900" cy="341385"/>
      </dsp:txXfrm>
    </dsp:sp>
    <dsp:sp modelId="{18F4FA6D-F936-4FE2-BE4C-6DC2A2C5BA9B}">
      <dsp:nvSpPr>
        <dsp:cNvPr id="0" name=""/>
        <dsp:cNvSpPr/>
      </dsp:nvSpPr>
      <dsp:spPr>
        <a:xfrm>
          <a:off x="6397" y="1635441"/>
          <a:ext cx="2275900" cy="2919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/>
            <a:t>What</a:t>
          </a:r>
          <a:r>
            <a:rPr lang="en-AU" sz="1100" kern="1200" dirty="0"/>
            <a:t>: Engineered behavioural and linguistic signals drawing from safety and hazard models, psychology and sociolinguistics.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/>
            <a:t>Core features</a:t>
          </a:r>
          <a:r>
            <a:rPr lang="en-AU" sz="1100" kern="1200" dirty="0"/>
            <a:t>: Linguistic features, emotional and sentiment features, personas and scoring features.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/>
            <a:t>Models</a:t>
          </a:r>
          <a:r>
            <a:rPr lang="en-AU" sz="1100" kern="1200" dirty="0"/>
            <a:t>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 dirty="0"/>
            <a:t>Hartmann for dominant emotion tagging (single-label)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 err="1"/>
            <a:t>GoEmotions</a:t>
          </a:r>
          <a:r>
            <a:rPr lang="en-US" sz="1100" b="0" kern="1200" dirty="0"/>
            <a:t> for top-3 average emotion scoring (multi-label)</a:t>
          </a:r>
        </a:p>
      </dsp:txBody>
      <dsp:txXfrm>
        <a:off x="6397" y="1635441"/>
        <a:ext cx="2275900" cy="2919782"/>
      </dsp:txXfrm>
    </dsp:sp>
    <dsp:sp modelId="{2ADAAAFD-6409-415F-986C-6B4BC47B0D17}">
      <dsp:nvSpPr>
        <dsp:cNvPr id="0" name=""/>
        <dsp:cNvSpPr/>
      </dsp:nvSpPr>
      <dsp:spPr>
        <a:xfrm>
          <a:off x="3420247" y="224666"/>
          <a:ext cx="796565" cy="7965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B9CC9C-C6D2-4DEF-A984-F04DEC967E08}">
      <dsp:nvSpPr>
        <dsp:cNvPr id="0" name=""/>
        <dsp:cNvSpPr/>
      </dsp:nvSpPr>
      <dsp:spPr>
        <a:xfrm>
          <a:off x="2680579" y="1207445"/>
          <a:ext cx="2275900" cy="341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1500" kern="1200"/>
            <a:t>Modelling and evaluation </a:t>
          </a:r>
        </a:p>
      </dsp:txBody>
      <dsp:txXfrm>
        <a:off x="2680579" y="1207445"/>
        <a:ext cx="2275900" cy="341385"/>
      </dsp:txXfrm>
    </dsp:sp>
    <dsp:sp modelId="{27ED62BA-E99F-45EE-8FB2-2996743052A7}">
      <dsp:nvSpPr>
        <dsp:cNvPr id="0" name=""/>
        <dsp:cNvSpPr/>
      </dsp:nvSpPr>
      <dsp:spPr>
        <a:xfrm>
          <a:off x="2680579" y="1635441"/>
          <a:ext cx="2275900" cy="2919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Tested multiple classification strategies to predict psychological safety and cultural indicaotrs from report text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Models used/tested: Random Forest, Logistic Regression (TF-IDF), RoBERTa GoEmotions, MiniLM-L6-v2 + KNN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Metrics: F1 score, class wise precision/recall, SHAP value impacts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Results: Random Forest model achieved 90% accuracy on synthetic data</a:t>
          </a:r>
          <a:br>
            <a:rPr lang="en-AU" sz="1100" kern="1200"/>
          </a:br>
          <a:r>
            <a:rPr lang="en-AU" sz="1100" kern="1200"/>
            <a:t>Logistic Regression performed lower (83%)  but still offered a useful benchmark</a:t>
          </a:r>
        </a:p>
      </dsp:txBody>
      <dsp:txXfrm>
        <a:off x="2680579" y="1635441"/>
        <a:ext cx="2275900" cy="2919782"/>
      </dsp:txXfrm>
    </dsp:sp>
    <dsp:sp modelId="{25D97E49-D5F9-4172-9B9C-13C9EFFB0976}">
      <dsp:nvSpPr>
        <dsp:cNvPr id="0" name=""/>
        <dsp:cNvSpPr/>
      </dsp:nvSpPr>
      <dsp:spPr>
        <a:xfrm>
          <a:off x="6094430" y="224666"/>
          <a:ext cx="796565" cy="7965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E63AEE-396F-4E61-B74C-147448893DC9}">
      <dsp:nvSpPr>
        <dsp:cNvPr id="0" name=""/>
        <dsp:cNvSpPr/>
      </dsp:nvSpPr>
      <dsp:spPr>
        <a:xfrm>
          <a:off x="5354762" y="1207445"/>
          <a:ext cx="2275900" cy="341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1500" kern="1200"/>
            <a:t>Refinement Loop</a:t>
          </a:r>
        </a:p>
      </dsp:txBody>
      <dsp:txXfrm>
        <a:off x="5354762" y="1207445"/>
        <a:ext cx="2275900" cy="341385"/>
      </dsp:txXfrm>
    </dsp:sp>
    <dsp:sp modelId="{90F150A8-BC5B-4214-A366-A9D3E49A5953}">
      <dsp:nvSpPr>
        <dsp:cNvPr id="0" name=""/>
        <dsp:cNvSpPr/>
      </dsp:nvSpPr>
      <dsp:spPr>
        <a:xfrm>
          <a:off x="5354762" y="1635441"/>
          <a:ext cx="2275900" cy="2919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Tested feature weights (ie hedging had more predictive power than initially assumed)</a:t>
          </a:r>
          <a:br>
            <a:rPr lang="en-AU" sz="1100" kern="1200"/>
          </a:br>
          <a:r>
            <a:rPr lang="en-AU" sz="1100" kern="1200"/>
            <a:t>Persona traits to better match real world variation</a:t>
          </a:r>
          <a:br>
            <a:rPr lang="en-AU" sz="1100" kern="1200"/>
          </a:br>
          <a:r>
            <a:rPr lang="en-AU" sz="1100" kern="1200"/>
            <a:t>Action quality scoring and emotion averaging</a:t>
          </a:r>
          <a:br>
            <a:rPr lang="en-AU" sz="1100" kern="1200"/>
          </a:br>
          <a:endParaRPr lang="en-AU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Tools used: SHAP for </a:t>
          </a:r>
          <a:r>
            <a:rPr lang="en-AU" sz="1100" kern="1200" dirty="0" err="1"/>
            <a:t>exaplanatbility</a:t>
          </a:r>
          <a:endParaRPr lang="en-AU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Confusion matrices to surface misclassified edge cases</a:t>
          </a:r>
        </a:p>
        <a:p>
          <a:pPr marL="0" lvl="0" indent="0" algn="ctr" defTabSz="488950">
            <a:spcBef>
              <a:spcPct val="0"/>
            </a:spcBef>
            <a:spcAft>
              <a:spcPct val="35000"/>
            </a:spcAft>
            <a:buNone/>
          </a:pPr>
          <a:endParaRPr lang="en-AU" sz="1100" kern="1200" dirty="0"/>
        </a:p>
      </dsp:txBody>
      <dsp:txXfrm>
        <a:off x="5354762" y="1635441"/>
        <a:ext cx="2275900" cy="291978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025665-0980-42B9-A085-54B8C3D54985}">
      <dsp:nvSpPr>
        <dsp:cNvPr id="0" name=""/>
        <dsp:cNvSpPr/>
      </dsp:nvSpPr>
      <dsp:spPr>
        <a:xfrm>
          <a:off x="1561306" y="2091"/>
          <a:ext cx="6245225" cy="214377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75" tIns="544520" rIns="121175" bIns="5445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+mn-lt"/>
              <a:ea typeface="+mn-ea"/>
              <a:cs typeface="+mn-cs"/>
            </a:rPr>
            <a:t>Passive voice count</a:t>
          </a:r>
          <a:r>
            <a:rPr lang="en-US" sz="1200" kern="1200" dirty="0">
              <a:latin typeface="+mn-lt"/>
              <a:ea typeface="+mn-ea"/>
              <a:cs typeface="+mn-cs"/>
            </a:rPr>
            <a:t> – Indicators of deflected responsibility or reduced agency.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+mn-lt"/>
              <a:ea typeface="+mn-ea"/>
              <a:cs typeface="+mn-cs"/>
            </a:rPr>
            <a:t>Modal verbs &amp; hedging terms</a:t>
          </a:r>
          <a:r>
            <a:rPr lang="en-US" sz="1200" kern="1200" dirty="0">
              <a:latin typeface="+mn-lt"/>
              <a:ea typeface="+mn-ea"/>
              <a:cs typeface="+mn-cs"/>
            </a:rPr>
            <a:t> – Signals of uncertainty or fear (e.g., </a:t>
          </a:r>
          <a:r>
            <a:rPr lang="en-US" sz="1200" i="1" kern="1200" dirty="0">
              <a:latin typeface="+mn-lt"/>
              <a:ea typeface="+mn-ea"/>
              <a:cs typeface="+mn-cs"/>
            </a:rPr>
            <a:t>"might," "perhaps"</a:t>
          </a:r>
          <a:r>
            <a:rPr lang="en-US" sz="1200" kern="1200" dirty="0">
              <a:latin typeface="+mn-lt"/>
              <a:ea typeface="+mn-ea"/>
              <a:cs typeface="+mn-cs"/>
            </a:rPr>
            <a:t>).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+mn-lt"/>
              <a:ea typeface="+mn-ea"/>
              <a:cs typeface="+mn-cs"/>
            </a:rPr>
            <a:t>Corrective action word count &amp; specificity</a:t>
          </a:r>
          <a:r>
            <a:rPr lang="en-US" sz="1200" kern="1200" dirty="0">
              <a:latin typeface="+mn-lt"/>
              <a:ea typeface="+mn-ea"/>
              <a:cs typeface="+mn-cs"/>
            </a:rPr>
            <a:t> – Proxies for engagement and diligence.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+mn-lt"/>
              <a:ea typeface="+mn-ea"/>
              <a:cs typeface="+mn-cs"/>
            </a:rPr>
            <a:t>Average word length</a:t>
          </a:r>
          <a:r>
            <a:rPr lang="en-US" sz="1200" kern="1200" dirty="0">
              <a:latin typeface="+mn-lt"/>
              <a:ea typeface="+mn-ea"/>
              <a:cs typeface="+mn-cs"/>
            </a:rPr>
            <a:t> – A proxy for writing effort or sophistication.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+mn-lt"/>
              <a:ea typeface="+mn-ea"/>
              <a:cs typeface="+mn-cs"/>
            </a:rPr>
            <a:t>Safety jargon frequency</a:t>
          </a:r>
          <a:r>
            <a:rPr lang="en-US" sz="1200" kern="1200" dirty="0">
              <a:latin typeface="+mn-lt"/>
              <a:ea typeface="+mn-ea"/>
              <a:cs typeface="+mn-cs"/>
            </a:rPr>
            <a:t> – Gauges procedural focus and compliance mindset.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+mn-lt"/>
              <a:ea typeface="+mn-ea"/>
              <a:cs typeface="+mn-cs"/>
            </a:rPr>
            <a:t>Emotion &amp; Tone Features - </a:t>
          </a:r>
          <a:r>
            <a:rPr lang="en-US" sz="1200" kern="1200" dirty="0">
              <a:latin typeface="+mn-lt"/>
              <a:ea typeface="+mn-ea"/>
              <a:cs typeface="+mn-cs"/>
            </a:rPr>
            <a:t>Used transformer-based models (</a:t>
          </a:r>
          <a:r>
            <a:rPr lang="en-US" sz="1200" kern="1200" dirty="0" err="1">
              <a:latin typeface="+mn-lt"/>
              <a:ea typeface="+mn-ea"/>
              <a:cs typeface="+mn-cs"/>
            </a:rPr>
            <a:t>GoEmotions</a:t>
          </a:r>
          <a:r>
            <a:rPr lang="en-US" sz="1200" kern="1200" dirty="0">
              <a:latin typeface="+mn-lt"/>
              <a:ea typeface="+mn-ea"/>
              <a:cs typeface="+mn-cs"/>
            </a:rPr>
            <a:t>, </a:t>
          </a:r>
          <a:r>
            <a:rPr lang="en-US" sz="1200" kern="1200" dirty="0" err="1">
              <a:latin typeface="+mn-lt"/>
              <a:ea typeface="+mn-ea"/>
              <a:cs typeface="+mn-cs"/>
            </a:rPr>
            <a:t>RoBERTa</a:t>
          </a:r>
          <a:r>
            <a:rPr lang="en-US" sz="1200" kern="1200" dirty="0">
              <a:latin typeface="+mn-lt"/>
              <a:ea typeface="+mn-ea"/>
              <a:cs typeface="+mn-cs"/>
            </a:rPr>
            <a:t>) to detect: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+mn-lt"/>
              <a:ea typeface="+mn-ea"/>
              <a:cs typeface="+mn-cs"/>
            </a:rPr>
            <a:t>Dominant emotion</a:t>
          </a:r>
          <a:r>
            <a:rPr lang="en-US" sz="1200" kern="1200" dirty="0">
              <a:latin typeface="+mn-lt"/>
              <a:ea typeface="+mn-ea"/>
              <a:cs typeface="+mn-cs"/>
            </a:rPr>
            <a:t> (fear, guilt, trust, blame, gratitude).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+mn-lt"/>
              <a:ea typeface="+mn-ea"/>
              <a:cs typeface="+mn-cs"/>
            </a:rPr>
            <a:t>Emotion intensity vector</a:t>
          </a:r>
          <a:r>
            <a:rPr lang="en-US" sz="1200" kern="1200" dirty="0">
              <a:latin typeface="+mn-lt"/>
              <a:ea typeface="+mn-ea"/>
              <a:cs typeface="+mn-cs"/>
            </a:rPr>
            <a:t> (multi-label probabilities for nuanced insight).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+mn-lt"/>
              <a:ea typeface="+mn-ea"/>
              <a:cs typeface="+mn-cs"/>
            </a:rPr>
            <a:t>Top-3 emotion average score</a:t>
          </a:r>
          <a:r>
            <a:rPr lang="en-US" sz="1200" kern="1200" dirty="0">
              <a:latin typeface="+mn-lt"/>
              <a:ea typeface="+mn-ea"/>
              <a:cs typeface="+mn-cs"/>
            </a:rPr>
            <a:t> to measure affective richness.</a:t>
          </a:r>
          <a:endParaRPr lang="en-AU" sz="1200" kern="1200" dirty="0"/>
        </a:p>
      </dsp:txBody>
      <dsp:txXfrm>
        <a:off x="1561306" y="2091"/>
        <a:ext cx="6245225" cy="2143778"/>
      </dsp:txXfrm>
    </dsp:sp>
    <dsp:sp modelId="{8EB8DAA1-5C2A-4518-9160-D12C646EC45F}">
      <dsp:nvSpPr>
        <dsp:cNvPr id="0" name=""/>
        <dsp:cNvSpPr/>
      </dsp:nvSpPr>
      <dsp:spPr>
        <a:xfrm>
          <a:off x="0" y="2091"/>
          <a:ext cx="1561306" cy="214377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619" tIns="211758" rIns="82619" bIns="2117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+mn-lt"/>
              <a:ea typeface="+mn-ea"/>
              <a:cs typeface="+mn-cs"/>
            </a:rPr>
            <a:t>Linguistic Features</a:t>
          </a:r>
          <a:endParaRPr lang="en-AU" sz="1200" kern="1200" dirty="0"/>
        </a:p>
      </dsp:txBody>
      <dsp:txXfrm>
        <a:off x="0" y="2091"/>
        <a:ext cx="1561306" cy="2143778"/>
      </dsp:txXfrm>
    </dsp:sp>
    <dsp:sp modelId="{E030179E-F585-49AB-ADAE-8317A832F409}">
      <dsp:nvSpPr>
        <dsp:cNvPr id="0" name=""/>
        <dsp:cNvSpPr/>
      </dsp:nvSpPr>
      <dsp:spPr>
        <a:xfrm>
          <a:off x="1561306" y="2274497"/>
          <a:ext cx="6245225" cy="214377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75" tIns="544520" rIns="121175" bIns="5445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+mn-lt"/>
              <a:ea typeface="+mn-ea"/>
              <a:cs typeface="+mn-cs"/>
            </a:rPr>
            <a:t>  Psychological safety</a:t>
          </a:r>
          <a:r>
            <a:rPr lang="en-US" sz="1200" kern="1200">
              <a:latin typeface="+mn-lt"/>
              <a:ea typeface="+mn-ea"/>
              <a:cs typeface="+mn-cs"/>
            </a:rPr>
            <a:t> and </a:t>
          </a:r>
          <a:r>
            <a:rPr lang="en-US" sz="1200" b="1" kern="1200">
              <a:latin typeface="+mn-lt"/>
              <a:ea typeface="+mn-ea"/>
              <a:cs typeface="+mn-cs"/>
            </a:rPr>
            <a:t>engagement effort</a:t>
          </a:r>
          <a:r>
            <a:rPr lang="en-US" sz="1200" kern="1200">
              <a:latin typeface="+mn-lt"/>
              <a:ea typeface="+mn-ea"/>
              <a:cs typeface="+mn-cs"/>
            </a:rPr>
            <a:t> scores derived using rule-based logic from combinations of the above features.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+mn-lt"/>
              <a:ea typeface="+mn-ea"/>
              <a:cs typeface="+mn-cs"/>
            </a:rPr>
            <a:t>&gt; Culture zone classification</a:t>
          </a:r>
          <a:r>
            <a:rPr lang="en-US" sz="1200" kern="1200">
              <a:latin typeface="+mn-lt"/>
              <a:ea typeface="+mn-ea"/>
              <a:cs typeface="+mn-cs"/>
            </a:rPr>
            <a:t> (Desirable, </a:t>
          </a:r>
          <a:endParaRPr lang="en-AU" sz="1200" kern="1200" dirty="0"/>
        </a:p>
      </dsp:txBody>
      <dsp:txXfrm>
        <a:off x="1561306" y="2274497"/>
        <a:ext cx="6245225" cy="2143778"/>
      </dsp:txXfrm>
    </dsp:sp>
    <dsp:sp modelId="{64C94C14-4CE1-41B3-A854-FE12CF19DAE0}">
      <dsp:nvSpPr>
        <dsp:cNvPr id="0" name=""/>
        <dsp:cNvSpPr/>
      </dsp:nvSpPr>
      <dsp:spPr>
        <a:xfrm>
          <a:off x="0" y="2274497"/>
          <a:ext cx="1561306" cy="214377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619" tIns="211758" rIns="82619" bIns="2117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+mn-lt"/>
              <a:ea typeface="+mn-ea"/>
              <a:cs typeface="+mn-cs"/>
            </a:rPr>
            <a:t>Scored Cultural Traits</a:t>
          </a:r>
          <a:endParaRPr lang="en-AU" sz="1200" kern="1200" dirty="0"/>
        </a:p>
      </dsp:txBody>
      <dsp:txXfrm>
        <a:off x="0" y="2274497"/>
        <a:ext cx="1561306" cy="2143778"/>
      </dsp:txXfrm>
    </dsp:sp>
    <dsp:sp modelId="{8E30A868-D594-41D5-9DAC-45D780AFF0B9}">
      <dsp:nvSpPr>
        <dsp:cNvPr id="0" name=""/>
        <dsp:cNvSpPr/>
      </dsp:nvSpPr>
      <dsp:spPr>
        <a:xfrm>
          <a:off x="1561306" y="4546902"/>
          <a:ext cx="6245225" cy="214377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75" tIns="544520" rIns="121175" bIns="5445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Features were retained based on:</a:t>
          </a:r>
          <a:endParaRPr lang="en-AU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Theoretical relevance</a:t>
          </a:r>
          <a:r>
            <a:rPr lang="en-US" sz="1200" kern="1200"/>
            <a:t> from safety and organisational psychology literature.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b="1" kern="1200"/>
            <a:t>Statistical contribution</a:t>
          </a:r>
          <a:r>
            <a:rPr lang="en-AU" sz="1200" kern="1200"/>
            <a:t> via SHAP value analysis.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Low multicollinearity</a:t>
          </a:r>
          <a:r>
            <a:rPr lang="en-US" sz="1200" kern="1200"/>
            <a:t> and clear interpretability for governance use.</a:t>
          </a:r>
        </a:p>
      </dsp:txBody>
      <dsp:txXfrm>
        <a:off x="1561306" y="4546902"/>
        <a:ext cx="6245225" cy="2143778"/>
      </dsp:txXfrm>
    </dsp:sp>
    <dsp:sp modelId="{07240307-7873-4D7D-A10C-C5DD04749596}">
      <dsp:nvSpPr>
        <dsp:cNvPr id="0" name=""/>
        <dsp:cNvSpPr/>
      </dsp:nvSpPr>
      <dsp:spPr>
        <a:xfrm>
          <a:off x="0" y="4546902"/>
          <a:ext cx="1561306" cy="214377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619" tIns="211758" rIns="82619" bIns="2117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b="1" kern="1200"/>
            <a:t>Selection Strategy</a:t>
          </a:r>
          <a:endParaRPr lang="en-AU" sz="1200" kern="1200"/>
        </a:p>
      </dsp:txBody>
      <dsp:txXfrm>
        <a:off x="0" y="4546902"/>
        <a:ext cx="1561306" cy="21437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6A922-62E1-4A4F-90A0-F6A2CBD56A5C}">
      <dsp:nvSpPr>
        <dsp:cNvPr id="0" name=""/>
        <dsp:cNvSpPr/>
      </dsp:nvSpPr>
      <dsp:spPr>
        <a:xfrm>
          <a:off x="5934" y="164014"/>
          <a:ext cx="1006032" cy="9460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7098CC-A978-409C-9B47-900F22708F30}">
      <dsp:nvSpPr>
        <dsp:cNvPr id="0" name=""/>
        <dsp:cNvSpPr/>
      </dsp:nvSpPr>
      <dsp:spPr>
        <a:xfrm>
          <a:off x="5934" y="1332692"/>
          <a:ext cx="2874377" cy="405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1400" kern="1200"/>
            <a:t>Predict class labels directly for key indicators</a:t>
          </a:r>
        </a:p>
      </dsp:txBody>
      <dsp:txXfrm>
        <a:off x="5934" y="1332692"/>
        <a:ext cx="2874377" cy="405463"/>
      </dsp:txXfrm>
    </dsp:sp>
    <dsp:sp modelId="{7E68C814-4E11-47F7-ADB2-3449F8726CF2}">
      <dsp:nvSpPr>
        <dsp:cNvPr id="0" name=""/>
        <dsp:cNvSpPr/>
      </dsp:nvSpPr>
      <dsp:spPr>
        <a:xfrm>
          <a:off x="5934" y="1841689"/>
          <a:ext cx="2874377" cy="3498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/>
            <a:t>Model:</a:t>
          </a:r>
          <a:endParaRPr lang="en-AU" sz="1100" b="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/>
            <a:t> </a:t>
          </a:r>
          <a:r>
            <a:rPr lang="en-AU" sz="1100" b="0" kern="1200"/>
            <a:t>Classifies incident reports into engagement level, psych safety level and culture zone </a:t>
          </a:r>
          <a:br>
            <a:rPr lang="en-AU" sz="1100" kern="1200"/>
          </a:br>
          <a:endParaRPr lang="en-AU" sz="1100" b="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/>
            <a:t>Persona use</a:t>
          </a:r>
          <a:endParaRPr lang="en-AU" sz="1100" b="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0" kern="1200"/>
            <a:t>Post-event interpretation or visualisation only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/>
            <a:t>Pros:</a:t>
          </a:r>
          <a:endParaRPr lang="en-AU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Clean, explainable ML pipeline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Avoids confusion between style and outcome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Use</a:t>
          </a:r>
          <a:r>
            <a:rPr lang="en-US" sz="1100" kern="1200"/>
            <a:t>: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 Very useful for operations and monitoring dashboards –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 “This report is LOW  STAFF PSYCH SAFETY + HIGH ENGAGEMENT”</a:t>
          </a:r>
        </a:p>
      </dsp:txBody>
      <dsp:txXfrm>
        <a:off x="5934" y="1841689"/>
        <a:ext cx="2874377" cy="3498983"/>
      </dsp:txXfrm>
    </dsp:sp>
    <dsp:sp modelId="{939D082A-0D07-413A-A64D-CFC9720D7F07}">
      <dsp:nvSpPr>
        <dsp:cNvPr id="0" name=""/>
        <dsp:cNvSpPr/>
      </dsp:nvSpPr>
      <dsp:spPr>
        <a:xfrm>
          <a:off x="3383328" y="164014"/>
          <a:ext cx="1006032" cy="9460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0B546E-43CB-4C76-96FC-FE4979BC2922}">
      <dsp:nvSpPr>
        <dsp:cNvPr id="0" name=""/>
        <dsp:cNvSpPr/>
      </dsp:nvSpPr>
      <dsp:spPr>
        <a:xfrm>
          <a:off x="3383328" y="1332692"/>
          <a:ext cx="2874377" cy="405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1400" kern="1200"/>
            <a:t>Assign Persona Based on Threshold Patterns</a:t>
          </a:r>
        </a:p>
      </dsp:txBody>
      <dsp:txXfrm>
        <a:off x="3383328" y="1332692"/>
        <a:ext cx="2874377" cy="405463"/>
      </dsp:txXfrm>
    </dsp:sp>
    <dsp:sp modelId="{345C132E-609A-4877-9204-25AA2D440582}">
      <dsp:nvSpPr>
        <dsp:cNvPr id="0" name=""/>
        <dsp:cNvSpPr/>
      </dsp:nvSpPr>
      <dsp:spPr>
        <a:xfrm>
          <a:off x="3383328" y="1841689"/>
          <a:ext cx="2874377" cy="3498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/>
            <a:t>Model</a:t>
          </a:r>
          <a:r>
            <a:rPr lang="en-AU" sz="1100" kern="1200"/>
            <a:t>: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Extracts psych safety + engagement features first then uses thresholds or KNN to assign persona-style label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/>
            <a:t>Pros:</a:t>
          </a:r>
          <a:endParaRPr lang="en-AU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Makes personas an interpretive output (like an archetype)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Helps human users contextualize results (e.g. “This sounds like Mia”)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Great for training, benchmarking, and cultural coaching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/>
            <a:t>Requires: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/>
            <a:t>Persona definitions (e.g., thresholds for each trait)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Clustering or scoring logic to match input to closest persona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Use</a:t>
          </a:r>
          <a:r>
            <a:rPr lang="en-US" sz="1100" kern="1200"/>
            <a:t>: Allows analysis on team dynamics and individual work styles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“ This employee’s  style of report (medium for psych safety, high effort)  most likely aligns with a persona like Anxious Validator”. Therefore they exhibit behaviours x and y”.</a:t>
          </a:r>
        </a:p>
      </dsp:txBody>
      <dsp:txXfrm>
        <a:off x="3383328" y="1841689"/>
        <a:ext cx="2874377" cy="349898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EA52FA-B55C-40CE-BD0D-2DE7718AE5A8}">
      <dsp:nvSpPr>
        <dsp:cNvPr id="0" name=""/>
        <dsp:cNvSpPr/>
      </dsp:nvSpPr>
      <dsp:spPr>
        <a:xfrm>
          <a:off x="6426" y="178725"/>
          <a:ext cx="842293" cy="8422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5133E8-EB7D-4B45-871C-D7154DD11E26}">
      <dsp:nvSpPr>
        <dsp:cNvPr id="0" name=""/>
        <dsp:cNvSpPr/>
      </dsp:nvSpPr>
      <dsp:spPr>
        <a:xfrm>
          <a:off x="6426" y="1196212"/>
          <a:ext cx="2406553" cy="616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kumimoji="0" lang="en-US" altLang="en-US" sz="1400" b="1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Language is rich but ambiguous</a:t>
          </a:r>
          <a:endParaRPr lang="en-AU" sz="1400" kern="1200">
            <a:solidFill>
              <a:schemeClr val="bg1"/>
            </a:solidFill>
          </a:endParaRPr>
        </a:p>
      </dsp:txBody>
      <dsp:txXfrm>
        <a:off x="6426" y="1196212"/>
        <a:ext cx="2406553" cy="616811"/>
      </dsp:txXfrm>
    </dsp:sp>
    <dsp:sp modelId="{82350065-0074-4F6F-9BDA-2969573802F4}">
      <dsp:nvSpPr>
        <dsp:cNvPr id="0" name=""/>
        <dsp:cNvSpPr/>
      </dsp:nvSpPr>
      <dsp:spPr>
        <a:xfrm>
          <a:off x="6426" y="1894508"/>
          <a:ext cx="2406553" cy="2358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1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rPr>
            <a:t>Handcrafted features such as passive voice, hedging, and pronoun usage proved effective in predicting psychological safety, but only when carefully </a:t>
          </a:r>
          <a:r>
            <a:rPr kumimoji="0" lang="en-US" altLang="en-US" sz="11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</a:rPr>
            <a:t>contextualised</a:t>
          </a:r>
          <a:r>
            <a:rPr kumimoji="0" lang="en-US" altLang="en-US" sz="11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rPr>
            <a:t>.</a:t>
          </a:r>
          <a:endParaRPr lang="en-AU" sz="1100" kern="1200" dirty="0">
            <a:latin typeface="+mn-lt"/>
          </a:endParaRP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1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rPr>
            <a:t>Not all tentative language reflects low safety—sometimes it's simply cautious professionalism.</a:t>
          </a:r>
          <a:endParaRPr lang="en-AU" sz="1100" kern="1200" dirty="0">
            <a:latin typeface="+mn-lt"/>
          </a:endParaRP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latin typeface="+mn-lt"/>
            </a:rPr>
            <a:t>Corporate language is domain specific but not noisy. Which made sentiment style analysis difficult and therefore needed a more novel approach.</a:t>
          </a:r>
        </a:p>
      </dsp:txBody>
      <dsp:txXfrm>
        <a:off x="6426" y="1894508"/>
        <a:ext cx="2406553" cy="2358461"/>
      </dsp:txXfrm>
    </dsp:sp>
    <dsp:sp modelId="{0A364F8D-4C51-4DE4-B117-6D9F4C0E5A3D}">
      <dsp:nvSpPr>
        <dsp:cNvPr id="0" name=""/>
        <dsp:cNvSpPr/>
      </dsp:nvSpPr>
      <dsp:spPr>
        <a:xfrm>
          <a:off x="2834127" y="178725"/>
          <a:ext cx="842293" cy="8422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E4FFD6-6F11-4E44-8838-7BF46CDDA532}">
      <dsp:nvSpPr>
        <dsp:cNvPr id="0" name=""/>
        <dsp:cNvSpPr/>
      </dsp:nvSpPr>
      <dsp:spPr>
        <a:xfrm>
          <a:off x="2834127" y="1196212"/>
          <a:ext cx="2406553" cy="616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kumimoji="0" lang="en-US" altLang="en-US" sz="1400" b="1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Feature engineering matters more than model complexity</a:t>
          </a:r>
          <a:endParaRPr kumimoji="0" lang="en-US" altLang="en-US" sz="1400" b="0" i="0" u="none" strike="noStrike" kern="1200" cap="none" normalizeH="0" baseline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endParaRPr>
        </a:p>
      </dsp:txBody>
      <dsp:txXfrm>
        <a:off x="2834127" y="1196212"/>
        <a:ext cx="2406553" cy="616811"/>
      </dsp:txXfrm>
    </dsp:sp>
    <dsp:sp modelId="{62FDFA08-8BAB-4276-B771-5DD2FA678B93}">
      <dsp:nvSpPr>
        <dsp:cNvPr id="0" name=""/>
        <dsp:cNvSpPr/>
      </dsp:nvSpPr>
      <dsp:spPr>
        <a:xfrm>
          <a:off x="2834127" y="1894508"/>
          <a:ext cx="2406553" cy="2358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1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rPr>
            <a:t>The Random Forest model significantly outperformed, TF-IDF logistic regression, not because of algorithmic superiority, but due to (I’d like think) thoughtful, theory-driven feature design. This confirmed the value of domain expertise in AI applications – of which I probably need a lot more</a:t>
          </a:r>
        </a:p>
      </dsp:txBody>
      <dsp:txXfrm>
        <a:off x="2834127" y="1894508"/>
        <a:ext cx="2406553" cy="2358461"/>
      </dsp:txXfrm>
    </dsp:sp>
    <dsp:sp modelId="{1613928B-2153-4219-877C-50B83A38C101}">
      <dsp:nvSpPr>
        <dsp:cNvPr id="0" name=""/>
        <dsp:cNvSpPr/>
      </dsp:nvSpPr>
      <dsp:spPr>
        <a:xfrm>
          <a:off x="5661827" y="178725"/>
          <a:ext cx="842293" cy="8422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B4D39-3297-4CB9-BC74-7C31A7C76163}">
      <dsp:nvSpPr>
        <dsp:cNvPr id="0" name=""/>
        <dsp:cNvSpPr/>
      </dsp:nvSpPr>
      <dsp:spPr>
        <a:xfrm>
          <a:off x="5661827" y="1196212"/>
          <a:ext cx="2406553" cy="616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kumimoji="0" lang="en-US" altLang="en-US" sz="1400" b="1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Explainability is essential for trust</a:t>
          </a:r>
          <a:endParaRPr kumimoji="0" lang="en-US" altLang="en-US" sz="1400" b="0" i="0" u="none" strike="noStrike" kern="1200" cap="none" normalizeH="0" baseline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endParaRPr>
        </a:p>
      </dsp:txBody>
      <dsp:txXfrm>
        <a:off x="5661827" y="1196212"/>
        <a:ext cx="2406553" cy="616811"/>
      </dsp:txXfrm>
    </dsp:sp>
    <dsp:sp modelId="{8257767A-50D7-4B6C-97C0-D3FD05DF3E3D}">
      <dsp:nvSpPr>
        <dsp:cNvPr id="0" name=""/>
        <dsp:cNvSpPr/>
      </dsp:nvSpPr>
      <dsp:spPr>
        <a:xfrm>
          <a:off x="5661827" y="1894508"/>
          <a:ext cx="2406553" cy="2358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1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rPr>
            <a:t>SHAP and visual tools like word clouds provided transparency into model behaviour.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1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rPr>
            <a:t>This was essential is assessing prototype design. 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1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rPr>
            <a:t>Potentially however, these visuals are essential in these types of analysis to make  the insights accessible and meaningful to non-technical stakeholders—a critical factor for projects looking to improve and uplift governance and ensuring ethical and safe AI use.</a:t>
          </a:r>
        </a:p>
      </dsp:txBody>
      <dsp:txXfrm>
        <a:off x="5661827" y="1894508"/>
        <a:ext cx="2406553" cy="2358461"/>
      </dsp:txXfrm>
    </dsp:sp>
    <dsp:sp modelId="{7AF0724E-DFEF-4C04-A575-8574EE5ECC6D}">
      <dsp:nvSpPr>
        <dsp:cNvPr id="0" name=""/>
        <dsp:cNvSpPr/>
      </dsp:nvSpPr>
      <dsp:spPr>
        <a:xfrm>
          <a:off x="8489528" y="178725"/>
          <a:ext cx="842293" cy="8422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B3D5E3-9F53-4CB1-8589-F728F7AC2032}">
      <dsp:nvSpPr>
        <dsp:cNvPr id="0" name=""/>
        <dsp:cNvSpPr/>
      </dsp:nvSpPr>
      <dsp:spPr>
        <a:xfrm>
          <a:off x="8489528" y="1196212"/>
          <a:ext cx="2406553" cy="616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kumimoji="0" lang="en-US" altLang="en-US" sz="1400" b="1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Synthetic data can support rigorous prototyping</a:t>
          </a:r>
          <a:endParaRPr kumimoji="0" lang="en-US" altLang="en-US" sz="1400" b="0" i="0" u="none" strike="noStrike" kern="1200" cap="none" normalizeH="0" baseline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endParaRPr>
        </a:p>
      </dsp:txBody>
      <dsp:txXfrm>
        <a:off x="8489528" y="1196212"/>
        <a:ext cx="2406553" cy="616811"/>
      </dsp:txXfrm>
    </dsp:sp>
    <dsp:sp modelId="{5BFE7E97-8EB9-4E1E-8EA8-6F4A813AC09C}">
      <dsp:nvSpPr>
        <dsp:cNvPr id="0" name=""/>
        <dsp:cNvSpPr/>
      </dsp:nvSpPr>
      <dsp:spPr>
        <a:xfrm>
          <a:off x="8489528" y="1894508"/>
          <a:ext cx="2406553" cy="2358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1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rPr>
            <a:t>With privacy constraints in real WHS reporting, the use of well-designed personas and generated incident narratives enabled full pipeline development without compromising ethics.</a:t>
          </a:r>
        </a:p>
      </dsp:txBody>
      <dsp:txXfrm>
        <a:off x="8489528" y="1894508"/>
        <a:ext cx="2406553" cy="235846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9AAE27-1D85-45E0-9954-F44DC49067FD}">
      <dsp:nvSpPr>
        <dsp:cNvPr id="0" name=""/>
        <dsp:cNvSpPr/>
      </dsp:nvSpPr>
      <dsp:spPr>
        <a:xfrm>
          <a:off x="3414" y="158516"/>
          <a:ext cx="3329572" cy="69431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kumimoji="0" lang="en-US" altLang="en-US" sz="1900" b="1" i="0" u="none" strike="noStrike" kern="1200" cap="none" normalizeH="0" baseline="0">
              <a:effectLst/>
              <a:latin typeface="Arial" panose="020B0604020202020204" pitchFamily="34" charset="0"/>
            </a:rPr>
            <a:t>Medium safety reports were the most revealing</a:t>
          </a:r>
          <a:endParaRPr lang="en-AU" sz="1900" kern="1200"/>
        </a:p>
      </dsp:txBody>
      <dsp:txXfrm>
        <a:off x="3414" y="158516"/>
        <a:ext cx="3329572" cy="694317"/>
      </dsp:txXfrm>
    </dsp:sp>
    <dsp:sp modelId="{8298305E-27E9-4256-AC92-B2DE01184EA5}">
      <dsp:nvSpPr>
        <dsp:cNvPr id="0" name=""/>
        <dsp:cNvSpPr/>
      </dsp:nvSpPr>
      <dsp:spPr>
        <a:xfrm>
          <a:off x="3414" y="852833"/>
          <a:ext cx="3329572" cy="318145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en-US" altLang="en-US" sz="1900" b="0" i="0" u="none" strike="noStrike" kern="1200" cap="none" normalizeH="0" baseline="0" dirty="0">
              <a:effectLst/>
              <a:latin typeface="+mj-lt"/>
            </a:rPr>
            <a:t>Reports classified as “Medium” consistently exhibited subtle forms of defensive or self-protective </a:t>
          </a:r>
          <a:r>
            <a:rPr kumimoji="0" lang="en-US" altLang="en-US" sz="1900" b="0" i="0" u="none" strike="noStrike" kern="1200" cap="none" normalizeH="0" baseline="0" dirty="0" err="1">
              <a:effectLst/>
              <a:latin typeface="+mj-lt"/>
            </a:rPr>
            <a:t>behaviour</a:t>
          </a:r>
          <a:r>
            <a:rPr kumimoji="0" lang="en-US" altLang="en-US" sz="1900" b="0" i="0" u="none" strike="noStrike" kern="1200" cap="none" normalizeH="0" baseline="0" dirty="0">
              <a:effectLst/>
              <a:latin typeface="+mj-lt"/>
            </a:rPr>
            <a:t>—not overt fear or disengagement, but a careful balance of compliance, caution, and hopefulness. This “grey zone” appears to hold key signals of emerging cultural risk.</a:t>
          </a:r>
          <a:endParaRPr lang="en-AU" sz="1900" kern="1200" dirty="0">
            <a:latin typeface="+mj-lt"/>
          </a:endParaRPr>
        </a:p>
      </dsp:txBody>
      <dsp:txXfrm>
        <a:off x="3414" y="852833"/>
        <a:ext cx="3329572" cy="3181454"/>
      </dsp:txXfrm>
    </dsp:sp>
    <dsp:sp modelId="{59388729-17D1-41B0-BF40-046857319C20}">
      <dsp:nvSpPr>
        <dsp:cNvPr id="0" name=""/>
        <dsp:cNvSpPr/>
      </dsp:nvSpPr>
      <dsp:spPr>
        <a:xfrm>
          <a:off x="3799128" y="158516"/>
          <a:ext cx="3329572" cy="694317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kumimoji="0" lang="en-US" altLang="en-US" sz="1900" b="1" i="0" u="none" strike="noStrike" kern="1200" cap="none" normalizeH="0" baseline="0">
              <a:effectLst/>
              <a:latin typeface="Arial" panose="020B0604020202020204" pitchFamily="34" charset="0"/>
            </a:rPr>
            <a:t>Emotion signals often contradicted tone</a:t>
          </a:r>
          <a:endParaRPr kumimoji="0" lang="en-US" altLang="en-US" sz="1900" b="0" i="0" u="none" strike="noStrike" kern="1200" cap="none" normalizeH="0" baseline="0">
            <a:effectLst/>
            <a:latin typeface="Arial" panose="020B0604020202020204" pitchFamily="34" charset="0"/>
          </a:endParaRPr>
        </a:p>
      </dsp:txBody>
      <dsp:txXfrm>
        <a:off x="3799128" y="158516"/>
        <a:ext cx="3329572" cy="694317"/>
      </dsp:txXfrm>
    </dsp:sp>
    <dsp:sp modelId="{D6E75FC2-4D4D-490E-8E5D-36D58DC96DCC}">
      <dsp:nvSpPr>
        <dsp:cNvPr id="0" name=""/>
        <dsp:cNvSpPr/>
      </dsp:nvSpPr>
      <dsp:spPr>
        <a:xfrm>
          <a:off x="3799128" y="852833"/>
          <a:ext cx="3329572" cy="3181454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en-US" altLang="en-US" sz="1900" b="0" i="0" u="none" strike="noStrike" kern="1200" cap="none" normalizeH="0" baseline="0" dirty="0">
              <a:effectLst/>
              <a:latin typeface="+mj-lt"/>
            </a:rPr>
            <a:t>Some reports that appeared “neutral” on the surface contained hidden emotional signals (e.g., fear or guilt) when modelled with </a:t>
          </a:r>
          <a:r>
            <a:rPr kumimoji="0" lang="en-US" altLang="en-US" sz="1900" b="0" i="0" u="none" strike="noStrike" kern="1200" cap="none" normalizeH="0" baseline="0" dirty="0" err="1">
              <a:effectLst/>
              <a:latin typeface="+mj-lt"/>
            </a:rPr>
            <a:t>RoBERTa</a:t>
          </a:r>
          <a:r>
            <a:rPr kumimoji="0" lang="en-US" altLang="en-US" sz="1900" b="0" i="0" u="none" strike="noStrike" kern="1200" cap="none" normalizeH="0" baseline="0" dirty="0">
              <a:effectLst/>
              <a:latin typeface="+mj-lt"/>
            </a:rPr>
            <a:t>. This highlighted the limitations of sentiment analysis and the importance of multi-dimensional emotion detection.</a:t>
          </a:r>
        </a:p>
      </dsp:txBody>
      <dsp:txXfrm>
        <a:off x="3799128" y="852833"/>
        <a:ext cx="3329572" cy="3181454"/>
      </dsp:txXfrm>
    </dsp:sp>
    <dsp:sp modelId="{259E8915-81DC-4474-B2EF-0EAC1FABE30D}">
      <dsp:nvSpPr>
        <dsp:cNvPr id="0" name=""/>
        <dsp:cNvSpPr/>
      </dsp:nvSpPr>
      <dsp:spPr>
        <a:xfrm>
          <a:off x="7594841" y="158516"/>
          <a:ext cx="3329572" cy="694317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kumimoji="0" lang="en-US" altLang="en-US" sz="1900" b="1" i="0" u="none" strike="noStrike" kern="1200" cap="none" normalizeH="0" baseline="0">
              <a:effectLst/>
              <a:latin typeface="Arial" panose="020B0604020202020204" pitchFamily="34" charset="0"/>
            </a:rPr>
            <a:t>High effort doesn't always mean high safety</a:t>
          </a:r>
          <a:endParaRPr kumimoji="0" lang="en-US" altLang="en-US" sz="1900" b="0" i="0" u="none" strike="noStrike" kern="1200" cap="none" normalizeH="0" baseline="0">
            <a:effectLst/>
            <a:latin typeface="Arial" panose="020B0604020202020204" pitchFamily="34" charset="0"/>
          </a:endParaRPr>
        </a:p>
      </dsp:txBody>
      <dsp:txXfrm>
        <a:off x="7594841" y="158516"/>
        <a:ext cx="3329572" cy="694317"/>
      </dsp:txXfrm>
    </dsp:sp>
    <dsp:sp modelId="{06E6D7E6-460F-499B-96F3-FC8E7D226EF0}">
      <dsp:nvSpPr>
        <dsp:cNvPr id="0" name=""/>
        <dsp:cNvSpPr/>
      </dsp:nvSpPr>
      <dsp:spPr>
        <a:xfrm>
          <a:off x="7594841" y="852833"/>
          <a:ext cx="3329572" cy="318145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en-US" altLang="en-US" sz="1900" b="0" i="0" u="none" strike="noStrike" kern="1200" cap="none" normalizeH="0" baseline="0" dirty="0">
              <a:effectLst/>
              <a:latin typeface="+mj-lt"/>
            </a:rPr>
            <a:t>Surprisingly, some longer reports (noting that the test data was not ‘long’ by definition) were associated with lower psychological safety, especially when filled with procedural language and hedging—suggesting a “cover-your-back” writing style rather than genuine engagement.</a:t>
          </a:r>
        </a:p>
      </dsp:txBody>
      <dsp:txXfrm>
        <a:off x="7594841" y="852833"/>
        <a:ext cx="3329572" cy="31814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4552CB-9A27-4CCC-99E7-AFE52A4AB009}" type="datetimeFigureOut">
              <a:rPr lang="en-AU" smtClean="0"/>
              <a:t>12/06/2025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2A9FF-1AB7-498F-B9A5-27A6E12617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0063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A9FF-1AB7-498F-B9A5-27A6E126172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4331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AU" b="0" dirty="0"/>
              <a:t>Introduction to Language Models
Application in Safety Governance
</a:t>
            </a:r>
            <a:r>
              <a:rPr lang="en-AU" b="0" dirty="0" err="1"/>
              <a:t>RoBERTa</a:t>
            </a:r>
            <a:r>
              <a:rPr lang="en-AU" b="0" dirty="0"/>
              <a:t> and Hugging Face Pipelines
</a:t>
            </a:r>
            <a:r>
              <a:rPr lang="en-AU" b="0" dirty="0" err="1"/>
              <a:t>Analyzing</a:t>
            </a:r>
            <a:r>
              <a:rPr lang="en-AU" b="0" dirty="0"/>
              <a:t> Psychological Safety and Emotional Tone
Detecting Linguistic Signals in WHS Reports
Real-Time Insights into Safety Culture</a:t>
            </a:r>
            <a:r>
              <a:rPr lang="en-AU" b="0"/>
              <a:t>
Actionable </a:t>
            </a:r>
            <a:r>
              <a:rPr lang="en-AU" b="0" dirty="0"/>
              <a:t>Governance Risks</a:t>
            </a:r>
          </a:p>
          <a:p>
            <a:pPr marL="228600" indent="-228600">
              <a:buAutoNum type="arabicPeriod"/>
            </a:pPr>
            <a:endParaRPr lang="en-AU" b="0" dirty="0"/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AU" sz="1800" b="0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Practical take-aways – what I tried to do…..</a:t>
            </a: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r>
              <a:rPr lang="en-AU" sz="18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Position emotion metrics as leading indicators that complement (not replace) classical risk scores.</a:t>
            </a: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r>
              <a:rPr lang="en-AU" sz="18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Emphasise the explainability of hybrid models—you can show which linguistic features (passive voice, hedging, blame terms) drive a low psychological-safety score.</a:t>
            </a: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r>
              <a:rPr lang="en-AU" sz="18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Leverage personas to demonstrate how different communication styles map to different risk profiles; this makes the numbers relatable to non-data audiences.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AU" sz="18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Quantifying emotion doesn’t just add another metric—it brings the </a:t>
            </a:r>
            <a:r>
              <a:rPr lang="en-AU" sz="1800" b="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human</a:t>
            </a:r>
            <a:r>
              <a:rPr lang="en-AU" sz="18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dimension of risk into the same analytic frame as probability and impact, giving leaders a fuller, faster picture of where trouble may emerge next.</a:t>
            </a:r>
          </a:p>
          <a:p>
            <a:pPr marL="228600" indent="-228600">
              <a:buAutoNum type="arabicPeriod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A9FF-1AB7-498F-B9A5-27A6E126172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250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1. Low Marginal Cost</a:t>
            </a:r>
            <a:endParaRPr lang="en-US" dirty="0"/>
          </a:p>
          <a:p>
            <a:pPr>
              <a:buNone/>
            </a:pPr>
            <a:r>
              <a:rPr lang="en-US" dirty="0"/>
              <a:t>“Once implemented, this solution has </a:t>
            </a:r>
            <a:r>
              <a:rPr lang="en-US" b="1" dirty="0"/>
              <a:t>very low marginal cost</a:t>
            </a:r>
            <a:r>
              <a:rPr lang="en-US" dirty="0"/>
              <a:t>, especially if integrated into existing safety or reporting systems like WHS portals or SharePoint. We're leveraging narratives that are already being written — there's no need to create new forms or surveys. It runs in the background and extracts insights without requiring extra effort from frontline teams.”</a:t>
            </a:r>
          </a:p>
          <a:p>
            <a:pPr>
              <a:buNone/>
            </a:pPr>
            <a:r>
              <a:rPr lang="en-US" dirty="0"/>
              <a:t>🟢 </a:t>
            </a:r>
            <a:r>
              <a:rPr lang="en-US" b="1" dirty="0"/>
              <a:t>2. High Long-Term Benefit</a:t>
            </a:r>
            <a:endParaRPr lang="en-US" dirty="0"/>
          </a:p>
          <a:p>
            <a:pPr>
              <a:buNone/>
            </a:pPr>
            <a:r>
              <a:rPr lang="en-US" dirty="0"/>
              <a:t>“The long-term benefit is significant. By detecting early signals of disengagement, blame, or fear in how incidents are described, we can intervene earlier — </a:t>
            </a:r>
            <a:r>
              <a:rPr lang="en-US" b="1" dirty="0"/>
              <a:t>before these cultural issues manifest as safety incidents</a:t>
            </a:r>
            <a:r>
              <a:rPr lang="en-US" dirty="0"/>
              <a:t>. That means fewer injuries, stronger reporting </a:t>
            </a:r>
            <a:r>
              <a:rPr lang="en-US" dirty="0" err="1"/>
              <a:t>behaviours</a:t>
            </a:r>
            <a:r>
              <a:rPr lang="en-US" dirty="0"/>
              <a:t>, and better engagement with WHS processes over time. It turns everyday language into a </a:t>
            </a:r>
            <a:r>
              <a:rPr lang="en-US" b="1" dirty="0"/>
              <a:t>continuous culture monitor</a:t>
            </a:r>
            <a:r>
              <a:rPr lang="en-US" dirty="0"/>
              <a:t>.”</a:t>
            </a:r>
          </a:p>
          <a:p>
            <a:pPr>
              <a:buNone/>
            </a:pPr>
            <a:r>
              <a:rPr lang="en-US" dirty="0"/>
              <a:t>🔵 </a:t>
            </a:r>
            <a:r>
              <a:rPr lang="en-US" b="1" dirty="0"/>
              <a:t>3. Scalable, Adaptable Framework</a:t>
            </a:r>
            <a:endParaRPr lang="en-US" dirty="0"/>
          </a:p>
          <a:p>
            <a:r>
              <a:rPr lang="en-US" dirty="0"/>
              <a:t>“Finally, the framework is scalable. While we started with safety reports, the same architecture can support related use cases — like safety leadership coaching, compliance tone monitoring, or even </a:t>
            </a:r>
            <a:r>
              <a:rPr lang="en-US" b="1" dirty="0"/>
              <a:t>psychosocial risk detection</a:t>
            </a:r>
            <a:r>
              <a:rPr lang="en-US" dirty="0"/>
              <a:t> under new regulatory frameworks. It gives </a:t>
            </a:r>
            <a:r>
              <a:rPr lang="en-US" dirty="0" err="1"/>
              <a:t>organisations</a:t>
            </a:r>
            <a:r>
              <a:rPr lang="en-US" dirty="0"/>
              <a:t> a flexible tool to track the human side of safety, risk, and culture.”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A9FF-1AB7-498F-B9A5-27A6E126172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0864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D302E-1B45-9EFF-DF5D-903FACE13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107DF-ED77-C48A-B45C-45BD4941B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852FC-2F4A-5C0F-19EA-EEE694109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My project draws on sociolinguistic theories of workplace discourse (Holmes &amp; Marra 2011; Gee 1999), which frame language as a vehicle for power, identity, and cultural norms. The use of personas and linguistic features in my model reflects this — allowing us to quantify how reporting styles, tone, and emotional expression encode psychological safety and organisational risk. By applying these theories computationally, I bridge qualitative discourse analysis with NLP-based safety governance.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0" dirty="0" err="1"/>
              <a:t>Behavioural</a:t>
            </a:r>
            <a:r>
              <a:rPr lang="en-US" b="0" dirty="0"/>
              <a:t> insights: </a:t>
            </a:r>
          </a:p>
          <a:p>
            <a:pPr>
              <a:buNone/>
            </a:pPr>
            <a:endParaRPr lang="en-US" b="0" dirty="0"/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industries like construction, energy, and aviation, psychological safety is taught as a core concept — encouraging workers to speak up without fear of blame.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Programs often use roleplay, linguistic examples, and narrative walkthroughs to teach safer communication patterns (e.g., avoiding blame, encouraging ownership).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Your modelling of </a:t>
            </a:r>
            <a:r>
              <a:rPr lang="en-AU" sz="1200" b="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blame language</a:t>
            </a: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AU" sz="1200" b="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passive voice</a:t>
            </a: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and </a:t>
            </a:r>
            <a:r>
              <a:rPr lang="en-AU" sz="1200" b="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engagement cues</a:t>
            </a: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directly aligns with these training goals — you're just quantifying them.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Healthcare Team Simulations: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hospitals and emergency medicine, interprofessional simulations are used to train teams in safe communication under pressure (e.g., speaking up about a surgical error).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Tools like the SBAR (Situation, Background, Assessment, Recommendation) protocol rely on structured, clear, emotionally aware language — the same kind your emotion model is scoring.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Psychological safety scores and linguistic markers could be used to assess how safe or hesitant a team’s handover language sounds.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Nudge-Based Risk Design (e.g., UK Behavioural Insights Team):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refers to using </a:t>
            </a:r>
            <a:r>
              <a:rPr lang="en-AU" sz="1200" b="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behavioral</a:t>
            </a: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science and subtle cues (nudges) to change how people make decisions — especially in compliance, safety, or public health.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UK Behavioural Insights Team pioneered this approach, showing how framing, language, and timing can reduce risk-taking or increase reporting.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Your approach could support these initiatives by identifying language patterns that indicate disengagement or reluctance, then tailoring nudges accordingly (e.g., how a prompt is phrased in a reporting system).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AU" sz="1200" b="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project also  on sociolinguistic theories of workplace discourse (Holmes &amp; Marra 2011; Gee 1999), which frame language as a vehicle for power, identity, and cultural norms. The use of personas and linguistic features in my model reflects this — allowing us to quantify how reporting styles, tone, and emotional expression encode psychological safety and organisational risk. By applying these theories computationally, I bridge qualitative discourse analysis with NLP-based safety governance.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AU" sz="2000" b="0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Holmes &amp; Marra (2011): Key Ideas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</a:t>
            </a:r>
            <a:r>
              <a:rPr lang="en-AU" sz="1200" b="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"Leadership, Discourse, and Ethnicity"</a:t>
            </a: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other works, Janet Holmes and Meredith Marra argue that: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Language in the workplace is not neutral — it encodes status, hierarchy, group norms, and cultural expectations.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People adopt different "interactional styles" depending on role, context, and identity — e.g., directive vs. collaborative, assertive vs. deferential.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These styles are shaped by sociolinguistic variables like gender, ethnicity, seniority, and occupational culture — and can be analysed systematically using discourse features (e.g., turn-taking, hedging, mitigated directives, modal verbs).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Workplace talk includes small talk, humour, emotional management, and indirectness — all of which serve important relational and power-balancing functions.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endParaRPr lang="en-AU" sz="1600" b="0" kern="100" dirty="0">
              <a:solidFill>
                <a:srgbClr val="0F4761"/>
              </a:solidFill>
              <a:effectLst/>
              <a:latin typeface="Segoe UI Emoji" panose="020B0502040204020203" pitchFamily="34" charset="0"/>
              <a:ea typeface="Times New Roman" panose="02020603050405020304" pitchFamily="18" charset="0"/>
              <a:cs typeface="Segoe UI Emoj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600" b="0" kern="100" dirty="0">
                <a:solidFill>
                  <a:srgbClr val="0F4761"/>
                </a:solidFill>
                <a:effectLst/>
                <a:latin typeface="Segoe UI Emoj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attempted to compute their model:</a:t>
            </a:r>
            <a:br>
              <a:rPr lang="en-AU" sz="1600" b="0" kern="100" dirty="0">
                <a:solidFill>
                  <a:srgbClr val="0F4761"/>
                </a:solidFill>
                <a:effectLst/>
                <a:latin typeface="Segoe UI Emoj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personas (e.g., Mia the Anxious Validator, Kavita the Avoidant Minimalist) mirror interactional styles described in Holmes &amp; Marra's work.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By extracting features like passive voice, hedging, blame language, and emotion, you’re operationalising what sociolinguists do qualitatively.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Your model tries to quantify how people navigate authority, safety, and emotion through workplace narratives — which is exactly what Holmes &amp; Marra study using discourse analysis.</a:t>
            </a: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AU" sz="2000" b="0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Relation to Gee (1999)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James Paul Gee’s </a:t>
            </a:r>
            <a:r>
              <a:rPr lang="en-AU" sz="1200" b="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“Discourse analysis: What makes it critical?”</a:t>
            </a: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related work adds that: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Communication practices are part of broader “Discourses” with a capital D — ways of being, doing, and valuing in a social group.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Workplace reporting styles are shaped by these Discourses — e.g., construction vs. healthcare industries may differ in emotional expression, formality, or use of jargon.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Analysing text lets us uncover power, identity, and ideology, not just information.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47232-ABBF-0ACC-05FF-1EC12DB52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A9FF-1AB7-498F-B9A5-27A6E126172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507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1E1A7-4226-ADD8-1692-BDCE0C1E9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BC27B-ACB1-F991-1B30-213E980E5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9BF84-8160-5EC7-2E6D-4C3C31F16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 </a:t>
            </a:r>
            <a:r>
              <a:rPr lang="fr-FR" sz="1200" b="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level</a:t>
            </a:r>
            <a:r>
              <a:rPr lang="fr-FR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notes </a:t>
            </a:r>
            <a:r>
              <a:rPr lang="fr-FR" sz="1200" b="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based</a:t>
            </a:r>
            <a:r>
              <a:rPr lang="fr-FR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on </a:t>
            </a:r>
            <a:r>
              <a:rPr lang="fr-FR" sz="1200" b="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outcome</a:t>
            </a:r>
            <a:r>
              <a:rPr lang="fr-FR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200" b="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</a:t>
            </a:r>
            <a:r>
              <a:rPr lang="fr-FR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second round of </a:t>
            </a:r>
            <a:r>
              <a:rPr lang="fr-FR" sz="1200" b="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testing</a:t>
            </a:r>
            <a:r>
              <a:rPr lang="fr-FR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200" b="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Formal</a:t>
            </a:r>
            <a:r>
              <a:rPr lang="fr-FR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200" b="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tone</a:t>
            </a:r>
            <a:r>
              <a:rPr lang="fr-FR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200" b="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masks</a:t>
            </a:r>
            <a:r>
              <a:rPr lang="fr-FR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200" b="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emotional</a:t>
            </a:r>
            <a:r>
              <a:rPr lang="fr-FR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200" b="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cues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Corporate reports are written to be objective, risk-neural and formal – even when psychological safety is low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limits detectable sentiment and creates ambiguity: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9144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200" b="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issue was addressed</a:t>
            </a: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 could mean proactive action or pressured silence.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9144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Impact: Emotion/sentiment models often underperform or misclassify this type of language 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Vagueness and avoidance is the norm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WHS or compliance-heavy settings, people avoid blame or specificity. Likewise, it can also be attributable to corporate culture or industries.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 phrases such as “Procedures were followed” = no ownership, potential deflection when looking at linguistic signals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Impact: Classifiers must detect what’s omitted, not just what’s said – </a:t>
            </a:r>
            <a:r>
              <a:rPr lang="en-US" sz="1200" b="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e.g</a:t>
            </a: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absence of detail or agency becomes a feature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 variance in language makes feature extraction tricky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Repetitive use of boilerplate (incident occurred, “hazard logged”, “discussed at toolbox” reduces signal diversity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limits the usefulness of typical text frequency-based models (TF-IDF, bag-of-words).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Impact: Requires engineered features (</a:t>
            </a:r>
            <a:r>
              <a:rPr lang="en-US" sz="1200" b="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eg</a:t>
            </a: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passive voice, specificity, use of pronouns – which note vagueness issue to the left, is also not useful) and use of transformer-based model for richer context.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Ambiguity between engagement and safety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person can write detailed, engaged reports but still feel psychologically unsafe.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Engagement does not equal trust.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Impact: Requires separating cognitive effort (task completion) from emotional tone (trust/fear).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Lack of labelled data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Nothing available that labelled for psychological safety and/or engagement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required creation of synthetic personas and exemplars to build ‘truths’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Impact: Required development of hybrid KNN and </a:t>
            </a:r>
            <a:r>
              <a:rPr lang="en-US" sz="1200" b="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and</a:t>
            </a: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threshold driven classification.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Generally, models and pipelines are pretrained on casual or news language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Many NLP models (BERT, </a:t>
            </a:r>
            <a:r>
              <a:rPr lang="en-US" sz="1200" b="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DistiBERT</a:t>
            </a: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are trained on Wikipedia or Reddit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These domains are very different from WHS reports and/or corporate reports/incident logs </a:t>
            </a:r>
            <a:r>
              <a:rPr lang="en-US" sz="1200" b="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etc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Impact: The model can misinterpret linguistic signals from formal or procural text neutral or low risk.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Industry-specific jargon requires custom glossaries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Terms like SWIMS, JSEA, PEE, toolbox talk are </a:t>
            </a:r>
            <a:r>
              <a:rPr lang="en-US" sz="1200" b="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highlighly</a:t>
            </a: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domain specific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Impact: Model needed to align model with OHS glossaries (like from </a:t>
            </a:r>
            <a:r>
              <a:rPr lang="en-US" sz="1200" b="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Safework</a:t>
            </a:r>
            <a:r>
              <a:rPr lang="en-US" sz="12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Australia) to score engagement or procedural fluency properly</a:t>
            </a:r>
            <a:endParaRPr lang="en-AU" sz="1200" b="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AU" dirty="0"/>
          </a:p>
          <a:p>
            <a:pPr>
              <a:buNone/>
            </a:pPr>
            <a:endParaRPr lang="en-AU" dirty="0"/>
          </a:p>
          <a:p>
            <a:pPr>
              <a:buNone/>
            </a:pPr>
            <a:r>
              <a:rPr lang="en-AU" b="0" dirty="0"/>
              <a:t>In case you are asked and you can’t </a:t>
            </a:r>
            <a:r>
              <a:rPr lang="en-AU" b="0" dirty="0" err="1"/>
              <a:t>remmber</a:t>
            </a:r>
            <a:r>
              <a:rPr lang="en-AU" b="0" dirty="0"/>
              <a:t> the terms. </a:t>
            </a:r>
            <a:br>
              <a:rPr lang="en-AU" b="0" dirty="0"/>
            </a:br>
            <a:r>
              <a:rPr lang="en-US" b="0" dirty="0"/>
              <a:t>Model: </a:t>
            </a:r>
            <a:r>
              <a:rPr lang="en-US" b="0" dirty="0" err="1"/>
              <a:t>SamLowe</a:t>
            </a:r>
            <a:r>
              <a:rPr lang="en-US" b="0" dirty="0"/>
              <a:t>/</a:t>
            </a:r>
            <a:r>
              <a:rPr lang="en-US" b="0" dirty="0" err="1"/>
              <a:t>roberta</a:t>
            </a:r>
            <a:r>
              <a:rPr lang="en-US" b="0" dirty="0"/>
              <a:t>-base-</a:t>
            </a:r>
            <a:r>
              <a:rPr lang="en-US" b="0" dirty="0" err="1"/>
              <a:t>go_emotions</a:t>
            </a:r>
            <a:r>
              <a:rPr lang="en-US" b="0" dirty="0"/>
              <a:t> initially used for testing</a:t>
            </a:r>
          </a:p>
          <a:p>
            <a:pPr>
              <a:buNone/>
            </a:pPr>
            <a:r>
              <a:rPr lang="en-US" b="0" dirty="0"/>
              <a:t>Moved to </a:t>
            </a:r>
            <a:r>
              <a:rPr lang="en-AU" b="0" dirty="0"/>
              <a:t>j-</a:t>
            </a:r>
            <a:r>
              <a:rPr lang="en-AU" b="0" dirty="0" err="1"/>
              <a:t>hartmann</a:t>
            </a:r>
            <a:r>
              <a:rPr lang="en-AU" b="0" dirty="0"/>
              <a:t>/emotion-</a:t>
            </a:r>
            <a:r>
              <a:rPr lang="en-AU" b="0" dirty="0" err="1"/>
              <a:t>english</a:t>
            </a:r>
            <a:r>
              <a:rPr lang="en-AU" b="0" dirty="0"/>
              <a:t>-</a:t>
            </a:r>
            <a:r>
              <a:rPr lang="en-AU" b="0" dirty="0" err="1"/>
              <a:t>distilroberta</a:t>
            </a:r>
            <a:r>
              <a:rPr lang="en-AU" b="0" dirty="0"/>
              <a:t>-bas</a:t>
            </a:r>
            <a:r>
              <a:rPr lang="en-US" b="0" dirty="0"/>
              <a:t> which is a single lab </a:t>
            </a:r>
            <a:r>
              <a:rPr lang="en-US" b="0" dirty="0" err="1"/>
              <a:t>el</a:t>
            </a:r>
            <a:r>
              <a:rPr lang="en-US" b="0" dirty="0"/>
              <a:t> emotion classifier that covers 6 emotion categories: (joy, sadness, anger, fear, surprise, neutral).  But only assigns one dominant emotion.  This was used to attempt to overcome high neutral assignment.</a:t>
            </a:r>
          </a:p>
          <a:p>
            <a:pPr>
              <a:buNone/>
            </a:pPr>
            <a:endParaRPr lang="en-US" b="0" dirty="0"/>
          </a:p>
          <a:p>
            <a:pPr>
              <a:buNone/>
            </a:pPr>
            <a:r>
              <a:rPr lang="en-US" b="0" dirty="0"/>
              <a:t>Also in case </a:t>
            </a:r>
            <a:r>
              <a:rPr lang="en-US" b="0" dirty="0" err="1"/>
              <a:t>ydou</a:t>
            </a:r>
            <a:r>
              <a:rPr lang="en-US" b="0" dirty="0"/>
              <a:t> are asked and you </a:t>
            </a:r>
            <a:r>
              <a:rPr lang="en-US" b="0" dirty="0" err="1"/>
              <a:t>forgetBased</a:t>
            </a:r>
            <a:r>
              <a:rPr lang="en-US" b="0" dirty="0"/>
              <a:t> on the </a:t>
            </a:r>
            <a:r>
              <a:rPr lang="en-US" b="0" dirty="0" err="1"/>
              <a:t>GoEmotions</a:t>
            </a:r>
            <a:r>
              <a:rPr lang="en-US" b="0" dirty="0"/>
              <a:t> dataset from Google. Fine-tuned on 28 emotion classes using </a:t>
            </a:r>
            <a:r>
              <a:rPr lang="en-US" b="0" dirty="0" err="1"/>
              <a:t>RoBERTa</a:t>
            </a:r>
            <a:r>
              <a:rPr lang="en-US" b="0" dirty="0"/>
              <a:t> base</a:t>
            </a:r>
          </a:p>
          <a:p>
            <a:pPr>
              <a:buNone/>
            </a:pPr>
            <a:endParaRPr lang="en-US" b="0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B571E-FBBB-5103-71F8-BE26EAA20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A9FF-1AB7-498F-B9A5-27A6E1261727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5763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.</a:t>
            </a: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A9FF-1AB7-498F-B9A5-27A6E1261727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1996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A9FF-1AB7-498F-B9A5-27A6E1261727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1767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Developing and using personas in modelling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Broadly, </a:t>
            </a:r>
            <a:r>
              <a:rPr lang="en-AU" b="1" dirty="0"/>
              <a:t>Option 1 </a:t>
            </a:r>
            <a:r>
              <a:rPr lang="en-AU" dirty="0"/>
              <a:t>is used for classification and </a:t>
            </a:r>
            <a:r>
              <a:rPr lang="en-AU" b="1" dirty="0"/>
              <a:t>Option 2</a:t>
            </a:r>
            <a:r>
              <a:rPr lang="en-AU" dirty="0"/>
              <a:t> for  interpretation.  This meaning the model training is different</a:t>
            </a:r>
          </a:p>
          <a:p>
            <a:r>
              <a:rPr lang="en-AU" b="1" dirty="0"/>
              <a:t>Approach adopted was to  predict the indicators based on text.</a:t>
            </a:r>
          </a:p>
          <a:p>
            <a:r>
              <a:rPr lang="en-AU" b="1" dirty="0"/>
              <a:t>Then personas were assigned as interpretive tags by comparing report outputs (in source data) to persona thresholds (pre-defined) </a:t>
            </a:r>
          </a:p>
          <a:p>
            <a:endParaRPr lang="en-US" b="1" dirty="0"/>
          </a:p>
          <a:p>
            <a:endParaRPr lang="en-US" dirty="0"/>
          </a:p>
          <a:p>
            <a:r>
              <a:rPr lang="en-US" dirty="0"/>
              <a:t>Option 1 example: The system assigns this report as Low Psych Safety, High Engagement — matching typical patterns seen in Kavita Rao (Avoidant Minimalist).</a:t>
            </a:r>
          </a:p>
          <a:p>
            <a:endParaRPr lang="en-US" dirty="0"/>
          </a:p>
          <a:p>
            <a:r>
              <a:rPr lang="en-US" dirty="0"/>
              <a:t>Option 2 example: “The style of this report (medium psych, high effort, high emotion) most closely aligns with Mia Chen (Anxious Validator).</a:t>
            </a:r>
          </a:p>
          <a:p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A9FF-1AB7-498F-B9A5-27A6E1261727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5241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A8A4F-DC96-BF3F-135F-AC2B07B90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75002-5622-8C0E-6062-290B5CF69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46105-07A1-9505-74FE-51ABD6662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Human personality traits are not a fixed class</a:t>
            </a:r>
          </a:p>
          <a:p>
            <a:r>
              <a:rPr lang="en-AU" dirty="0"/>
              <a:t>What is the science behind this?</a:t>
            </a:r>
          </a:p>
          <a:p>
            <a:pPr marL="285750" indent="-285750">
              <a:buFontTx/>
              <a:buChar char="-"/>
            </a:pPr>
            <a:r>
              <a:rPr lang="en-AU" dirty="0"/>
              <a:t>Different industries use different terms and so the use of personas would be tailored for your organisation and culture. While there isn’t a validated list, the approach used has attempted to be:</a:t>
            </a:r>
          </a:p>
          <a:p>
            <a:pPr marL="285750" indent="-285750">
              <a:buFontTx/>
              <a:buChar char="-"/>
            </a:pPr>
            <a:r>
              <a:rPr lang="en-AU" dirty="0"/>
              <a:t>Aligned with evidence from existing organisational and behaviour theories such as Edmonson, Kahn, Hofstede’s culture dimensions </a:t>
            </a:r>
          </a:p>
          <a:p>
            <a:pPr marL="285750" indent="-285750">
              <a:buFontTx/>
              <a:buChar char="-"/>
            </a:pPr>
            <a:r>
              <a:rPr lang="en-AU" dirty="0"/>
              <a:t>The are language aware  - and look to analyse tone, blame, hedging (I/we/our), specificity , industry phrase-alignment or structure.</a:t>
            </a:r>
          </a:p>
          <a:p>
            <a:pPr marL="285750" indent="-285750">
              <a:buFontTx/>
              <a:buChar char="-"/>
            </a:pPr>
            <a:r>
              <a:rPr lang="en-AU" dirty="0"/>
              <a:t>Are able to be functionality useful (support dashboarding, allow for analysis of inputs into he model and training and feedback narratives in workplaces.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DA58B-11F4-0046-5151-0708B11FD7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A9FF-1AB7-498F-B9A5-27A6E1261727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1996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A9FF9-A585-7E24-41C8-39567C35C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AEFFA-4ADD-F6A4-2521-B2E6AB653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987630-DCAD-41FC-D7D6-A4336DA2D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Human personality traits are not a fixed class</a:t>
            </a:r>
          </a:p>
          <a:p>
            <a:r>
              <a:rPr lang="en-AU" dirty="0"/>
              <a:t>What is the science behind this?</a:t>
            </a:r>
          </a:p>
          <a:p>
            <a:pPr>
              <a:buNone/>
            </a:pPr>
            <a:r>
              <a:rPr lang="en-AU" sz="1200" dirty="0"/>
              <a:t>This means that </a:t>
            </a:r>
            <a:r>
              <a:rPr lang="en-US" sz="1200" dirty="0"/>
              <a:t>persona’s cannot (or </a:t>
            </a:r>
            <a:r>
              <a:rPr lang="en-US" sz="1200" i="1" dirty="0"/>
              <a:t>should not</a:t>
            </a:r>
            <a:r>
              <a:rPr lang="en-US" sz="1200" dirty="0"/>
              <a:t>)  be used as static labels for indicators  that provide a qualitative outcome, such as </a:t>
            </a:r>
            <a:r>
              <a:rPr lang="en-US" sz="1200" dirty="0" err="1"/>
              <a:t>psych_safety</a:t>
            </a:r>
            <a:r>
              <a:rPr lang="en-US" sz="1200" dirty="0"/>
              <a:t> or engagement level, and used as stylistic templates that: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Express different combinations of psychological safety and engagement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Reveal how tone, effort, and risk communication can vary across roles and personalities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Are useful for showing within-person variability and testing model sensitivity.</a:t>
            </a:r>
          </a:p>
          <a:p>
            <a:endParaRPr lang="en-AU" dirty="0"/>
          </a:p>
          <a:p>
            <a:r>
              <a:rPr lang="en-AU" dirty="0"/>
              <a:t>What is the science behind this?</a:t>
            </a:r>
          </a:p>
          <a:p>
            <a:pPr marL="285750" indent="-285750">
              <a:buFontTx/>
              <a:buChar char="-"/>
            </a:pPr>
            <a:r>
              <a:rPr lang="en-AU" dirty="0"/>
              <a:t>Different industries use different terms and so the use of personas would be tailored for your organisation and culture. While there isn’t a validated list, the approach used has attempted to be:</a:t>
            </a:r>
          </a:p>
          <a:p>
            <a:pPr marL="285750" indent="-285750">
              <a:buFontTx/>
              <a:buChar char="-"/>
            </a:pPr>
            <a:r>
              <a:rPr lang="en-AU" dirty="0"/>
              <a:t>Aligned with evidence from existing organisational and behaviour theories such as Edmonson, Kahn, Hofstede’s culture dimensions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CC4D9-2202-01C3-2001-CA9922F6BE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A9FF-1AB7-498F-B9A5-27A6E1261727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46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0" dirty="0"/>
              <a:t>Note: I think there is an issue where possibly I didn’t </a:t>
            </a:r>
            <a:r>
              <a:rPr lang="en-AU" b="0" dirty="0" err="1"/>
              <a:t>concancenate</a:t>
            </a:r>
            <a:r>
              <a:rPr lang="en-AU" b="0" dirty="0"/>
              <a:t> “</a:t>
            </a:r>
            <a:r>
              <a:rPr lang="en-AU" b="0" dirty="0" err="1"/>
              <a:t>m</a:t>
            </a:r>
            <a:r>
              <a:rPr lang="en-AU" dirty="0" err="1"/>
              <a:t>ain_df</a:t>
            </a:r>
            <a:r>
              <a:rPr lang="en-AU" dirty="0"/>
              <a:t>["source"] = "Original“. Ran out of time </a:t>
            </a:r>
            <a:r>
              <a:rPr lang="en-AU" dirty="0">
                <a:sym typeface="Wingdings" panose="05000000000000000000" pitchFamily="2" charset="2"/>
              </a:rPr>
              <a:t></a:t>
            </a:r>
            <a:endParaRPr lang="en-AU" b="0" dirty="0"/>
          </a:p>
          <a:p>
            <a:pPr>
              <a:buNone/>
            </a:pPr>
            <a:r>
              <a:rPr lang="en-AU" b="0" dirty="0"/>
              <a:t>I would need to rerun some cells to </a:t>
            </a:r>
            <a:r>
              <a:rPr lang="en-US" b="0" dirty="0"/>
              <a:t>to visually compare performance across both datasets and see both correct and incorrect predictions:</a:t>
            </a:r>
          </a:p>
          <a:p>
            <a:pPr>
              <a:buFont typeface="+mj-lt"/>
              <a:buAutoNum type="arabicPeriod"/>
            </a:pPr>
            <a:r>
              <a:rPr lang="en-US" b="0" dirty="0"/>
              <a:t>Ensure </a:t>
            </a:r>
            <a:r>
              <a:rPr lang="en-US" b="0" dirty="0" err="1"/>
              <a:t>main_df</a:t>
            </a:r>
            <a:r>
              <a:rPr lang="en-US" b="0" dirty="0"/>
              <a:t>["source"] = "Original" is applied before concatenating.</a:t>
            </a:r>
          </a:p>
          <a:p>
            <a:pPr>
              <a:buFont typeface="+mj-lt"/>
              <a:buAutoNum type="arabicPeriod"/>
            </a:pPr>
            <a:r>
              <a:rPr lang="en-US" b="0" dirty="0"/>
              <a:t>Ensure model predictions are generated for both </a:t>
            </a:r>
            <a:r>
              <a:rPr lang="en-US" b="0" dirty="0" err="1"/>
              <a:t>main_df</a:t>
            </a:r>
            <a:r>
              <a:rPr lang="en-US" b="0" dirty="0"/>
              <a:t> and </a:t>
            </a:r>
            <a:r>
              <a:rPr lang="en-US" b="0" dirty="0" err="1"/>
              <a:t>exemplar_df</a:t>
            </a:r>
            <a:r>
              <a:rPr lang="en-US" b="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b="0" dirty="0"/>
              <a:t>Plot the </a:t>
            </a:r>
            <a:r>
              <a:rPr lang="en-US" b="0" dirty="0" err="1"/>
              <a:t>Psychological_Safety</a:t>
            </a:r>
            <a:r>
              <a:rPr lang="en-US" b="0" dirty="0"/>
              <a:t> vs </a:t>
            </a:r>
            <a:r>
              <a:rPr lang="en-US" b="0" dirty="0" err="1"/>
              <a:t>predicted_psych_safety</a:t>
            </a:r>
            <a:r>
              <a:rPr lang="en-US" b="0" dirty="0"/>
              <a:t> using .</a:t>
            </a:r>
            <a:r>
              <a:rPr lang="en-US" b="0" dirty="0" err="1"/>
              <a:t>value_counts</a:t>
            </a:r>
            <a:r>
              <a:rPr lang="en-US" b="0" dirty="0"/>
              <a:t>() per group.</a:t>
            </a:r>
          </a:p>
          <a:p>
            <a:pPr>
              <a:buFont typeface="+mj-lt"/>
              <a:buAutoNum type="arabicPeriod"/>
            </a:pPr>
            <a:endParaRPr lang="en-US" b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under “Exemplar” appears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correctly predicted 100% of the exemplar records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That's a strong signal that your exemplars are: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Internally consistent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Well-aligned with the model’s logic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Potentially overfitting (i.e., too easy to predict due to strong patterns</a:t>
            </a:r>
            <a:endParaRPr lang="en-US" b="0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A9FF-1AB7-498F-B9A5-27A6E1261727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18650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Don’t show this. You pulled out the wrong SHAP with only one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A9FF-1AB7-498F-B9A5-27A6E1261727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9064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AU" sz="1800" b="0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Practical take-aways project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Position emotion metrics as leading indicators that complement (not replace) classical risk scores.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Emphasise the explainability of hybrid models—you can show which linguistic features (passive voice, hedging, blame terms) drive a low psychological-safety score.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Leverage personas to demonstrate how different communication styles map to different risk profiles; this makes the numbers relatable to non-data audiences.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A9FF-1AB7-498F-B9A5-27A6E1261727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9131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Key 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A9FF-1AB7-498F-B9A5-27A6E1261727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1979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00C3A-0595-12F1-B998-A52026918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BFAB9-59E9-8065-25E7-40B19CAE6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64A89-6923-9E08-45D5-F095503A6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911CB-E5CA-4119-96D1-D775BBC038CF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BF2D3-B7CE-C72C-CE49-9F5A69C34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688DA-CBA2-FF46-F961-8D1491698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0347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9052-623D-35FA-B643-0F2BC0092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F7DE1-3426-EEDF-0119-C6DB4A297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448DA-40B9-F1F6-46C5-F651F5A5A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13D4E-ADCD-4E06-ABDC-4ACB691CB299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83303-183E-B4BC-56F2-1609E19D8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16FEE-356D-77E7-2F5E-F3D20BB1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9832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458BD-8CF3-C428-2701-ABC64416D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2532F-1AB7-3F12-F966-DAC11B17A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AF3F2-13A9-068F-BCDD-F6FE65BE8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69129-8E29-410A-AA87-97A801421059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4A444-6115-24A9-101C-1C59E95B8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9356C-A64C-8AD2-F630-591242FCD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8412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D0F1-D1E8-540C-99A3-5C8F40C91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96CFB-0778-83C4-5B0C-7351D4622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1913A0-0C9F-C1DC-FE04-5DBA28900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2AD41-F9F8-9E08-45AB-3418841C5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F249-197C-4FAF-B5DC-BE316BEE5A2D}" type="datetime1">
              <a:rPr lang="en-AU" smtClean="0"/>
              <a:t>12/06/2025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C120F-CE28-EC06-1631-5AB77691F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2B12B-9762-D351-BE23-E3FEF0FF4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7299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4A225-7A9E-0AC7-A93A-5E6C99217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83056-4BE4-0457-CB31-A0898CEF4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A1CC51-680F-6A66-4097-B614CCA76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889551-D016-DC38-E6A2-53944718F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F11DF9-701D-0FD9-6226-FADF15CAD0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A5416A-E1D3-988A-74D5-38E23E589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9B53-B46D-447E-BE61-7AF848CCB760}" type="datetime1">
              <a:rPr lang="en-AU" smtClean="0"/>
              <a:t>12/06/2025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F09A10-13AE-A194-366D-31518DF79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955A3C-7981-E269-3E21-0F361CA52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9427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29C65-A250-93A2-2AEE-E16756EE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6D89E7-FCAD-EC6A-B708-5BD48ED81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6BFD-0A06-4D65-B723-1A06AEF2CF98}" type="datetime1">
              <a:rPr lang="en-AU" smtClean="0"/>
              <a:t>12/06/2025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69A1C-FA32-7FB4-645B-34774AD1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32840C-7AD0-8831-BA31-7626CF29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080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F6633-2706-8DBB-BA05-8BAC7B1A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3508-88E6-4E46-85D1-74C2B05BB3EA}" type="datetime1">
              <a:rPr lang="en-AU" smtClean="0"/>
              <a:t>12/06/2025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F9198-3FB2-4D8B-1893-472EC8E0F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4B79E-9B63-022F-57A1-B307FA29D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702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1CBE-8FEF-89B7-490C-7BB62A10D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FB891-2D58-2AE5-190E-8C7028777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F158D-AB25-F5DC-BBFD-08136C5FB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81EDA-8A91-03F0-6BB6-30DF2CAE2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6533B-044C-4D37-96F1-ECDEF2D08766}" type="datetime1">
              <a:rPr lang="en-AU" smtClean="0"/>
              <a:t>12/06/2025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265D8-07AB-A08A-D3F5-5D7F4F81D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A107D-9447-BC2C-82C8-8BA71EEC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8788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7EE4E-FC41-F4D6-8F03-EFD7F0BC1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AE1194-8513-67AB-6235-0A2BE1113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FEB78-805C-1FDE-CECD-E94076E78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7320C-08CA-0914-D376-CE3CA89C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0F02-6EB8-4123-B962-F6C0FD773A9C}" type="datetime1">
              <a:rPr lang="en-AU" smtClean="0"/>
              <a:t>12/06/2025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274BA-D223-2E3B-D74A-FD5B51161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5976F-BA04-5EC9-38BF-2E02DAB79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8634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ACC8E-CC9D-52F5-CA83-2C738159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89DC10-CA07-1EF4-74FD-8E4AA0CA4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344DF-4A5A-E95F-7259-FCDF340B2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0271C-2D1E-4CFC-A135-D51CF3C19700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4432B-4EFC-FA9A-895A-139A807BB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78D9E-6C41-D8D1-9E57-D9264023C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186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9065B7-129A-6C58-79AE-82852E644A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E208F7-CCDB-CD51-BB65-22241D3A7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D5A43-A9D5-B90D-BD84-198BD13F4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4C547-65A0-4FB1-A980-5307BC571F81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76967-441C-1341-E2AB-3ED311F54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9075C-46BB-7D39-0BD1-7DCA3E51B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9174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9571DD-F643-6076-68CC-EA747F6F8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10E8B-9D2E-CC2F-2F0D-B6597848E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3585E-CE5F-AD8D-D183-1AF5353F0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23A4E-82F3-4FF3-9965-A5691CE6E134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821C8-B642-5AED-0282-43356392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AU"/>
              <a:t>K Foster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50345-5E7B-25BA-3939-9E6DD648D6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25A05-8D1E-408A-9271-3075714322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6268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sv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hyperlink" Target="arXiv:2005.00547" TargetMode="External"/><Relationship Id="rId7" Type="http://schemas.openxmlformats.org/officeDocument/2006/relationships/hyperlink" Target="https://data.safeworkaustralia.gov.au/insights/whs-data-reporting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afeworkaustralia.gov.au/" TargetMode="External"/><Relationship Id="rId5" Type="http://schemas.openxmlformats.org/officeDocument/2006/relationships/hyperlink" Target="https://psycnet.apa.org/doi/10.1111/peps.12183" TargetMode="External"/><Relationship Id="rId4" Type="http://schemas.openxmlformats.org/officeDocument/2006/relationships/hyperlink" Target="https://psycnet.apa.org/doi/10.2307/2666999" TargetMode="External"/><Relationship Id="rId9" Type="http://schemas.openxmlformats.org/officeDocument/2006/relationships/image" Target="../media/image64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DAFC2-EA31-5AD5-B5F6-A55159B8AD85}"/>
              </a:ext>
            </a:extLst>
          </p:cNvPr>
          <p:cNvSpPr txBox="1"/>
          <p:nvPr/>
        </p:nvSpPr>
        <p:spPr>
          <a:xfrm>
            <a:off x="804672" y="802955"/>
            <a:ext cx="4977976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 spc="-5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From Incident to Insight: Using AI to Surface Cultural Risk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 spc="-5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 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DF48943-E8EA-7199-2638-106B9BEE3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526" y="1937866"/>
            <a:ext cx="4977578" cy="6382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Kristen Foster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Graphic 13" descr="Head with Gears">
            <a:extLst>
              <a:ext uri="{FF2B5EF4-FFF2-40B4-BE49-F238E27FC236}">
                <a16:creationId xmlns:a16="http://schemas.microsoft.com/office/drawing/2014/main" id="{A600CE45-54E1-BBA5-117A-51982FD844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F082636-C54C-B771-823A-A29F6A44AC9B}"/>
              </a:ext>
            </a:extLst>
          </p:cNvPr>
          <p:cNvSpPr txBox="1">
            <a:spLocks/>
          </p:cNvSpPr>
          <p:nvPr/>
        </p:nvSpPr>
        <p:spPr>
          <a:xfrm>
            <a:off x="654065" y="3653178"/>
            <a:ext cx="6059580" cy="14330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Can we turn the language in safety reports into measurable indicators of psychological safety and engagement — and use that to detect cultural risks before they escalate into real-world harm?</a:t>
            </a:r>
            <a:endParaRPr lang="en-AU" sz="2000" i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AC3522-601C-8177-A14F-CC3A1E5EA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9005AD-0405-8427-F390-2CCEF4EE5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9103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90B80AB5-04E5-2C2D-26E9-EF3A3DA3A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 descr="Communications">
            <a:extLst>
              <a:ext uri="{FF2B5EF4-FFF2-40B4-BE49-F238E27FC236}">
                <a16:creationId xmlns:a16="http://schemas.microsoft.com/office/drawing/2014/main" id="{CA6F98CA-4187-6B93-DBF2-2F2C2BFF8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5956" y="781878"/>
            <a:ext cx="3523235" cy="3523235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3656" y="474740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2A70A-0C1C-FB98-7AA8-FC01B0E3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94581-140A-57A9-FA89-E097A26B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2</a:t>
            </a:fld>
            <a:endParaRPr lang="en-AU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D9EF2870-A62D-8CF2-C12E-218F705552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5817414"/>
              </p:ext>
            </p:extLst>
          </p:nvPr>
        </p:nvGraphicFramePr>
        <p:xfrm>
          <a:off x="4274704" y="65745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D30B854-9ADC-CBF0-1B5D-16487BD1E940}"/>
              </a:ext>
            </a:extLst>
          </p:cNvPr>
          <p:cNvSpPr txBox="1"/>
          <p:nvPr/>
        </p:nvSpPr>
        <p:spPr>
          <a:xfrm>
            <a:off x="1172583" y="5002306"/>
            <a:ext cx="3706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Developing the Assessment Model</a:t>
            </a:r>
          </a:p>
        </p:txBody>
      </p:sp>
    </p:spTree>
    <p:extLst>
      <p:ext uri="{BB962C8B-B14F-4D97-AF65-F5344CB8AC3E}">
        <p14:creationId xmlns:p14="http://schemas.microsoft.com/office/powerpoint/2010/main" val="408113511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3B0E59-CE28-60BE-2937-350A102D6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483E7D-C0D9-B490-AAB8-9527B5F2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/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Culture risk and linguistic signals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FEDF8-FA42-66F4-64E3-6946C7367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D6BFFD-715D-932B-A2D3-30F0677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3</a:t>
            </a:fld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AD495F-6DAA-B01B-5E48-225F00762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8507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0BE95-C00C-03F7-9A7E-EDCA09653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AU" sz="4000" dirty="0">
                <a:solidFill>
                  <a:srgbClr val="FFFFFF"/>
                </a:solidFill>
              </a:rPr>
              <a:t>Business value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DCAB4-D528-90CE-5A04-682F471B9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AU" sz="1100">
                <a:solidFill>
                  <a:srgbClr val="FFFFFF"/>
                </a:solidFill>
              </a:rPr>
              <a:t>K Foster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F2B53-22CB-8878-29B9-F20794245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7325A05-8D1E-408A-9271-307571432256}" type="slidenum">
              <a:rPr lang="en-AU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AU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B646AED-854C-5571-2875-9955FC19FD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35508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34697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92EF5F-C713-E61F-774D-33B54BBC3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C5BA25-C009-64CB-77D7-9F19C291E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Language reveals culture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DA77A6-D0D1-3ED9-A56E-733BD680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AU" sz="1100">
                <a:solidFill>
                  <a:srgbClr val="FFFFFF"/>
                </a:solidFill>
              </a:rPr>
              <a:t>K Foster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45C9A-42F1-4333-EE88-DFD1C2EE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7325A05-8D1E-408A-9271-307571432256}" type="slidenum">
              <a:rPr lang="en-AU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AU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8FB30FC2-3353-EC3E-86EA-3BF0FFA4C7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094161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95212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F98BC-4E34-5DF9-927A-8742CB3B3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42B02-EAFA-9E08-B487-84E4F2051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Challenges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DA4ECF-D4CA-64C5-5DC3-91329688A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AU" sz="1100">
                <a:solidFill>
                  <a:srgbClr val="FFFFFF"/>
                </a:solidFill>
              </a:rPr>
              <a:t>K Foster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8295E-FA42-5449-365B-F69A218E0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7325A05-8D1E-408A-9271-307571432256}" type="slidenum">
              <a:rPr lang="en-AU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AU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9ED473D8-499C-F1F3-1FC1-322B6C2FC5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854780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8886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957308-474A-1D46-1BB8-5C95E28D1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AU" sz="4000" dirty="0"/>
              <a:t>Estimated benefits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6E3EBC-CBC0-3474-F12E-FDB5B04D87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7794459"/>
              </p:ext>
            </p:extLst>
          </p:nvPr>
        </p:nvGraphicFramePr>
        <p:xfrm>
          <a:off x="838200" y="2222840"/>
          <a:ext cx="10506457" cy="3564470"/>
        </p:xfrm>
        <a:graphic>
          <a:graphicData uri="http://schemas.openxmlformats.org/drawingml/2006/table">
            <a:tbl>
              <a:tblPr/>
              <a:tblGrid>
                <a:gridCol w="5211008">
                  <a:extLst>
                    <a:ext uri="{9D8B030D-6E8A-4147-A177-3AD203B41FA5}">
                      <a16:colId xmlns:a16="http://schemas.microsoft.com/office/drawing/2014/main" val="2805671234"/>
                    </a:ext>
                  </a:extLst>
                </a:gridCol>
                <a:gridCol w="5295449">
                  <a:extLst>
                    <a:ext uri="{9D8B030D-6E8A-4147-A177-3AD203B41FA5}">
                      <a16:colId xmlns:a16="http://schemas.microsoft.com/office/drawing/2014/main" val="3160264728"/>
                    </a:ext>
                  </a:extLst>
                </a:gridCol>
              </a:tblGrid>
              <a:tr h="324494">
                <a:tc>
                  <a:txBody>
                    <a:bodyPr/>
                    <a:lstStyle/>
                    <a:p>
                      <a:r>
                        <a:rPr lang="en-AU" sz="1400" dirty="0"/>
                        <a:t>Benefit Category</a:t>
                      </a:r>
                    </a:p>
                  </a:txBody>
                  <a:tcPr marL="72049" marR="72049" marT="36025" marB="360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400"/>
                        <a:t>Description</a:t>
                      </a:r>
                    </a:p>
                  </a:txBody>
                  <a:tcPr marL="72049" marR="72049" marT="36025" marB="360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214165"/>
                  </a:ext>
                </a:extLst>
              </a:tr>
              <a:tr h="539996">
                <a:tc>
                  <a:txBody>
                    <a:bodyPr/>
                    <a:lstStyle/>
                    <a:p>
                      <a:r>
                        <a:rPr lang="en-AU" sz="1400" b="1"/>
                        <a:t>Proactive Risk Detection</a:t>
                      </a:r>
                      <a:endParaRPr lang="en-AU" sz="1400"/>
                    </a:p>
                  </a:txBody>
                  <a:tcPr marL="72049" marR="72049" marT="36025" marB="360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Flags cultural red flags (e.g. fear, blame, disengagement) before incidents escalate, supporting early intervention.</a:t>
                      </a:r>
                    </a:p>
                  </a:txBody>
                  <a:tcPr marL="72049" marR="72049" marT="36025" marB="360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702831"/>
                  </a:ext>
                </a:extLst>
              </a:tr>
              <a:tr h="539996">
                <a:tc>
                  <a:txBody>
                    <a:bodyPr/>
                    <a:lstStyle/>
                    <a:p>
                      <a:r>
                        <a:rPr lang="en-AU" sz="1400" b="1" dirty="0"/>
                        <a:t>Enhanced Governance</a:t>
                      </a:r>
                      <a:endParaRPr lang="en-AU" sz="1400" dirty="0"/>
                    </a:p>
                  </a:txBody>
                  <a:tcPr marL="72049" marR="72049" marT="36025" marB="360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Provides board- and executive-level insights into safety culture through explainable AI and cultural indicators.</a:t>
                      </a:r>
                    </a:p>
                  </a:txBody>
                  <a:tcPr marL="72049" marR="72049" marT="36025" marB="360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008574"/>
                  </a:ext>
                </a:extLst>
              </a:tr>
              <a:tr h="539996">
                <a:tc>
                  <a:txBody>
                    <a:bodyPr/>
                    <a:lstStyle/>
                    <a:p>
                      <a:r>
                        <a:rPr lang="en-AU" sz="1400" b="1"/>
                        <a:t>Continuous Safety Intelligence</a:t>
                      </a:r>
                      <a:endParaRPr lang="en-AU" sz="1400"/>
                    </a:p>
                  </a:txBody>
                  <a:tcPr marL="72049" marR="72049" marT="36025" marB="360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Moves beyond periodic surveys to real-time analysis of routine WHS reports, improving responsiveness and oversight.</a:t>
                      </a:r>
                    </a:p>
                  </a:txBody>
                  <a:tcPr marL="72049" marR="72049" marT="36025" marB="360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979684"/>
                  </a:ext>
                </a:extLst>
              </a:tr>
              <a:tr h="539996">
                <a:tc>
                  <a:txBody>
                    <a:bodyPr/>
                    <a:lstStyle/>
                    <a:p>
                      <a:r>
                        <a:rPr lang="en-AU" sz="1400" b="1"/>
                        <a:t>Data-Driven Decision Making</a:t>
                      </a:r>
                      <a:endParaRPr lang="en-AU" sz="1400"/>
                    </a:p>
                  </a:txBody>
                  <a:tcPr marL="72049" marR="72049" marT="36025" marB="360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Empowers safety leaders with evidence-based insights for coaching, training, or escalation.</a:t>
                      </a:r>
                    </a:p>
                  </a:txBody>
                  <a:tcPr marL="72049" marR="72049" marT="36025" marB="360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06853"/>
                  </a:ext>
                </a:extLst>
              </a:tr>
              <a:tr h="539996">
                <a:tc>
                  <a:txBody>
                    <a:bodyPr/>
                    <a:lstStyle/>
                    <a:p>
                      <a:r>
                        <a:rPr lang="en-AU" sz="1400" b="1"/>
                        <a:t>Cultural Benchmarking</a:t>
                      </a:r>
                      <a:endParaRPr lang="en-AU" sz="1400"/>
                    </a:p>
                  </a:txBody>
                  <a:tcPr marL="72049" marR="72049" marT="36025" marB="360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Enables comparison across teams, shifts, or sites to identify patterns of concern or improvement over time.</a:t>
                      </a:r>
                    </a:p>
                  </a:txBody>
                  <a:tcPr marL="72049" marR="72049" marT="36025" marB="360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308829"/>
                  </a:ext>
                </a:extLst>
              </a:tr>
              <a:tr h="539996">
                <a:tc>
                  <a:txBody>
                    <a:bodyPr/>
                    <a:lstStyle/>
                    <a:p>
                      <a:r>
                        <a:rPr lang="en-AU" sz="1400" b="1"/>
                        <a:t>Compliance &amp; Audit Readiness</a:t>
                      </a:r>
                      <a:endParaRPr lang="en-AU" sz="1400"/>
                    </a:p>
                  </a:txBody>
                  <a:tcPr marL="72049" marR="72049" marT="36025" marB="360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Demonstrates alignment with psychological safety and safety culture principles in ISO, WHS regulations, or audit frameworks.</a:t>
                      </a:r>
                    </a:p>
                  </a:txBody>
                  <a:tcPr marL="72049" marR="72049" marT="36025" marB="360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67014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0619A-7430-4386-27AB-99EDB3F08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190AB-AB90-08A5-9F8B-769DD6DF7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8718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3DBB06-653A-5B6D-C630-191A17B72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latin typeface="+mj-lt"/>
                <a:ea typeface="+mj-ea"/>
                <a:cs typeface="+mj-cs"/>
              </a:rPr>
              <a:t>Estimated costs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A886A2-494B-2259-28CF-AEB2533659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1141758"/>
              </p:ext>
            </p:extLst>
          </p:nvPr>
        </p:nvGraphicFramePr>
        <p:xfrm>
          <a:off x="838200" y="1931215"/>
          <a:ext cx="10506457" cy="414771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732575">
                  <a:extLst>
                    <a:ext uri="{9D8B030D-6E8A-4147-A177-3AD203B41FA5}">
                      <a16:colId xmlns:a16="http://schemas.microsoft.com/office/drawing/2014/main" val="3589686429"/>
                    </a:ext>
                  </a:extLst>
                </a:gridCol>
                <a:gridCol w="6773882">
                  <a:extLst>
                    <a:ext uri="{9D8B030D-6E8A-4147-A177-3AD203B41FA5}">
                      <a16:colId xmlns:a16="http://schemas.microsoft.com/office/drawing/2014/main" val="983479552"/>
                    </a:ext>
                  </a:extLst>
                </a:gridCol>
              </a:tblGrid>
              <a:tr h="480481">
                <a:tc>
                  <a:txBody>
                    <a:bodyPr/>
                    <a:lstStyle/>
                    <a:p>
                      <a:r>
                        <a:rPr lang="en-AU" sz="1700" cap="none" spc="0">
                          <a:solidFill>
                            <a:schemeClr val="tx1"/>
                          </a:solidFill>
                        </a:rPr>
                        <a:t>Cost Area</a:t>
                      </a:r>
                    </a:p>
                  </a:txBody>
                  <a:tcPr marL="63242" marR="63242" marT="50437" marB="126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700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63242" marR="63242" marT="50437" marB="126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76048"/>
                  </a:ext>
                </a:extLst>
              </a:tr>
              <a:tr h="733447">
                <a:tc>
                  <a:txBody>
                    <a:bodyPr/>
                    <a:lstStyle/>
                    <a:p>
                      <a:r>
                        <a:rPr lang="en-AU" sz="1700" b="1" cap="none" spc="0">
                          <a:solidFill>
                            <a:schemeClr val="tx1"/>
                          </a:solidFill>
                        </a:rPr>
                        <a:t>Development &amp; Data Science Time</a:t>
                      </a:r>
                      <a:endParaRPr lang="en-AU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242" marR="63242" marT="50437" marB="126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Initial setup required approximately 40–80 hours of skilled effort (data cleaning, modelling, validation).</a:t>
                      </a:r>
                    </a:p>
                  </a:txBody>
                  <a:tcPr marL="63242" marR="63242" marT="50437" marB="126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713618"/>
                  </a:ext>
                </a:extLst>
              </a:tr>
              <a:tr h="733447">
                <a:tc>
                  <a:txBody>
                    <a:bodyPr/>
                    <a:lstStyle/>
                    <a:p>
                      <a:r>
                        <a:rPr lang="en-AU" sz="1700" b="1" cap="none" spc="0">
                          <a:solidFill>
                            <a:schemeClr val="tx1"/>
                          </a:solidFill>
                        </a:rPr>
                        <a:t>Infrastructure</a:t>
                      </a:r>
                      <a:endParaRPr lang="en-AU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242" marR="63242" marT="50437" marB="126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Minimal additional infrastructure; runs on existing Python/Jupyter environment or can be deployed via a secure dashboard.</a:t>
                      </a:r>
                    </a:p>
                  </a:txBody>
                  <a:tcPr marL="63242" marR="63242" marT="50437" marB="126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996299"/>
                  </a:ext>
                </a:extLst>
              </a:tr>
              <a:tr h="733447">
                <a:tc>
                  <a:txBody>
                    <a:bodyPr/>
                    <a:lstStyle/>
                    <a:p>
                      <a:r>
                        <a:rPr lang="en-AU" sz="1700" b="1" cap="none" spc="0">
                          <a:solidFill>
                            <a:schemeClr val="tx1"/>
                          </a:solidFill>
                        </a:rPr>
                        <a:t>Model Maintenance</a:t>
                      </a:r>
                      <a:endParaRPr lang="en-AU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242" marR="63242" marT="50437" marB="126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Periodic retraining and calibration needed (~quarterly or biannually) to reflect new language and incident types.</a:t>
                      </a:r>
                    </a:p>
                  </a:txBody>
                  <a:tcPr marL="63242" marR="63242" marT="50437" marB="126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152384"/>
                  </a:ext>
                </a:extLst>
              </a:tr>
              <a:tr h="733447">
                <a:tc>
                  <a:txBody>
                    <a:bodyPr/>
                    <a:lstStyle/>
                    <a:p>
                      <a:r>
                        <a:rPr lang="en-AU" sz="1700" b="1" cap="none" spc="0">
                          <a:solidFill>
                            <a:schemeClr val="tx1"/>
                          </a:solidFill>
                        </a:rPr>
                        <a:t>Training &amp; Change Management</a:t>
                      </a:r>
                      <a:endParaRPr lang="en-AU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242" marR="63242" marT="50437" marB="126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Time to onboard safety staff and leaders in understanding model outputs and embedding insights into workflows.</a:t>
                      </a:r>
                    </a:p>
                  </a:txBody>
                  <a:tcPr marL="63242" marR="63242" marT="50437" marB="126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653665"/>
                  </a:ext>
                </a:extLst>
              </a:tr>
              <a:tr h="733447">
                <a:tc>
                  <a:txBody>
                    <a:bodyPr/>
                    <a:lstStyle/>
                    <a:p>
                      <a:r>
                        <a:rPr lang="en-AU" sz="1700" b="1" cap="none" spc="0">
                          <a:solidFill>
                            <a:schemeClr val="tx1"/>
                          </a:solidFill>
                        </a:rPr>
                        <a:t>Governance &amp; Ethics Review</a:t>
                      </a:r>
                      <a:endParaRPr lang="en-AU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242" marR="63242" marT="50437" marB="126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Internal review for fairness, transparency, and interpretability in line with responsible AI practices.</a:t>
                      </a:r>
                    </a:p>
                  </a:txBody>
                  <a:tcPr marL="63242" marR="63242" marT="50437" marB="126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473297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2F871-3D49-8310-5F2C-BFCBEDB42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ED1AD-7A50-65EF-4BF0-BE2D19CD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4062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A87CC9-FF98-1704-C7A5-C1164076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26667-0F98-C55D-C60A-1217D47F5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/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Overview of the model and prototyping phases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CA4018-9929-F573-9C86-23B73C357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20BFF-D139-DBB3-8438-242FEAFC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9</a:t>
            </a:fld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FFE50C-9A92-536A-77FC-AB706C0BD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2181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41048-CFF6-EB5A-0A9F-286A41F49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Key stages of development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7A733580-EF56-E089-A0F2-B34659431D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912805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DDF04D-76BE-BAF4-53D7-D0F14FE61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12CDD-FC69-BE1B-82C4-0402A7E08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165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201B25-BE6E-4C2E-A650-3A58CCC3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3630A1-DB74-536E-8697-91F7B622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Synthetic data and exemplars (Stages 1 and 2)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BFAABC72-BB5F-A56B-AEFC-38089AA643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378470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CDFFE-DA8B-3094-EF32-D4C454634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7B252-3D03-4419-110A-56AD2AA5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3758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5B46A-67BA-4D9F-4168-968FF22BB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103121-C0B7-93AB-8B08-9602A2CDC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pPr>
              <a:spcAft>
                <a:spcPts val="600"/>
              </a:spcAft>
            </a:pPr>
            <a:r>
              <a:rPr lang="en-AU" sz="4000" dirty="0">
                <a:solidFill>
                  <a:schemeClr val="bg1"/>
                </a:solidFill>
              </a:rPr>
              <a:t>Engineering, modelling and refinement (Stages 3 – 5)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4E4270D-1646-14C2-988F-7766671BD6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8023633"/>
              </p:ext>
            </p:extLst>
          </p:nvPr>
        </p:nvGraphicFramePr>
        <p:xfrm>
          <a:off x="2380398" y="1826786"/>
          <a:ext cx="7637060" cy="4779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7794F-5971-F1ED-853A-11054165D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9FC26-FA88-61C6-8984-80C59DBE6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5000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379DAE6D-6A2C-1C07-7EBE-BBA082E56092}"/>
              </a:ext>
            </a:extLst>
          </p:cNvPr>
          <p:cNvSpPr txBox="1"/>
          <p:nvPr/>
        </p:nvSpPr>
        <p:spPr>
          <a:xfrm>
            <a:off x="46040" y="765810"/>
            <a:ext cx="12099920" cy="609219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FDBD8AC-5A07-D3E1-6C8E-1FF2E1074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66" y="938647"/>
            <a:ext cx="4570388" cy="51829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2C65E4E-6AC4-C679-BB08-01E1B6178CA4}"/>
              </a:ext>
            </a:extLst>
          </p:cNvPr>
          <p:cNvSpPr txBox="1"/>
          <p:nvPr/>
        </p:nvSpPr>
        <p:spPr>
          <a:xfrm>
            <a:off x="10149240" y="3247673"/>
            <a:ext cx="1860550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1100" b="1" dirty="0"/>
              <a:t>Classify</a:t>
            </a:r>
            <a:r>
              <a:rPr lang="en-AU" sz="1100" dirty="0"/>
              <a:t>: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AU" sz="1100" dirty="0"/>
              <a:t>Psychological Safety Level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AU" sz="1100" dirty="0"/>
              <a:t>Engagement Level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AU" sz="1100" dirty="0"/>
              <a:t>Assign persona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AU" sz="1100" dirty="0"/>
              <a:t>Culture Indicator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E0981DA-08EC-1DBB-017D-D6EE85A8EDB1}"/>
              </a:ext>
            </a:extLst>
          </p:cNvPr>
          <p:cNvSpPr/>
          <p:nvPr/>
        </p:nvSpPr>
        <p:spPr>
          <a:xfrm>
            <a:off x="4657628" y="3339844"/>
            <a:ext cx="412750" cy="2292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1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2CC069-A108-2D61-82EB-196298E34844}"/>
              </a:ext>
            </a:extLst>
          </p:cNvPr>
          <p:cNvSpPr txBox="1"/>
          <p:nvPr/>
        </p:nvSpPr>
        <p:spPr>
          <a:xfrm>
            <a:off x="7662546" y="2247434"/>
            <a:ext cx="1860550" cy="76944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AU" sz="1100" dirty="0"/>
          </a:p>
          <a:p>
            <a:pPr algn="ctr"/>
            <a:r>
              <a:rPr lang="en-AU" sz="1100" b="1" dirty="0"/>
              <a:t>Emotion model (</a:t>
            </a:r>
            <a:r>
              <a:rPr lang="en-AU" sz="1100" b="1" dirty="0" err="1"/>
              <a:t>RoBERTa</a:t>
            </a:r>
            <a:r>
              <a:rPr lang="en-AU" sz="1100" b="1" dirty="0"/>
              <a:t> </a:t>
            </a:r>
            <a:r>
              <a:rPr lang="en-AU" sz="1100" b="1" dirty="0" err="1"/>
              <a:t>GoEmotions</a:t>
            </a:r>
            <a:r>
              <a:rPr lang="en-AU" sz="1100" b="1" dirty="0"/>
              <a:t>)</a:t>
            </a:r>
          </a:p>
          <a:p>
            <a:pPr algn="ctr"/>
            <a:endParaRPr lang="en-AU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E1720A-84FE-E90A-B731-B23C1C032BAD}"/>
              </a:ext>
            </a:extLst>
          </p:cNvPr>
          <p:cNvSpPr txBox="1"/>
          <p:nvPr/>
        </p:nvSpPr>
        <p:spPr>
          <a:xfrm>
            <a:off x="7662546" y="3131505"/>
            <a:ext cx="1860550" cy="76944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AU" sz="1100" dirty="0"/>
          </a:p>
          <a:p>
            <a:pPr algn="ctr"/>
            <a:r>
              <a:rPr lang="en-AU" sz="1100" b="1" dirty="0"/>
              <a:t>Extract emotion probabilities</a:t>
            </a:r>
          </a:p>
          <a:p>
            <a:pPr algn="ctr"/>
            <a:endParaRPr lang="en-AU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054837-79C4-8BFF-E94A-FC3F12BD18D7}"/>
              </a:ext>
            </a:extLst>
          </p:cNvPr>
          <p:cNvSpPr txBox="1"/>
          <p:nvPr/>
        </p:nvSpPr>
        <p:spPr>
          <a:xfrm>
            <a:off x="7662546" y="4008475"/>
            <a:ext cx="1860550" cy="76944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AU" sz="1100" dirty="0"/>
          </a:p>
          <a:p>
            <a:pPr algn="ctr"/>
            <a:r>
              <a:rPr lang="en-AU" sz="1100" b="1" dirty="0"/>
              <a:t>Convert to emotion score or dominant ‘label’</a:t>
            </a:r>
          </a:p>
          <a:p>
            <a:pPr algn="ctr"/>
            <a:endParaRPr lang="en-AU" sz="1100" dirty="0"/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FDD1695F-A111-45EB-926F-FD5DB7FF9CB5}"/>
              </a:ext>
            </a:extLst>
          </p:cNvPr>
          <p:cNvSpPr/>
          <p:nvPr/>
        </p:nvSpPr>
        <p:spPr>
          <a:xfrm rot="10800000">
            <a:off x="9700603" y="2463166"/>
            <a:ext cx="271130" cy="2211882"/>
          </a:xfrm>
          <a:prstGeom prst="leftBrace">
            <a:avLst>
              <a:gd name="adj1" fmla="val 8333"/>
              <a:gd name="adj2" fmla="val 4951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79B20D2C-C67B-5E8F-2A4C-C39427AEA503}"/>
              </a:ext>
            </a:extLst>
          </p:cNvPr>
          <p:cNvSpPr/>
          <p:nvPr/>
        </p:nvSpPr>
        <p:spPr>
          <a:xfrm>
            <a:off x="7282900" y="2433174"/>
            <a:ext cx="271130" cy="2211882"/>
          </a:xfrm>
          <a:prstGeom prst="leftBrace">
            <a:avLst>
              <a:gd name="adj1" fmla="val 8333"/>
              <a:gd name="adj2" fmla="val 4951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94E7F2-9880-3ABF-A6CA-0AE002879A6C}"/>
              </a:ext>
            </a:extLst>
          </p:cNvPr>
          <p:cNvSpPr txBox="1"/>
          <p:nvPr/>
        </p:nvSpPr>
        <p:spPr>
          <a:xfrm>
            <a:off x="109650" y="6092190"/>
            <a:ext cx="8442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Developing the hybrid model turning qualitative information and ‘unnoisy’  corporate language into quantitative features</a:t>
            </a:r>
          </a:p>
        </p:txBody>
      </p:sp>
      <p:sp>
        <p:nvSpPr>
          <p:cNvPr id="37" name="Callout: Line 36">
            <a:extLst>
              <a:ext uri="{FF2B5EF4-FFF2-40B4-BE49-F238E27FC236}">
                <a16:creationId xmlns:a16="http://schemas.microsoft.com/office/drawing/2014/main" id="{0A5D23E9-A86D-649F-7EEA-B4E4E63BBD37}"/>
              </a:ext>
            </a:extLst>
          </p:cNvPr>
          <p:cNvSpPr/>
          <p:nvPr/>
        </p:nvSpPr>
        <p:spPr>
          <a:xfrm>
            <a:off x="9511350" y="1003596"/>
            <a:ext cx="2332330" cy="1396644"/>
          </a:xfrm>
          <a:prstGeom prst="border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emotion model adds depth to traditional linguistic analysis by identifying subtle affective cues.</a:t>
            </a:r>
          </a:p>
        </p:txBody>
      </p:sp>
      <p:sp>
        <p:nvSpPr>
          <p:cNvPr id="38" name="Callout: Line 37">
            <a:extLst>
              <a:ext uri="{FF2B5EF4-FFF2-40B4-BE49-F238E27FC236}">
                <a16:creationId xmlns:a16="http://schemas.microsoft.com/office/drawing/2014/main" id="{771AA594-DD40-C412-E5F1-3C3D0C8DF7CE}"/>
              </a:ext>
            </a:extLst>
          </p:cNvPr>
          <p:cNvSpPr/>
          <p:nvPr/>
        </p:nvSpPr>
        <p:spPr>
          <a:xfrm>
            <a:off x="4963372" y="955886"/>
            <a:ext cx="2081710" cy="1810849"/>
          </a:xfrm>
          <a:prstGeom prst="borderCallout1">
            <a:avLst>
              <a:gd name="adj1" fmla="val 79044"/>
              <a:gd name="adj2" fmla="val 106106"/>
              <a:gd name="adj3" fmla="val 144450"/>
              <a:gd name="adj4" fmla="val 12831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Scores around fear, guilt, or gratitude help indicate whether the writer felt safe, hesitant, or empowered to speak up.</a:t>
            </a:r>
          </a:p>
        </p:txBody>
      </p:sp>
      <p:sp>
        <p:nvSpPr>
          <p:cNvPr id="39" name="Callout: Line 38">
            <a:extLst>
              <a:ext uri="{FF2B5EF4-FFF2-40B4-BE49-F238E27FC236}">
                <a16:creationId xmlns:a16="http://schemas.microsoft.com/office/drawing/2014/main" id="{587DB434-BE40-61CC-1D0C-D40AB56E3864}"/>
              </a:ext>
            </a:extLst>
          </p:cNvPr>
          <p:cNvSpPr/>
          <p:nvPr/>
        </p:nvSpPr>
        <p:spPr>
          <a:xfrm>
            <a:off x="8786192" y="4901185"/>
            <a:ext cx="3125596" cy="1695361"/>
          </a:xfrm>
          <a:prstGeom prst="borderCallout1">
            <a:avLst>
              <a:gd name="adj1" fmla="val -7514"/>
              <a:gd name="adj2" fmla="val 56283"/>
              <a:gd name="adj3" fmla="val -71791"/>
              <a:gd name="adj4" fmla="val 350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These scores become part of the input used to classify psychological safety, improving the interpretability of neutral-seeming text.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454D79-2959-7BDF-AD91-CA292F65516B}"/>
              </a:ext>
            </a:extLst>
          </p:cNvPr>
          <p:cNvSpPr txBox="1"/>
          <p:nvPr/>
        </p:nvSpPr>
        <p:spPr>
          <a:xfrm>
            <a:off x="5155988" y="3069756"/>
            <a:ext cx="1860550" cy="93871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AU" sz="1100" b="1" dirty="0"/>
          </a:p>
          <a:p>
            <a:pPr algn="ctr"/>
            <a:r>
              <a:rPr lang="en-AU" sz="1100" b="1" dirty="0"/>
              <a:t>Linguistic signal extraction and encoding</a:t>
            </a:r>
          </a:p>
          <a:p>
            <a:pPr algn="ctr"/>
            <a:endParaRPr lang="en-AU" sz="1100" dirty="0"/>
          </a:p>
          <a:p>
            <a:pPr algn="ctr"/>
            <a:endParaRPr lang="en-AU" sz="11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0FFE53-08B0-8685-B46C-21049BA5BA23}"/>
              </a:ext>
            </a:extLst>
          </p:cNvPr>
          <p:cNvSpPr txBox="1"/>
          <p:nvPr/>
        </p:nvSpPr>
        <p:spPr>
          <a:xfrm>
            <a:off x="2568207" y="1539439"/>
            <a:ext cx="2089421" cy="24545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B2A268-DA48-8A7E-307A-284226B74F98}"/>
              </a:ext>
            </a:extLst>
          </p:cNvPr>
          <p:cNvSpPr txBox="1"/>
          <p:nvPr/>
        </p:nvSpPr>
        <p:spPr>
          <a:xfrm>
            <a:off x="2668938" y="1745864"/>
            <a:ext cx="1860550" cy="6001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AU" sz="1100" dirty="0"/>
          </a:p>
          <a:p>
            <a:pPr algn="ctr"/>
            <a:r>
              <a:rPr lang="en-AU" sz="1100" b="1" dirty="0"/>
              <a:t>Text input </a:t>
            </a:r>
            <a:r>
              <a:rPr lang="en-AU" sz="1100" dirty="0"/>
              <a:t>(WHS report)</a:t>
            </a:r>
          </a:p>
          <a:p>
            <a:pPr algn="ctr"/>
            <a:endParaRPr lang="en-AU" sz="1100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4FBEAB6-0FCA-3323-8F73-1BDBF68BDC20}"/>
              </a:ext>
            </a:extLst>
          </p:cNvPr>
          <p:cNvSpPr/>
          <p:nvPr/>
        </p:nvSpPr>
        <p:spPr>
          <a:xfrm rot="5400000">
            <a:off x="3320736" y="2579631"/>
            <a:ext cx="412750" cy="2292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1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A87D8F-6AA6-7D40-7030-C3317E739095}"/>
              </a:ext>
            </a:extLst>
          </p:cNvPr>
          <p:cNvSpPr txBox="1"/>
          <p:nvPr/>
        </p:nvSpPr>
        <p:spPr>
          <a:xfrm>
            <a:off x="2711468" y="3042497"/>
            <a:ext cx="1860550" cy="76944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AU" sz="1100" dirty="0"/>
          </a:p>
          <a:p>
            <a:pPr algn="ctr"/>
            <a:r>
              <a:rPr lang="en-AU" sz="1100" b="1" dirty="0"/>
              <a:t>Preprocessing</a:t>
            </a:r>
            <a:r>
              <a:rPr lang="en-AU" sz="1100" dirty="0"/>
              <a:t> (clean, tokenise)</a:t>
            </a:r>
          </a:p>
          <a:p>
            <a:pPr algn="ctr"/>
            <a:endParaRPr lang="en-AU" sz="11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369123-1EDB-DBC8-61C1-31AA9D7D6DF3}"/>
              </a:ext>
            </a:extLst>
          </p:cNvPr>
          <p:cNvSpPr txBox="1"/>
          <p:nvPr/>
        </p:nvSpPr>
        <p:spPr>
          <a:xfrm>
            <a:off x="354330" y="34268"/>
            <a:ext cx="117916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Model stages and feature engineering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B9A0BE5-ADBE-A09B-B52C-4FEDABA33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6C1696-0C3A-A70C-DD8B-5FE94BCFA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9901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2A747-CF71-FC4B-A740-0EABDEC3E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Feature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F78D5-920A-F956-656B-1CE303688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1">
              <a:spcBef>
                <a:spcPts val="1000"/>
              </a:spcBef>
            </a:pPr>
            <a:r>
              <a:rPr lang="en-US" sz="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Linguistic Features – </a:t>
            </a:r>
            <a:r>
              <a:rPr lang="en-US" sz="8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 Culture, Tone, and Intent</a:t>
            </a:r>
            <a:endParaRPr lang="en-US" sz="8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1">
              <a:spcBef>
                <a:spcPts val="1000"/>
              </a:spcBef>
            </a:pPr>
            <a:r>
              <a:rPr lang="en-US" sz="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Emotional &amp; Sentiment Features</a:t>
            </a:r>
          </a:p>
          <a:p>
            <a:pPr marL="0" lvl="1">
              <a:spcBef>
                <a:spcPts val="1000"/>
              </a:spcBef>
            </a:pPr>
            <a:r>
              <a:rPr lang="en-US" sz="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Persona and Scoring Features</a:t>
            </a:r>
          </a:p>
          <a:p>
            <a:pPr marL="0" lvl="1">
              <a:spcBef>
                <a:spcPts val="1000"/>
              </a:spcBef>
            </a:pPr>
            <a:r>
              <a:rPr lang="en-US" sz="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Culture Risk Indicator</a:t>
            </a:r>
          </a:p>
          <a:p>
            <a:pPr marL="0" lvl="1">
              <a:spcBef>
                <a:spcPts val="1000"/>
              </a:spcBef>
            </a:pPr>
            <a:r>
              <a: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Examples  of the hybrid scoring model</a:t>
            </a:r>
          </a:p>
          <a:p>
            <a:pPr marL="0" lvl="1">
              <a:spcBef>
                <a:spcPts val="1000"/>
              </a:spcBef>
            </a:pPr>
            <a:r>
              <a: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the use of persona’s support this model.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D6DCDD-A6A2-0987-ED60-611ABF36B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F5F3A-577B-5C42-17B3-6D73DA6AB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8951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CDA8F1-0593-2D25-B111-EADBDCE77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Feature Engineering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1F47D-F129-DD5A-AF59-6226DAF9A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2002536"/>
            <a:ext cx="4114800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K Foster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61105-A0AF-3F88-33F0-4F948286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7325A05-8D1E-408A-9271-30757143225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1F8BF8A6-1B8F-9061-3511-11BD8DE2C5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4343706"/>
              </p:ext>
            </p:extLst>
          </p:nvPr>
        </p:nvGraphicFramePr>
        <p:xfrm>
          <a:off x="4241442" y="128015"/>
          <a:ext cx="7806532" cy="6692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32498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C2740C-584A-CC90-F7D9-6471311AB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2D5B1-33C4-78A2-F4C9-F5EF6EA44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pPr marL="457200" lvl="1" indent="0">
              <a:buNone/>
            </a:pPr>
            <a:r>
              <a:rPr lang="en-AU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Linguistic Features – </a:t>
            </a:r>
            <a:r>
              <a:rPr lang="en-AU" sz="1800" i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Risk Culture, Tone, and Intent</a:t>
            </a:r>
            <a:endParaRPr lang="en-AU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4F40D6-CE73-1A77-6720-0FB2AFD6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0856"/>
              </p:ext>
            </p:extLst>
          </p:nvPr>
        </p:nvGraphicFramePr>
        <p:xfrm>
          <a:off x="557784" y="2942994"/>
          <a:ext cx="11164826" cy="30659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57303">
                  <a:extLst>
                    <a:ext uri="{9D8B030D-6E8A-4147-A177-3AD203B41FA5}">
                      <a16:colId xmlns:a16="http://schemas.microsoft.com/office/drawing/2014/main" val="1793508385"/>
                    </a:ext>
                  </a:extLst>
                </a:gridCol>
                <a:gridCol w="2757303">
                  <a:extLst>
                    <a:ext uri="{9D8B030D-6E8A-4147-A177-3AD203B41FA5}">
                      <a16:colId xmlns:a16="http://schemas.microsoft.com/office/drawing/2014/main" val="1846816406"/>
                    </a:ext>
                  </a:extLst>
                </a:gridCol>
                <a:gridCol w="2794072">
                  <a:extLst>
                    <a:ext uri="{9D8B030D-6E8A-4147-A177-3AD203B41FA5}">
                      <a16:colId xmlns:a16="http://schemas.microsoft.com/office/drawing/2014/main" val="1973089556"/>
                    </a:ext>
                  </a:extLst>
                </a:gridCol>
                <a:gridCol w="2856148">
                  <a:extLst>
                    <a:ext uri="{9D8B030D-6E8A-4147-A177-3AD203B41FA5}">
                      <a16:colId xmlns:a16="http://schemas.microsoft.com/office/drawing/2014/main" val="3342419138"/>
                    </a:ext>
                  </a:extLst>
                </a:gridCol>
              </a:tblGrid>
              <a:tr h="2206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Feature Name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Method Used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Purpose  and Interpretive Value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extLst>
                  <a:ext uri="{0D108BD9-81ED-4DB2-BD59-A6C34878D82A}">
                    <a16:rowId xmlns:a16="http://schemas.microsoft.com/office/drawing/2014/main" val="1810526235"/>
                  </a:ext>
                </a:extLst>
              </a:tr>
              <a:tr h="4064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Blame indicators</a:t>
                      </a: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passive_voice_count, ‘you_count”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Regex match on was, were, been, being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High values may suggest blame avoidance or deflection, linked to low psych safety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extLst>
                  <a:ext uri="{0D108BD9-81ED-4DB2-BD59-A6C34878D82A}">
                    <a16:rowId xmlns:a16="http://schemas.microsoft.com/office/drawing/2014/main" val="3024199000"/>
                  </a:ext>
                </a:extLst>
              </a:tr>
              <a:tr h="406481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Tentativeness and  fear</a:t>
                      </a: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modal_verb_count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Regex on modals: should, could, might, must, etc.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Suggests tentative or indecisive language, correlated with low engagement or fear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extLst>
                  <a:ext uri="{0D108BD9-81ED-4DB2-BD59-A6C34878D82A}">
                    <a16:rowId xmlns:a16="http://schemas.microsoft.com/office/drawing/2014/main" val="541029869"/>
                  </a:ext>
                </a:extLst>
              </a:tr>
              <a:tr h="406481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A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hedging_terms_count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Frequency of softeners like maybe, perhaps, I think, appears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Indicates uncertainty, anxiety, or low confidence, linked to Mia-style personas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extLst>
                  <a:ext uri="{0D108BD9-81ED-4DB2-BD59-A6C34878D82A}">
                    <a16:rowId xmlns:a16="http://schemas.microsoft.com/office/drawing/2014/main" val="912916889"/>
                  </a:ext>
                </a:extLst>
              </a:tr>
              <a:tr h="4064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Agency markers (not used in final model)</a:t>
                      </a: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i_count, we_count,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Regex-based pronoun counting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Assesses agency or detachment (e.g., “we” = team inclusion; “you” may signal blame)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extLst>
                  <a:ext uri="{0D108BD9-81ED-4DB2-BD59-A6C34878D82A}">
                    <a16:rowId xmlns:a16="http://schemas.microsoft.com/office/drawing/2014/main" val="3919970817"/>
                  </a:ext>
                </a:extLst>
              </a:tr>
              <a:tr h="406481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Effort/Engagement indicators</a:t>
                      </a: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avg_word_length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Average word length across combined_text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A proxy for writing effort or technical sophistication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extLst>
                  <a:ext uri="{0D108BD9-81ED-4DB2-BD59-A6C34878D82A}">
                    <a16:rowId xmlns:a16="http://schemas.microsoft.com/office/drawing/2014/main" val="1130964516"/>
                  </a:ext>
                </a:extLst>
              </a:tr>
              <a:tr h="406481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A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specificity_score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Count of WHS-specific terms (SOP, LOTO, gauge, checklist, etc.)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Indicates technical engagement or procedural compliance, common for Kavita persona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extLst>
                  <a:ext uri="{0D108BD9-81ED-4DB2-BD59-A6C34878D82A}">
                    <a16:rowId xmlns:a16="http://schemas.microsoft.com/office/drawing/2014/main" val="1885308729"/>
                  </a:ext>
                </a:extLst>
              </a:tr>
              <a:tr h="406481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A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corrective_action_word_count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>
                          <a:effectLst/>
                        </a:rPr>
                        <a:t>Word count from corrective_action_taken</a:t>
                      </a:r>
                      <a:endParaRPr lang="en-A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kern="100" dirty="0">
                          <a:effectLst/>
                        </a:rPr>
                        <a:t>Captures depth of response, used in engagement scoring</a:t>
                      </a:r>
                      <a:endParaRPr lang="en-AU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73" marR="7273" marT="7273" marB="7273" anchor="ctr"/>
                </a:tc>
                <a:extLst>
                  <a:ext uri="{0D108BD9-81ED-4DB2-BD59-A6C34878D82A}">
                    <a16:rowId xmlns:a16="http://schemas.microsoft.com/office/drawing/2014/main" val="3222125021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361372-5374-5EF2-D751-0F9FDC2D1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C3F634-EA93-E74B-AE44-F3033DC0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6209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72C753-4CFA-C910-6AD1-7A89FC8BC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7A194-37B3-8246-5353-ECFC3E76C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pPr marL="457200" lvl="1" indent="0">
              <a:buNone/>
            </a:pP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Emotion &amp; Sentiment Features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1FABFBB-D890-B1A7-3AF3-4AF49CA09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900285"/>
              </p:ext>
            </p:extLst>
          </p:nvPr>
        </p:nvGraphicFramePr>
        <p:xfrm>
          <a:off x="1709531" y="2882635"/>
          <a:ext cx="8562891" cy="2146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74987">
                  <a:extLst>
                    <a:ext uri="{9D8B030D-6E8A-4147-A177-3AD203B41FA5}">
                      <a16:colId xmlns:a16="http://schemas.microsoft.com/office/drawing/2014/main" val="595191038"/>
                    </a:ext>
                  </a:extLst>
                </a:gridCol>
                <a:gridCol w="3833607">
                  <a:extLst>
                    <a:ext uri="{9D8B030D-6E8A-4147-A177-3AD203B41FA5}">
                      <a16:colId xmlns:a16="http://schemas.microsoft.com/office/drawing/2014/main" val="3111140165"/>
                    </a:ext>
                  </a:extLst>
                </a:gridCol>
                <a:gridCol w="2854297">
                  <a:extLst>
                    <a:ext uri="{9D8B030D-6E8A-4147-A177-3AD203B41FA5}">
                      <a16:colId xmlns:a16="http://schemas.microsoft.com/office/drawing/2014/main" val="2252448114"/>
                    </a:ext>
                  </a:extLst>
                </a:gridCol>
              </a:tblGrid>
              <a:tr h="736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200" kern="100">
                          <a:effectLst/>
                        </a:rPr>
                        <a:t>Feature Name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200" kern="100">
                          <a:effectLst/>
                        </a:rPr>
                        <a:t>Method Used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200" kern="100">
                          <a:effectLst/>
                        </a:rPr>
                        <a:t>Purpose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09042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200" kern="100">
                          <a:effectLst/>
                        </a:rPr>
                        <a:t>dominant_emotion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200" kern="100">
                          <a:effectLst/>
                        </a:rPr>
                        <a:t>Hugging Face model j-hartmann/emotion-english-distilroberta-base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200" kern="100">
                          <a:effectLst/>
                        </a:rPr>
                        <a:t>Top emotion extracted from incident_description_paraphrased using classification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00808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200" kern="100">
                          <a:effectLst/>
                        </a:rPr>
                        <a:t>emotion_vector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200" kern="100">
                          <a:effectLst/>
                        </a:rPr>
                        <a:t>JSON of all GoEmotions multi-label scores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200" kern="100">
                          <a:effectLst/>
                        </a:rPr>
                        <a:t>Used for richer downstream emotion insights (optional for X features)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014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200" kern="100">
                          <a:effectLst/>
                        </a:rPr>
                        <a:t>top3_emotion_avg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200" kern="100">
                          <a:effectLst/>
                        </a:rPr>
                        <a:t>Averaged top 3 emotion scores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200" kern="100">
                          <a:effectLst/>
                        </a:rPr>
                        <a:t>Used to estimate emotional richness or affective clarity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97416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200" kern="100">
                          <a:effectLst/>
                        </a:rPr>
                        <a:t>sentiment_score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200" kern="100">
                          <a:effectLst/>
                        </a:rPr>
                        <a:t>Not used – too many ‘neutral’ results due to corporate writing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200" kern="100" dirty="0">
                          <a:effectLst/>
                        </a:rPr>
                        <a:t>Can add polarity value (positive, neutral, negative) to support </a:t>
                      </a:r>
                      <a:r>
                        <a:rPr lang="en-AU" sz="1200" kern="100" dirty="0" err="1">
                          <a:effectLst/>
                        </a:rPr>
                        <a:t>culture_zone</a:t>
                      </a:r>
                      <a:r>
                        <a:rPr lang="en-AU" sz="1200" kern="100" dirty="0">
                          <a:effectLst/>
                        </a:rPr>
                        <a:t> mapping</a:t>
                      </a:r>
                      <a:endParaRPr lang="en-A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40747608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C1FACB-233A-88CC-38BD-2C0C55464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A492D-DDE4-D13F-6363-9C75592B1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4982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0B4FCD-9BE3-70F8-10DB-A6C8DEE26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1724E-F4F3-C69E-B3E8-A55957642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pPr marL="457200" lvl="1" indent="0">
              <a:buNone/>
            </a:pPr>
            <a:r>
              <a:rPr lang="en-AU" sz="18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Persona and Scoring Features</a:t>
            </a:r>
            <a:endParaRPr lang="en-AU" sz="1800"/>
          </a:p>
          <a:p>
            <a:pPr lvl="1"/>
            <a:endParaRPr lang="en-AU" sz="18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A90ED4-C72F-B0AB-0238-A76BF0953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688507"/>
              </p:ext>
            </p:extLst>
          </p:nvPr>
        </p:nvGraphicFramePr>
        <p:xfrm>
          <a:off x="1005573" y="2734056"/>
          <a:ext cx="10269246" cy="34838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38707">
                  <a:extLst>
                    <a:ext uri="{9D8B030D-6E8A-4147-A177-3AD203B41FA5}">
                      <a16:colId xmlns:a16="http://schemas.microsoft.com/office/drawing/2014/main" val="4098185322"/>
                    </a:ext>
                  </a:extLst>
                </a:gridCol>
                <a:gridCol w="3941583">
                  <a:extLst>
                    <a:ext uri="{9D8B030D-6E8A-4147-A177-3AD203B41FA5}">
                      <a16:colId xmlns:a16="http://schemas.microsoft.com/office/drawing/2014/main" val="3596483225"/>
                    </a:ext>
                  </a:extLst>
                </a:gridCol>
                <a:gridCol w="3488956">
                  <a:extLst>
                    <a:ext uri="{9D8B030D-6E8A-4147-A177-3AD203B41FA5}">
                      <a16:colId xmlns:a16="http://schemas.microsoft.com/office/drawing/2014/main" val="918377164"/>
                    </a:ext>
                  </a:extLst>
                </a:gridCol>
              </a:tblGrid>
              <a:tr h="3091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500" kern="100">
                          <a:effectLst/>
                        </a:rPr>
                        <a:t>Feature Name</a:t>
                      </a:r>
                      <a:endParaRPr lang="en-AU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01" marR="9201" marT="9201" marB="9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500" kern="100">
                          <a:effectLst/>
                        </a:rPr>
                        <a:t>How It’s Derived</a:t>
                      </a:r>
                      <a:endParaRPr lang="en-AU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01" marR="9201" marT="9201" marB="9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500" kern="100">
                          <a:effectLst/>
                        </a:rPr>
                        <a:t>Notes,</a:t>
                      </a:r>
                      <a:endParaRPr lang="en-AU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01" marR="9201" marT="9201" marB="9201" anchor="ctr"/>
                </a:tc>
                <a:extLst>
                  <a:ext uri="{0D108BD9-81ED-4DB2-BD59-A6C34878D82A}">
                    <a16:rowId xmlns:a16="http://schemas.microsoft.com/office/drawing/2014/main" val="3623898162"/>
                  </a:ext>
                </a:extLst>
              </a:tr>
              <a:tr h="5837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500" kern="100">
                          <a:effectLst/>
                        </a:rPr>
                        <a:t>persona</a:t>
                      </a:r>
                      <a:endParaRPr lang="en-AU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01" marR="9201" marT="9201" marB="9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500" kern="100">
                          <a:effectLst/>
                        </a:rPr>
                        <a:t>Derived from persona model</a:t>
                      </a:r>
                      <a:endParaRPr lang="en-AU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01" marR="9201" marT="9201" marB="9201" anchor="ctr"/>
                </a:tc>
                <a:tc>
                  <a:txBody>
                    <a:bodyPr/>
                    <a:lstStyle/>
                    <a:p>
                      <a:r>
                        <a:rPr lang="en-AU" sz="1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Maps reporter to one of the five synthetic personas</a:t>
                      </a:r>
                      <a:endParaRPr lang="en-US" sz="1500"/>
                    </a:p>
                  </a:txBody>
                  <a:tcPr marL="9201" marR="9201" marT="9201" marB="9201" anchor="ctr"/>
                </a:tc>
                <a:extLst>
                  <a:ext uri="{0D108BD9-81ED-4DB2-BD59-A6C34878D82A}">
                    <a16:rowId xmlns:a16="http://schemas.microsoft.com/office/drawing/2014/main" val="2054723092"/>
                  </a:ext>
                </a:extLst>
              </a:tr>
              <a:tr h="5800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500" kern="100">
                          <a:effectLst/>
                        </a:rPr>
                        <a:t>psychological_safety</a:t>
                      </a:r>
                      <a:endParaRPr lang="en-AU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01" marR="9201" marT="9201" marB="9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500" kern="100">
                          <a:effectLst/>
                        </a:rPr>
                        <a:t>Rule-based logic using modal verbs, hedging, passive voice etc.</a:t>
                      </a:r>
                      <a:endParaRPr lang="en-AU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01" marR="9201" marT="9201" marB="9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500" kern="100">
                          <a:effectLst/>
                        </a:rPr>
                        <a:t>3-class label (Low/Medium/High)</a:t>
                      </a:r>
                      <a:endParaRPr lang="en-AU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01" marR="9201" marT="9201" marB="9201" anchor="ctr"/>
                </a:tc>
                <a:extLst>
                  <a:ext uri="{0D108BD9-81ED-4DB2-BD59-A6C34878D82A}">
                    <a16:rowId xmlns:a16="http://schemas.microsoft.com/office/drawing/2014/main" val="2905304034"/>
                  </a:ext>
                </a:extLst>
              </a:tr>
              <a:tr h="5800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500" kern="100">
                          <a:effectLst/>
                        </a:rPr>
                        <a:t>engagement_score</a:t>
                      </a:r>
                      <a:endParaRPr lang="en-AU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01" marR="9201" marT="9201" marB="9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500" kern="100">
                          <a:effectLst/>
                        </a:rPr>
                        <a:t>Based on corrective action length and specificity score</a:t>
                      </a:r>
                      <a:endParaRPr lang="en-AU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01" marR="9201" marT="9201" marB="9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500" kern="100">
                          <a:effectLst/>
                        </a:rPr>
                        <a:t>Used to reflect effort/engagement levels</a:t>
                      </a:r>
                      <a:endParaRPr lang="en-AU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01" marR="9201" marT="9201" marB="9201" anchor="ctr"/>
                </a:tc>
                <a:extLst>
                  <a:ext uri="{0D108BD9-81ED-4DB2-BD59-A6C34878D82A}">
                    <a16:rowId xmlns:a16="http://schemas.microsoft.com/office/drawing/2014/main" val="1406338144"/>
                  </a:ext>
                </a:extLst>
              </a:tr>
              <a:tr h="8509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500" kern="100">
                          <a:effectLst/>
                        </a:rPr>
                        <a:t>language_score</a:t>
                      </a:r>
                      <a:endParaRPr lang="en-AU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01" marR="9201" marT="9201" marB="9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500" kern="100">
                          <a:effectLst/>
                        </a:rPr>
                        <a:t>Combined avg_word_length + specificity_score</a:t>
                      </a:r>
                      <a:endParaRPr lang="en-AU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01" marR="9201" marT="9201" marB="9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500" kern="100">
                          <a:effectLst/>
                        </a:rPr>
                        <a:t>Optional feature representing linguistic sophistication and used to calculate engagement_score.</a:t>
                      </a:r>
                      <a:endParaRPr lang="en-AU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01" marR="9201" marT="9201" marB="9201" anchor="ctr"/>
                </a:tc>
                <a:extLst>
                  <a:ext uri="{0D108BD9-81ED-4DB2-BD59-A6C34878D82A}">
                    <a16:rowId xmlns:a16="http://schemas.microsoft.com/office/drawing/2014/main" val="1639223320"/>
                  </a:ext>
                </a:extLst>
              </a:tr>
              <a:tr h="5800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500" kern="100">
                          <a:effectLst/>
                        </a:rPr>
                        <a:t>culture_zone</a:t>
                      </a:r>
                      <a:endParaRPr lang="en-AU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01" marR="9201" marT="9201" marB="9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500" kern="100">
                          <a:effectLst/>
                        </a:rPr>
                        <a:t>Derived from blend of: psych_safety, engagement_score, sentiment</a:t>
                      </a:r>
                      <a:endParaRPr lang="en-AU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01" marR="9201" marT="9201" marB="9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500" kern="100">
                          <a:effectLst/>
                        </a:rPr>
                        <a:t>3-class label: Desirable / Transitional / Intolerable</a:t>
                      </a:r>
                      <a:endParaRPr lang="en-AU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01" marR="9201" marT="9201" marB="9201" anchor="ctr"/>
                </a:tc>
                <a:extLst>
                  <a:ext uri="{0D108BD9-81ED-4DB2-BD59-A6C34878D82A}">
                    <a16:rowId xmlns:a16="http://schemas.microsoft.com/office/drawing/2014/main" val="2449107254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D3C69B-0852-C1AA-266F-A4DD7FFF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D7F1A-6B26-DD93-F3BA-29343B50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5363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5F640D-87B9-9D4C-6C46-8604ABFD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Psychological safety calculations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1C9283-412A-B645-8F80-19817D777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K Foster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BC9FF-4BD5-35AA-7D3B-84C11067B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fld id="{57325A05-8D1E-408A-9271-30757143225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0EEFAC-5EDA-2482-A2BE-A655EB8F8E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8000884"/>
              </p:ext>
            </p:extLst>
          </p:nvPr>
        </p:nvGraphicFramePr>
        <p:xfrm>
          <a:off x="644056" y="2750072"/>
          <a:ext cx="10927830" cy="3421221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325186">
                  <a:extLst>
                    <a:ext uri="{9D8B030D-6E8A-4147-A177-3AD203B41FA5}">
                      <a16:colId xmlns:a16="http://schemas.microsoft.com/office/drawing/2014/main" val="3466346449"/>
                    </a:ext>
                  </a:extLst>
                </a:gridCol>
                <a:gridCol w="2332137">
                  <a:extLst>
                    <a:ext uri="{9D8B030D-6E8A-4147-A177-3AD203B41FA5}">
                      <a16:colId xmlns:a16="http://schemas.microsoft.com/office/drawing/2014/main" val="932407594"/>
                    </a:ext>
                  </a:extLst>
                </a:gridCol>
                <a:gridCol w="5270507">
                  <a:extLst>
                    <a:ext uri="{9D8B030D-6E8A-4147-A177-3AD203B41FA5}">
                      <a16:colId xmlns:a16="http://schemas.microsoft.com/office/drawing/2014/main" val="3543526974"/>
                    </a:ext>
                  </a:extLst>
                </a:gridCol>
              </a:tblGrid>
              <a:tr h="640291">
                <a:tc>
                  <a:txBody>
                    <a:bodyPr/>
                    <a:lstStyle/>
                    <a:p>
                      <a:r>
                        <a:rPr lang="en-AU" sz="2700" b="0" cap="none" spc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0" marR="159543" marT="31908" marB="159543" anchor="b"/>
                </a:tc>
                <a:tc>
                  <a:txBody>
                    <a:bodyPr/>
                    <a:lstStyle/>
                    <a:p>
                      <a:r>
                        <a:rPr lang="en-AU" sz="2700" b="0" cap="none" spc="0">
                          <a:solidFill>
                            <a:schemeClr val="tx1"/>
                          </a:solidFill>
                        </a:rPr>
                        <a:t>Weight</a:t>
                      </a:r>
                    </a:p>
                  </a:txBody>
                  <a:tcPr marL="0" marR="159543" marT="31908" marB="159543" anchor="b"/>
                </a:tc>
                <a:tc>
                  <a:txBody>
                    <a:bodyPr/>
                    <a:lstStyle/>
                    <a:p>
                      <a:r>
                        <a:rPr lang="en-AU" sz="2700" b="0" cap="none" spc="0">
                          <a:solidFill>
                            <a:schemeClr val="tx1"/>
                          </a:solidFill>
                        </a:rPr>
                        <a:t>Reasoning</a:t>
                      </a:r>
                    </a:p>
                  </a:txBody>
                  <a:tcPr marL="0" marR="159543" marT="31908" marB="159543" anchor="b"/>
                </a:tc>
                <a:extLst>
                  <a:ext uri="{0D108BD9-81ED-4DB2-BD59-A6C34878D82A}">
                    <a16:rowId xmlns:a16="http://schemas.microsoft.com/office/drawing/2014/main" val="2788185767"/>
                  </a:ext>
                </a:extLst>
              </a:tr>
              <a:tr h="556186">
                <a:tc>
                  <a:txBody>
                    <a:bodyPr/>
                    <a:lstStyle/>
                    <a:p>
                      <a:r>
                        <a:rPr lang="en-AU" sz="2100" cap="none" spc="0">
                          <a:solidFill>
                            <a:schemeClr val="tx1"/>
                          </a:solidFill>
                        </a:rPr>
                        <a:t>Hedging terms</a:t>
                      </a:r>
                    </a:p>
                  </a:txBody>
                  <a:tcPr marL="0" marR="159543" marT="47863" marB="159543" anchor="ctr"/>
                </a:tc>
                <a:tc>
                  <a:txBody>
                    <a:bodyPr/>
                    <a:lstStyle/>
                    <a:p>
                      <a:r>
                        <a:rPr lang="en-AU" sz="2100" cap="none" spc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marL="0" marR="159543" marT="47863" marB="159543" anchor="ctr"/>
                </a:tc>
                <a:tc>
                  <a:txBody>
                    <a:bodyPr/>
                    <a:lstStyle/>
                    <a:p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Key linguistic signal of uncertainty</a:t>
                      </a:r>
                    </a:p>
                  </a:txBody>
                  <a:tcPr marL="0" marR="159543" marT="47863" marB="159543" anchor="ctr"/>
                </a:tc>
                <a:extLst>
                  <a:ext uri="{0D108BD9-81ED-4DB2-BD59-A6C34878D82A}">
                    <a16:rowId xmlns:a16="http://schemas.microsoft.com/office/drawing/2014/main" val="1767569745"/>
                  </a:ext>
                </a:extLst>
              </a:tr>
              <a:tr h="556186">
                <a:tc>
                  <a:txBody>
                    <a:bodyPr/>
                    <a:lstStyle/>
                    <a:p>
                      <a:r>
                        <a:rPr lang="en-AU" sz="2100" cap="none" spc="0">
                          <a:solidFill>
                            <a:schemeClr val="tx1"/>
                          </a:solidFill>
                        </a:rPr>
                        <a:t>Passive voice</a:t>
                      </a:r>
                    </a:p>
                  </a:txBody>
                  <a:tcPr marL="0" marR="159543" marT="47863" marB="159543" anchor="ctr"/>
                </a:tc>
                <a:tc>
                  <a:txBody>
                    <a:bodyPr/>
                    <a:lstStyle/>
                    <a:p>
                      <a:r>
                        <a:rPr lang="en-AU" sz="2100" cap="none" spc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marL="0" marR="159543" marT="47863" marB="159543" anchor="ctr"/>
                </a:tc>
                <a:tc>
                  <a:txBody>
                    <a:bodyPr/>
                    <a:lstStyle/>
                    <a:p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Indicator of low ownership or defensiveness</a:t>
                      </a:r>
                    </a:p>
                  </a:txBody>
                  <a:tcPr marL="0" marR="159543" marT="47863" marB="159543" anchor="ctr"/>
                </a:tc>
                <a:extLst>
                  <a:ext uri="{0D108BD9-81ED-4DB2-BD59-A6C34878D82A}">
                    <a16:rowId xmlns:a16="http://schemas.microsoft.com/office/drawing/2014/main" val="458096344"/>
                  </a:ext>
                </a:extLst>
              </a:tr>
              <a:tr h="556186">
                <a:tc>
                  <a:txBody>
                    <a:bodyPr/>
                    <a:lstStyle/>
                    <a:p>
                      <a:r>
                        <a:rPr lang="en-AU" sz="2100" cap="none" spc="0">
                          <a:solidFill>
                            <a:schemeClr val="tx1"/>
                          </a:solidFill>
                        </a:rPr>
                        <a:t>Top-3 emotion avg</a:t>
                      </a:r>
                    </a:p>
                  </a:txBody>
                  <a:tcPr marL="0" marR="159543" marT="47863" marB="159543" anchor="ctr"/>
                </a:tc>
                <a:tc>
                  <a:txBody>
                    <a:bodyPr/>
                    <a:lstStyle/>
                    <a:p>
                      <a:r>
                        <a:rPr lang="en-AU" sz="2100" cap="none" spc="0">
                          <a:solidFill>
                            <a:schemeClr val="tx1"/>
                          </a:solidFill>
                        </a:rPr>
                        <a:t>0.3</a:t>
                      </a:r>
                    </a:p>
                  </a:txBody>
                  <a:tcPr marL="0" marR="159543" marT="47863" marB="159543" anchor="ctr"/>
                </a:tc>
                <a:tc>
                  <a:txBody>
                    <a:bodyPr/>
                    <a:lstStyle/>
                    <a:p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Measures affective presence and richness</a:t>
                      </a:r>
                    </a:p>
                  </a:txBody>
                  <a:tcPr marL="0" marR="159543" marT="47863" marB="159543" anchor="ctr"/>
                </a:tc>
                <a:extLst>
                  <a:ext uri="{0D108BD9-81ED-4DB2-BD59-A6C34878D82A}">
                    <a16:rowId xmlns:a16="http://schemas.microsoft.com/office/drawing/2014/main" val="1632532393"/>
                  </a:ext>
                </a:extLst>
              </a:tr>
              <a:tr h="556186">
                <a:tc>
                  <a:txBody>
                    <a:bodyPr/>
                    <a:lstStyle/>
                    <a:p>
                      <a:r>
                        <a:rPr lang="en-AU" sz="2100" cap="none" spc="0">
                          <a:solidFill>
                            <a:schemeClr val="tx1"/>
                          </a:solidFill>
                        </a:rPr>
                        <a:t>Reverse fear score</a:t>
                      </a:r>
                    </a:p>
                  </a:txBody>
                  <a:tcPr marL="0" marR="159543" marT="47863" marB="159543" anchor="ctr"/>
                </a:tc>
                <a:tc>
                  <a:txBody>
                    <a:bodyPr/>
                    <a:lstStyle/>
                    <a:p>
                      <a:r>
                        <a:rPr lang="en-AU" sz="2100" cap="none" spc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marL="0" marR="159543" marT="47863" marB="159543" anchor="ctr"/>
                </a:tc>
                <a:tc>
                  <a:txBody>
                    <a:bodyPr/>
                    <a:lstStyle/>
                    <a:p>
                      <a:r>
                        <a:rPr lang="en-AU" sz="2100" cap="none" spc="0">
                          <a:solidFill>
                            <a:schemeClr val="tx1"/>
                          </a:solidFill>
                        </a:rPr>
                        <a:t>Fear suppresses psychological safety</a:t>
                      </a:r>
                    </a:p>
                  </a:txBody>
                  <a:tcPr marL="0" marR="159543" marT="47863" marB="159543" anchor="ctr"/>
                </a:tc>
                <a:extLst>
                  <a:ext uri="{0D108BD9-81ED-4DB2-BD59-A6C34878D82A}">
                    <a16:rowId xmlns:a16="http://schemas.microsoft.com/office/drawing/2014/main" val="1299417233"/>
                  </a:ext>
                </a:extLst>
              </a:tr>
              <a:tr h="556186">
                <a:tc>
                  <a:txBody>
                    <a:bodyPr/>
                    <a:lstStyle/>
                    <a:p>
                      <a:r>
                        <a:rPr lang="en-AU" sz="2100" cap="none" spc="0">
                          <a:solidFill>
                            <a:schemeClr val="tx1"/>
                          </a:solidFill>
                        </a:rPr>
                        <a:t>Reverse blame score</a:t>
                      </a:r>
                    </a:p>
                  </a:txBody>
                  <a:tcPr marL="0" marR="159543" marT="47863" marB="159543" anchor="ctr"/>
                </a:tc>
                <a:tc>
                  <a:txBody>
                    <a:bodyPr/>
                    <a:lstStyle/>
                    <a:p>
                      <a:r>
                        <a:rPr lang="en-AU" sz="2100" cap="none" spc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marL="0" marR="159543" marT="47863" marB="159543" anchor="ctr"/>
                </a:tc>
                <a:tc>
                  <a:txBody>
                    <a:bodyPr/>
                    <a:lstStyle/>
                    <a:p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Blame shifts suppress safety culture</a:t>
                      </a:r>
                    </a:p>
                  </a:txBody>
                  <a:tcPr marL="0" marR="159543" marT="47863" marB="159543" anchor="ctr"/>
                </a:tc>
                <a:extLst>
                  <a:ext uri="{0D108BD9-81ED-4DB2-BD59-A6C34878D82A}">
                    <a16:rowId xmlns:a16="http://schemas.microsoft.com/office/drawing/2014/main" val="1361792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926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DC07B27-4E3C-4BCF-ABDB-6AA72857C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19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D11BE6-2A04-4DBB-842D-88602B5E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12437"/>
            <a:ext cx="11713464" cy="684406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05E02A-9AA9-45EC-B87B-B46F043F3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" y="2724072"/>
            <a:ext cx="12192008" cy="4114801"/>
          </a:xfrm>
          <a:prstGeom prst="rect">
            <a:avLst/>
          </a:prstGeom>
          <a:gradFill>
            <a:gsLst>
              <a:gs pos="30000">
                <a:schemeClr val="accent1">
                  <a:lumMod val="75000"/>
                  <a:alpha val="19000"/>
                </a:schemeClr>
              </a:gs>
              <a:gs pos="100000">
                <a:schemeClr val="accent1">
                  <a:alpha val="24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91EDBA-E8E0-4575-8147-B7003452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09672" y="1716338"/>
            <a:ext cx="6858003" cy="3422328"/>
          </a:xfrm>
          <a:prstGeom prst="rect">
            <a:avLst/>
          </a:prstGeom>
          <a:gradFill>
            <a:gsLst>
              <a:gs pos="0">
                <a:schemeClr val="accent1">
                  <a:alpha val="52000"/>
                </a:schemeClr>
              </a:gs>
              <a:gs pos="76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94E4FC-0EEE-7201-5BDF-54D4CBB1A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236" y="559703"/>
            <a:ext cx="9867331" cy="11674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700">
                <a:solidFill>
                  <a:srgbClr val="FFFFFF"/>
                </a:solidFill>
              </a:rPr>
              <a:t>Do the categorising of language markers  demonstrate variation in language? 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EE4473-A122-4E96-8C31-B4C5AAA27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23" y="2706446"/>
            <a:ext cx="12191997" cy="37119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92000">
                <a:schemeClr val="accent1">
                  <a:lumMod val="75000"/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34D844A-571D-DE21-C17A-DFF7F7EF2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232" y="2902413"/>
            <a:ext cx="3179928" cy="16774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2516C7-7F60-8779-007D-91F54DCBB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584" y="2902413"/>
            <a:ext cx="3179928" cy="16774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173ABD-8228-3CEA-2D89-8D352DC25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9841" y="2898439"/>
            <a:ext cx="3179927" cy="1685361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D24C41-9E19-7A48-EAFE-808AD52D3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BE949-A7EC-5F79-532D-859826A34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0865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48D52-406B-00AB-4E02-873AB03D0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D5F27-3A0C-A469-9251-3889E359C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Overview of key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169694-764F-3CBC-ED1F-37D94ABEE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52" y="1863865"/>
            <a:ext cx="6378847" cy="30416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DFC528-93DC-E130-EC79-AE0BAB7DA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222" y="1986973"/>
            <a:ext cx="4631248" cy="359180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B9CDCD-9E1B-C0BA-8B9C-45DCF54EE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0F973-6828-A735-13B8-7A7B1D0BD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0700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27B7-29BB-F832-3108-22484E1F4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b="1" dirty="0">
                <a:solidFill>
                  <a:srgbClr val="FFFFFF"/>
                </a:solidFill>
              </a:rPr>
              <a:t>Demonstrating reporting -  psychological risk index features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190E8FD-7BF2-F089-43E3-AA6929D68699}"/>
              </a:ext>
            </a:extLst>
          </p:cNvPr>
          <p:cNvGraphicFramePr>
            <a:graphicFrameLocks noGrp="1"/>
          </p:cNvGraphicFramePr>
          <p:nvPr/>
        </p:nvGraphicFramePr>
        <p:xfrm>
          <a:off x="695069" y="1957771"/>
          <a:ext cx="6260730" cy="35661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86910">
                  <a:extLst>
                    <a:ext uri="{9D8B030D-6E8A-4147-A177-3AD203B41FA5}">
                      <a16:colId xmlns:a16="http://schemas.microsoft.com/office/drawing/2014/main" val="1222406620"/>
                    </a:ext>
                  </a:extLst>
                </a:gridCol>
                <a:gridCol w="871063">
                  <a:extLst>
                    <a:ext uri="{9D8B030D-6E8A-4147-A177-3AD203B41FA5}">
                      <a16:colId xmlns:a16="http://schemas.microsoft.com/office/drawing/2014/main" val="1781968166"/>
                    </a:ext>
                  </a:extLst>
                </a:gridCol>
                <a:gridCol w="3302757">
                  <a:extLst>
                    <a:ext uri="{9D8B030D-6E8A-4147-A177-3AD203B41FA5}">
                      <a16:colId xmlns:a16="http://schemas.microsoft.com/office/drawing/2014/main" val="975568183"/>
                    </a:ext>
                  </a:extLst>
                </a:gridCol>
              </a:tblGrid>
              <a:tr h="296054">
                <a:tc>
                  <a:txBody>
                    <a:bodyPr/>
                    <a:lstStyle/>
                    <a:p>
                      <a:r>
                        <a:rPr lang="en-AU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/>
                        <a:t>Reasoning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9401475"/>
                  </a:ext>
                </a:extLst>
              </a:tr>
              <a:tr h="518094">
                <a:tc>
                  <a:txBody>
                    <a:bodyPr/>
                    <a:lstStyle/>
                    <a:p>
                      <a:r>
                        <a:rPr lang="en-AU"/>
                        <a:t>Hedging terms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Key linguistic signal of uncertainty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021419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r>
                        <a:rPr lang="en-AU" dirty="0"/>
                        <a:t>Passive voice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Indicator of low ownership or defensiveness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529789"/>
                  </a:ext>
                </a:extLst>
              </a:tr>
              <a:tr h="518094">
                <a:tc>
                  <a:txBody>
                    <a:bodyPr/>
                    <a:lstStyle/>
                    <a:p>
                      <a:r>
                        <a:rPr lang="en-AU"/>
                        <a:t>Top-3 emotion avg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/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Measures affective presence and richness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416167"/>
                  </a:ext>
                </a:extLst>
              </a:tr>
              <a:tr h="518094">
                <a:tc>
                  <a:txBody>
                    <a:bodyPr/>
                    <a:lstStyle/>
                    <a:p>
                      <a:r>
                        <a:rPr lang="en-AU"/>
                        <a:t>Reverse fear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/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/>
                        <a:t>Fear suppresses psychological safety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8722482"/>
                  </a:ext>
                </a:extLst>
              </a:tr>
              <a:tr h="518094">
                <a:tc>
                  <a:txBody>
                    <a:bodyPr/>
                    <a:lstStyle/>
                    <a:p>
                      <a:r>
                        <a:rPr lang="en-AU"/>
                        <a:t>Reverse blame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/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Blame shifts suppress safety culture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423844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BE765BE-87E0-6F9B-6EF4-3A71377C05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31"/>
          <a:stretch/>
        </p:blipFill>
        <p:spPr>
          <a:xfrm>
            <a:off x="7650868" y="3548418"/>
            <a:ext cx="4105848" cy="24050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1C7C61-E830-D005-4219-65E482A2C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107" y="785454"/>
            <a:ext cx="4191585" cy="250542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BE8D43-1D71-F562-70A1-5E3532FA2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E9C054-0B14-DC8F-D8C5-29DFB710A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6810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344E70-BFB0-A21D-A6E3-A38201A92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AU" sz="5200"/>
              <a:t>Why use personas?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5750B3-5A39-02BB-737C-D75CA766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AU"/>
              <a:t>K Foster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B0829-C8A1-9D61-C232-91FDF3D2D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7325A05-8D1E-408A-9271-307571432256}" type="slidenum">
              <a:rPr lang="en-AU"/>
              <a:pPr>
                <a:spcAft>
                  <a:spcPts val="600"/>
                </a:spcAft>
              </a:pPr>
              <a:t>23</a:t>
            </a:fld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EBA080-19D3-C870-7792-D5588DE075CD}"/>
              </a:ext>
            </a:extLst>
          </p:cNvPr>
          <p:cNvSpPr txBox="1"/>
          <p:nvPr/>
        </p:nvSpPr>
        <p:spPr>
          <a:xfrm>
            <a:off x="838200" y="5895023"/>
            <a:ext cx="11049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endParaRPr lang="en-AU" b="1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B9B4551-5D76-90F5-4247-C92A3AB4F1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2099250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51463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91D1A4-584D-60AB-A46D-18EAB5688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7987E-4AFD-2297-05A0-C1603CDA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93" y="149685"/>
            <a:ext cx="11815986" cy="912819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Sidenote:</a:t>
            </a:r>
            <a:br>
              <a:rPr lang="en-AU" b="1" dirty="0"/>
            </a:br>
            <a:r>
              <a:rPr lang="en-AU" b="1" dirty="0"/>
              <a:t>We think about labels differently in the workplace</a:t>
            </a:r>
            <a:endParaRPr lang="en-AU" sz="2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BE1333-8647-9357-B7C9-0BCFEFD8E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079185"/>
              </p:ext>
            </p:extLst>
          </p:nvPr>
        </p:nvGraphicFramePr>
        <p:xfrm>
          <a:off x="131033" y="1637526"/>
          <a:ext cx="5824496" cy="27432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527500">
                  <a:extLst>
                    <a:ext uri="{9D8B030D-6E8A-4147-A177-3AD203B41FA5}">
                      <a16:colId xmlns:a16="http://schemas.microsoft.com/office/drawing/2014/main" val="1669483566"/>
                    </a:ext>
                  </a:extLst>
                </a:gridCol>
                <a:gridCol w="1830068">
                  <a:extLst>
                    <a:ext uri="{9D8B030D-6E8A-4147-A177-3AD203B41FA5}">
                      <a16:colId xmlns:a16="http://schemas.microsoft.com/office/drawing/2014/main" val="2073439230"/>
                    </a:ext>
                  </a:extLst>
                </a:gridCol>
                <a:gridCol w="2466928">
                  <a:extLst>
                    <a:ext uri="{9D8B030D-6E8A-4147-A177-3AD203B41FA5}">
                      <a16:colId xmlns:a16="http://schemas.microsoft.com/office/drawing/2014/main" val="19604145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sz="1200" b="1" dirty="0"/>
                        <a:t>General persona</a:t>
                      </a:r>
                      <a:endParaRPr lang="en-A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200" b="1"/>
                        <a:t>Industry-Aligned Name</a:t>
                      </a:r>
                      <a:endParaRPr lang="en-A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200" b="1"/>
                        <a:t>Why It Fits</a:t>
                      </a:r>
                      <a:endParaRPr lang="en-AU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337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200" dirty="0"/>
                        <a:t>Cautious Deflector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200" b="1" dirty="0"/>
                        <a:t>Low-Profile Operator</a:t>
                      </a:r>
                      <a:endParaRPr lang="en-A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Reflects someone avoiding blame or visibility in a high-risk setting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090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200" dirty="0"/>
                        <a:t>Concerned Reporter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200" b="1"/>
                        <a:t>Conscientious Crew Member</a:t>
                      </a:r>
                      <a:endParaRPr lang="en-A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Signals care, safety diligence, and a “check twice” attitude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7427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200"/>
                        <a:t>Task-Focused Resolver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200" b="1"/>
                        <a:t>Field Fixer</a:t>
                      </a:r>
                      <a:endParaRPr lang="en-A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Suits boots-on-ground, “get it done” technician or trade 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9769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200"/>
                        <a:t>Procedural Communicator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200" b="1"/>
                        <a:t>Compliance-Focused Coordinator</a:t>
                      </a:r>
                      <a:endParaRPr lang="en-A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Matches safety advisor or engineer sticking to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334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200"/>
                        <a:t>Proactive Safety Leader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200" b="1"/>
                        <a:t>Site Safety Champion</a:t>
                      </a:r>
                      <a:endParaRPr lang="en-A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Encourages culture-building, procedural vigilance, peer leadership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435329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095861B-285D-F3E0-88D2-B976636C1F85}"/>
              </a:ext>
            </a:extLst>
          </p:cNvPr>
          <p:cNvSpPr txBox="1"/>
          <p:nvPr/>
        </p:nvSpPr>
        <p:spPr>
          <a:xfrm>
            <a:off x="131033" y="1155751"/>
            <a:ext cx="587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Industrial/Construction/Critical Infrastructure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BD1A086-0840-A279-D06A-40C951937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361588"/>
              </p:ext>
            </p:extLst>
          </p:nvPr>
        </p:nvGraphicFramePr>
        <p:xfrm>
          <a:off x="6124486" y="3413643"/>
          <a:ext cx="5936481" cy="274320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404357">
                  <a:extLst>
                    <a:ext uri="{9D8B030D-6E8A-4147-A177-3AD203B41FA5}">
                      <a16:colId xmlns:a16="http://schemas.microsoft.com/office/drawing/2014/main" val="4084010933"/>
                    </a:ext>
                  </a:extLst>
                </a:gridCol>
                <a:gridCol w="1717705">
                  <a:extLst>
                    <a:ext uri="{9D8B030D-6E8A-4147-A177-3AD203B41FA5}">
                      <a16:colId xmlns:a16="http://schemas.microsoft.com/office/drawing/2014/main" val="2567640726"/>
                    </a:ext>
                  </a:extLst>
                </a:gridCol>
                <a:gridCol w="2814419">
                  <a:extLst>
                    <a:ext uri="{9D8B030D-6E8A-4147-A177-3AD203B41FA5}">
                      <a16:colId xmlns:a16="http://schemas.microsoft.com/office/drawing/2014/main" val="21311035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sz="1200" b="1" dirty="0"/>
                        <a:t>General Persona</a:t>
                      </a:r>
                      <a:endParaRPr lang="en-A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200" b="1"/>
                        <a:t>Industry-Aligned Name</a:t>
                      </a:r>
                      <a:endParaRPr lang="en-A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200" b="1" dirty="0"/>
                        <a:t>Why It Fits</a:t>
                      </a:r>
                      <a:endParaRPr lang="en-AU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040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200" dirty="0"/>
                        <a:t>Cautious Deflector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200" b="1"/>
                        <a:t>Guarded Carer</a:t>
                      </a:r>
                      <a:endParaRPr lang="en-A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May document for policy but hesitate to speak 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7399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200" dirty="0"/>
                        <a:t>Concerned Reporter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200" b="1"/>
                        <a:t>Diligent Clinician</a:t>
                      </a:r>
                      <a:endParaRPr lang="en-A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Someone who worries about patient outcomes, overcommunicates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1872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200"/>
                        <a:t>Task-Focused Resolver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200" b="1"/>
                        <a:t>Practical Nurse</a:t>
                      </a:r>
                      <a:endParaRPr lang="en-A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Does what’s needed fast, but doesn’t narrate the whole situation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6165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200"/>
                        <a:t>Procedural Communicator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200" b="1"/>
                        <a:t>Policy-Aligned Administrator</a:t>
                      </a:r>
                      <a:endParaRPr lang="en-A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Strong on policy, avoids judgement or 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301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200"/>
                        <a:t>Proactive Safety Leader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200" b="1" dirty="0"/>
                        <a:t>Clinical Safety Champion</a:t>
                      </a:r>
                      <a:endParaRPr lang="en-A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Leads culture of care, reporting, and reflective practice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7035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3187C06-C687-2EEB-E266-A08D2C530BBE}"/>
              </a:ext>
            </a:extLst>
          </p:cNvPr>
          <p:cNvSpPr txBox="1"/>
          <p:nvPr/>
        </p:nvSpPr>
        <p:spPr>
          <a:xfrm>
            <a:off x="6096000" y="2853462"/>
            <a:ext cx="6007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Healthcare/Aged Care/Hospitals/Allied Health etc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BF47C-A110-2BC7-B04D-51B6763F1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9A3B73A-F64D-8460-B313-A928BE67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6448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0A3954-9519-ECD2-B94E-23F95DE1A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C0FD4-5328-2F64-4F8B-1091DDC44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AU" sz="3700" dirty="0"/>
              <a:t>Personas are not a fixed class – they exhibit multiple combinations.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DF3C5-CFFF-8BBD-6E3F-8E1AA140F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34" y="2293265"/>
            <a:ext cx="5315189" cy="3535083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en-US" sz="2000" dirty="0"/>
              <a:t>Label vs stylistic templates that: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Express different combinations of psychological safety and engagement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Reveal how tone, effort, and risk communication can vary across roles and personalities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Are useful for showing within-person variability and testing model sensitivity.</a:t>
            </a:r>
          </a:p>
          <a:p>
            <a:endParaRPr lang="en-AU" sz="2000" dirty="0"/>
          </a:p>
          <a:p>
            <a:endParaRPr lang="en-AU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7B88AA-07F4-36DD-A426-BD60B4323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314315"/>
              </p:ext>
            </p:extLst>
          </p:nvPr>
        </p:nvGraphicFramePr>
        <p:xfrm>
          <a:off x="6251179" y="1235413"/>
          <a:ext cx="5483621" cy="4347808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894260">
                  <a:extLst>
                    <a:ext uri="{9D8B030D-6E8A-4147-A177-3AD203B41FA5}">
                      <a16:colId xmlns:a16="http://schemas.microsoft.com/office/drawing/2014/main" val="1662896353"/>
                    </a:ext>
                  </a:extLst>
                </a:gridCol>
                <a:gridCol w="817187">
                  <a:extLst>
                    <a:ext uri="{9D8B030D-6E8A-4147-A177-3AD203B41FA5}">
                      <a16:colId xmlns:a16="http://schemas.microsoft.com/office/drawing/2014/main" val="3114282220"/>
                    </a:ext>
                  </a:extLst>
                </a:gridCol>
                <a:gridCol w="725332">
                  <a:extLst>
                    <a:ext uri="{9D8B030D-6E8A-4147-A177-3AD203B41FA5}">
                      <a16:colId xmlns:a16="http://schemas.microsoft.com/office/drawing/2014/main" val="2799735184"/>
                    </a:ext>
                  </a:extLst>
                </a:gridCol>
                <a:gridCol w="1217236">
                  <a:extLst>
                    <a:ext uri="{9D8B030D-6E8A-4147-A177-3AD203B41FA5}">
                      <a16:colId xmlns:a16="http://schemas.microsoft.com/office/drawing/2014/main" val="4133511940"/>
                    </a:ext>
                  </a:extLst>
                </a:gridCol>
                <a:gridCol w="1829606">
                  <a:extLst>
                    <a:ext uri="{9D8B030D-6E8A-4147-A177-3AD203B41FA5}">
                      <a16:colId xmlns:a16="http://schemas.microsoft.com/office/drawing/2014/main" val="3526466781"/>
                    </a:ext>
                  </a:extLst>
                </a:gridCol>
              </a:tblGrid>
              <a:tr h="384773"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Persona name</a:t>
                      </a:r>
                      <a:endParaRPr lang="en-AU" sz="7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90" marR="1190" marT="119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Psychological Safety level </a:t>
                      </a:r>
                      <a:endParaRPr lang="en-AU" sz="7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90" marR="1190" marT="119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Work engagement level</a:t>
                      </a:r>
                      <a:endParaRPr lang="en-AU" sz="7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90" marR="1190" marT="119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Common linguistic traits</a:t>
                      </a:r>
                      <a:endParaRPr lang="en-AU" sz="7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90" marR="1190" marT="119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Example of incident writing</a:t>
                      </a:r>
                      <a:endParaRPr lang="en-AU" sz="7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90" marR="1190" marT="1190" marB="0" anchor="ctr"/>
                </a:tc>
                <a:extLst>
                  <a:ext uri="{0D108BD9-81ED-4DB2-BD59-A6C34878D82A}">
                    <a16:rowId xmlns:a16="http://schemas.microsoft.com/office/drawing/2014/main" val="2341005006"/>
                  </a:ext>
                </a:extLst>
              </a:tr>
              <a:tr h="690427"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Cautious Reflector</a:t>
                      </a:r>
                      <a:endParaRPr lang="en-AU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Low</a:t>
                      </a:r>
                      <a:endParaRPr lang="en-AU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Low / Medium</a:t>
                      </a:r>
                      <a:endParaRPr lang="en-AU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Vague, procedural, passive voice, minimal detail, deflective, formal but non-committal</a:t>
                      </a:r>
                      <a:endParaRPr lang="en-AU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The incident was recorded in the hazard log. No further actions were deemed necessary.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905983"/>
                  </a:ext>
                </a:extLst>
              </a:tr>
              <a:tr h="818152"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Concerned Reporter</a:t>
                      </a:r>
                      <a:endParaRPr lang="en-AU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en-AU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Medium / High</a:t>
                      </a:r>
                      <a:endParaRPr lang="en-AU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Verbose, uncertain tone, self-doubt, emotionally cautious, hedging, grateful, apologetic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The worker noticed a possible equipment fault and submitted a near-miss report using the digital incident platform. They're unsure if it had already been flagged but followed up to confirm.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639320"/>
                  </a:ext>
                </a:extLst>
              </a:tr>
              <a:tr h="690427"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Task-focussed Resolver</a:t>
                      </a:r>
                      <a:endParaRPr lang="en-AU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Low / Medium</a:t>
                      </a:r>
                      <a:endParaRPr lang="en-AU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Low / Medium</a:t>
                      </a:r>
                      <a:endParaRPr lang="en-AU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Terse, direct, action-focused, avoids elaboration, few emotional cues, 'just fix it' language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Found the loose panel. Reattached it with locknuts. Logged in system as maintenance complete.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311892"/>
                  </a:ext>
                </a:extLst>
              </a:tr>
              <a:tr h="818152"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Procedural Communicator</a:t>
                      </a:r>
                      <a:endParaRPr lang="en-AU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en-AU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en-AU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Balanced tone, procedural, policy-referencing, neutral, passive structure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During a scheduled walkthrough, a slip hazard was identified and logged in accordance with standard HIRAC procedures. Remedial work was scheduled through asset control.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008964"/>
                  </a:ext>
                </a:extLst>
              </a:tr>
              <a:tr h="945877"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Proactive Safety Leader</a:t>
                      </a:r>
                      <a:endParaRPr lang="en-AU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High</a:t>
                      </a:r>
                      <a:endParaRPr lang="en-AU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High</a:t>
                      </a:r>
                      <a:endParaRPr lang="en-AU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Confident, proactive, inclusive language ('we'), procedural precision, safety leadership cues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The team identified a pinch point on the conveyor during pre-start checks. The hazard was logged through the digital HIRAC system, immediate controls were implemented, and it was raised at the next toolbox talk.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268" marR="43268" marT="21634" marB="21634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861274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FA6BA8-136F-B498-5857-38DAA7F7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03409-40E9-6D2F-9583-0629C417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848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22B3D1-6841-257C-6EBD-F33A6B818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3B71D3-71A5-DC09-3352-044D13171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9FECEBC-982B-3580-6480-CAE43548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59DE34-6731-5D9E-C4CA-424F8F54B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E6DDD7-757E-558F-144C-989E219CA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52C02-E6CB-0F56-7F77-89869AB9A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pPr marL="457200" lvl="1" indent="0">
              <a:buNone/>
            </a:pP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Cultural Risk indicator</a:t>
            </a:r>
            <a:endParaRPr lang="en-AU" sz="1800" dirty="0"/>
          </a:p>
          <a:p>
            <a:pPr lvl="1"/>
            <a:endParaRPr lang="en-AU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79E60F-EE5E-D2CD-D306-3CAC89AAA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95285"/>
              </p:ext>
            </p:extLst>
          </p:nvPr>
        </p:nvGraphicFramePr>
        <p:xfrm>
          <a:off x="975360" y="1572800"/>
          <a:ext cx="10515600" cy="33982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38670">
                  <a:extLst>
                    <a:ext uri="{9D8B030D-6E8A-4147-A177-3AD203B41FA5}">
                      <a16:colId xmlns:a16="http://schemas.microsoft.com/office/drawing/2014/main" val="4098185322"/>
                    </a:ext>
                  </a:extLst>
                </a:gridCol>
                <a:gridCol w="4071730">
                  <a:extLst>
                    <a:ext uri="{9D8B030D-6E8A-4147-A177-3AD203B41FA5}">
                      <a16:colId xmlns:a16="http://schemas.microsoft.com/office/drawing/2014/main" val="35964832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183771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600" kern="100">
                          <a:effectLst/>
                        </a:rPr>
                        <a:t>Feature Name</a:t>
                      </a:r>
                      <a:endParaRPr lang="en-AU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600" kern="100">
                          <a:effectLst/>
                        </a:rPr>
                        <a:t>How It’s Derived</a:t>
                      </a:r>
                      <a:endParaRPr lang="en-AU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600" kern="100">
                          <a:effectLst/>
                        </a:rPr>
                        <a:t>Notes,</a:t>
                      </a:r>
                      <a:endParaRPr lang="en-AU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23898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600" kern="100">
                          <a:effectLst/>
                        </a:rPr>
                        <a:t>persona</a:t>
                      </a:r>
                      <a:endParaRPr lang="en-AU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600" kern="100" dirty="0">
                          <a:effectLst/>
                        </a:rPr>
                        <a:t>Derived from persona model</a:t>
                      </a:r>
                      <a:endParaRPr lang="en-AU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Maps reporter to one of the five synthetic personas</a:t>
                      </a:r>
                      <a:endParaRPr lang="en-US" sz="1600" dirty="0"/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54723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600" kern="100">
                          <a:effectLst/>
                        </a:rPr>
                        <a:t>psychological_safety</a:t>
                      </a:r>
                      <a:endParaRPr lang="en-AU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600" kern="100">
                          <a:effectLst/>
                        </a:rPr>
                        <a:t>Rule-based logic using modal verbs, hedging, passive voice etc.</a:t>
                      </a:r>
                      <a:endParaRPr lang="en-AU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600" kern="100">
                          <a:effectLst/>
                        </a:rPr>
                        <a:t>3-class label (Low/Medium/High)</a:t>
                      </a:r>
                      <a:endParaRPr lang="en-AU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05304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600" kern="100">
                          <a:effectLst/>
                        </a:rPr>
                        <a:t>engagement_score</a:t>
                      </a:r>
                      <a:endParaRPr lang="en-AU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600" kern="100">
                          <a:effectLst/>
                        </a:rPr>
                        <a:t>Based on corrective action length and specificity score</a:t>
                      </a:r>
                      <a:endParaRPr lang="en-AU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600" kern="100">
                          <a:effectLst/>
                        </a:rPr>
                        <a:t>Used to reflect effort/engagement levels</a:t>
                      </a:r>
                      <a:endParaRPr lang="en-AU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06338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600" kern="100">
                          <a:effectLst/>
                        </a:rPr>
                        <a:t>language_score</a:t>
                      </a:r>
                      <a:endParaRPr lang="en-AU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600" kern="100">
                          <a:effectLst/>
                        </a:rPr>
                        <a:t>Combined avg_word_length + specificity_score</a:t>
                      </a:r>
                      <a:endParaRPr lang="en-AU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600" kern="100">
                          <a:effectLst/>
                        </a:rPr>
                        <a:t>Optional feature representing linguistic sophistication and used to calculate engagement_score.</a:t>
                      </a:r>
                      <a:endParaRPr lang="en-AU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39223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600" kern="100" dirty="0" err="1">
                          <a:effectLst/>
                        </a:rPr>
                        <a:t>culture_zone</a:t>
                      </a:r>
                      <a:endParaRPr lang="en-AU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600" kern="100" dirty="0">
                          <a:effectLst/>
                        </a:rPr>
                        <a:t>Derived from blend of: </a:t>
                      </a:r>
                      <a:r>
                        <a:rPr lang="en-AU" sz="1600" kern="100" dirty="0" err="1">
                          <a:effectLst/>
                        </a:rPr>
                        <a:t>psych_safety</a:t>
                      </a:r>
                      <a:r>
                        <a:rPr lang="en-AU" sz="1600" kern="100" dirty="0">
                          <a:effectLst/>
                        </a:rPr>
                        <a:t>, </a:t>
                      </a:r>
                      <a:r>
                        <a:rPr lang="en-AU" sz="1600" kern="100" dirty="0" err="1">
                          <a:effectLst/>
                        </a:rPr>
                        <a:t>engagement_score</a:t>
                      </a:r>
                      <a:r>
                        <a:rPr lang="en-AU" sz="1600" kern="100" dirty="0">
                          <a:effectLst/>
                        </a:rPr>
                        <a:t>, sentiment</a:t>
                      </a:r>
                      <a:endParaRPr lang="en-AU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600" kern="100" dirty="0">
                          <a:effectLst/>
                        </a:rPr>
                        <a:t>3-class label: Desirable / Transitional / Intolerable</a:t>
                      </a:r>
                      <a:endParaRPr lang="en-AU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49107254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C12DB-79CF-3128-C83E-50338C9DB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7918B-4C0B-06F5-AB95-8FC61B386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407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F5CF6D-CBFB-BF40-6145-E3CC806AD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Prediction accuracy of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E68A8F-C0F0-C463-BC23-EA0844120B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63050" y="1161433"/>
            <a:ext cx="6780700" cy="374633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AA6383-BD2E-2668-E022-698DF57B7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K Foster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74506-493D-3BDB-47D7-C60D8312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8151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01ADB-21C7-841A-3F03-18FA9D53A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SHAP value – overall feature impact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6D1A65-D92C-26AE-6D56-7875AF737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77316" y="1529239"/>
            <a:ext cx="6780700" cy="379719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3DDC1F-3CC1-E486-9F93-61B05830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B6DBD-2877-BBCF-C92B-9B5A5F58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25780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48A47-E8C4-CE70-2E7C-7DA8B67AA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307BC-56F6-FF15-92FF-F7B3EE8C8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2" y="108752"/>
            <a:ext cx="12062387" cy="369332"/>
          </a:xfrm>
        </p:spPr>
        <p:txBody>
          <a:bodyPr>
            <a:noAutofit/>
          </a:bodyPr>
          <a:lstStyle/>
          <a:p>
            <a:r>
              <a:rPr lang="en-AU" sz="2800" b="1" dirty="0"/>
              <a:t>Overview of the ‘hybrid’ model – simple example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F7333AE-D473-AFBC-4331-5C220C894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9" y="574311"/>
            <a:ext cx="12122921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</a:rPr>
              <a:t>“</a:t>
            </a:r>
            <a:r>
              <a:rPr lang="en-US" sz="2400" b="1" i="1" dirty="0">
                <a:solidFill>
                  <a:schemeClr val="accent2"/>
                </a:solidFill>
              </a:rPr>
              <a:t>The worker submitted a report and hoped someone would review it soon.”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8A3DB79-63A4-C5E3-915C-615FE764D4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646208"/>
              </p:ext>
            </p:extLst>
          </p:nvPr>
        </p:nvGraphicFramePr>
        <p:xfrm>
          <a:off x="1860698" y="1091655"/>
          <a:ext cx="10180324" cy="188976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198158">
                  <a:extLst>
                    <a:ext uri="{9D8B030D-6E8A-4147-A177-3AD203B41FA5}">
                      <a16:colId xmlns:a16="http://schemas.microsoft.com/office/drawing/2014/main" val="3386738514"/>
                    </a:ext>
                  </a:extLst>
                </a:gridCol>
                <a:gridCol w="3755196">
                  <a:extLst>
                    <a:ext uri="{9D8B030D-6E8A-4147-A177-3AD203B41FA5}">
                      <a16:colId xmlns:a16="http://schemas.microsoft.com/office/drawing/2014/main" val="3437428853"/>
                    </a:ext>
                  </a:extLst>
                </a:gridCol>
                <a:gridCol w="3226970">
                  <a:extLst>
                    <a:ext uri="{9D8B030D-6E8A-4147-A177-3AD203B41FA5}">
                      <a16:colId xmlns:a16="http://schemas.microsoft.com/office/drawing/2014/main" val="13606036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sz="11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AU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100" b="1" dirty="0">
                          <a:solidFill>
                            <a:schemeClr val="bg1"/>
                          </a:solidFill>
                        </a:rPr>
                        <a:t>Detected Signal</a:t>
                      </a:r>
                      <a:endParaRPr lang="en-AU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100" b="1" dirty="0">
                          <a:solidFill>
                            <a:schemeClr val="bg1"/>
                          </a:solidFill>
                        </a:rPr>
                        <a:t>Score / Impact</a:t>
                      </a:r>
                      <a:endParaRPr lang="en-AU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519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100" dirty="0"/>
                        <a:t>Hedging terms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"hoped"</a:t>
                      </a:r>
                      <a:r>
                        <a:rPr lang="en-US" sz="1100" dirty="0"/>
                        <a:t> is a hedging/emotional softener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  (positive for uncertainty)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1458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100" dirty="0"/>
                        <a:t>Passive voice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Passive structure implied ("would review it")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380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100" dirty="0"/>
                        <a:t>Specificity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Low — no detail on the incident, only outcome hope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0.2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9551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100" dirty="0"/>
                        <a:t>Corrective action present?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b="0" dirty="0"/>
                        <a:t>None 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8906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100" dirty="0"/>
                        <a:t>Average word length (average of 3 fields – incident, proposed corrective action, corrective action taken)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Moderate (formal tone, neutral indicator)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Neutral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979756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EF200B4-3927-15FD-2231-424CA4012C2E}"/>
              </a:ext>
            </a:extLst>
          </p:cNvPr>
          <p:cNvSpPr txBox="1"/>
          <p:nvPr/>
        </p:nvSpPr>
        <p:spPr>
          <a:xfrm>
            <a:off x="69079" y="1163033"/>
            <a:ext cx="1717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Hybrid scoring breakdown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D742EA-E817-0696-6563-69C6196EC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357232"/>
              </p:ext>
            </p:extLst>
          </p:nvPr>
        </p:nvGraphicFramePr>
        <p:xfrm>
          <a:off x="1860698" y="3110399"/>
          <a:ext cx="10180324" cy="161954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198158">
                  <a:extLst>
                    <a:ext uri="{9D8B030D-6E8A-4147-A177-3AD203B41FA5}">
                      <a16:colId xmlns:a16="http://schemas.microsoft.com/office/drawing/2014/main" val="3386738514"/>
                    </a:ext>
                  </a:extLst>
                </a:gridCol>
                <a:gridCol w="3755196">
                  <a:extLst>
                    <a:ext uri="{9D8B030D-6E8A-4147-A177-3AD203B41FA5}">
                      <a16:colId xmlns:a16="http://schemas.microsoft.com/office/drawing/2014/main" val="3437428853"/>
                    </a:ext>
                  </a:extLst>
                </a:gridCol>
                <a:gridCol w="3226970">
                  <a:extLst>
                    <a:ext uri="{9D8B030D-6E8A-4147-A177-3AD203B41FA5}">
                      <a16:colId xmlns:a16="http://schemas.microsoft.com/office/drawing/2014/main" val="1360603642"/>
                    </a:ext>
                  </a:extLst>
                </a:gridCol>
              </a:tblGrid>
              <a:tr h="265499">
                <a:tc>
                  <a:txBody>
                    <a:bodyPr/>
                    <a:lstStyle/>
                    <a:p>
                      <a:r>
                        <a:rPr lang="en-AU" sz="11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AU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100" b="1" dirty="0">
                          <a:solidFill>
                            <a:schemeClr val="bg1"/>
                          </a:solidFill>
                        </a:rPr>
                        <a:t>Detected Signal</a:t>
                      </a:r>
                      <a:endParaRPr lang="en-AU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100" b="1" dirty="0">
                          <a:solidFill>
                            <a:schemeClr val="bg1"/>
                          </a:solidFill>
                        </a:rPr>
                        <a:t>Score / Impact</a:t>
                      </a:r>
                      <a:endParaRPr lang="en-AU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519178"/>
                  </a:ext>
                </a:extLst>
              </a:tr>
              <a:tr h="451347">
                <a:tc>
                  <a:txBody>
                    <a:bodyPr/>
                    <a:lstStyle/>
                    <a:p>
                      <a:r>
                        <a:rPr lang="en-AU" sz="1100" dirty="0"/>
                        <a:t>Dominant emotion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0" dirty="0"/>
                        <a:t>Matches surface tone  detects hope, uncertainty, maybe anxiety, possibly emotional trust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684592"/>
                  </a:ext>
                </a:extLst>
              </a:tr>
              <a:tr h="451347">
                <a:tc>
                  <a:txBody>
                    <a:bodyPr/>
                    <a:lstStyle/>
                    <a:p>
                      <a:r>
                        <a:rPr lang="en-AU" sz="1100" dirty="0"/>
                        <a:t>Average of top 3 emotions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0" dirty="0"/>
                        <a:t>Moderate (Hope, Curiosity, Optimism)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0.45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642883"/>
                  </a:ext>
                </a:extLst>
              </a:tr>
              <a:tr h="451347">
                <a:tc>
                  <a:txBody>
                    <a:bodyPr/>
                    <a:lstStyle/>
                    <a:p>
                      <a:r>
                        <a:rPr lang="en-AU" sz="1100" dirty="0"/>
                        <a:t>Sentiment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0" dirty="0"/>
                        <a:t>No strong polarity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Neutral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267587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92993B8-6392-2E7B-6374-888CD838695A}"/>
              </a:ext>
            </a:extLst>
          </p:cNvPr>
          <p:cNvSpPr txBox="1"/>
          <p:nvPr/>
        </p:nvSpPr>
        <p:spPr>
          <a:xfrm>
            <a:off x="143507" y="3249325"/>
            <a:ext cx="1717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Emotion model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8EB2A5-1C28-9EA3-AE06-F007EA425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279742"/>
              </p:ext>
            </p:extLst>
          </p:nvPr>
        </p:nvGraphicFramePr>
        <p:xfrm>
          <a:off x="1860698" y="5055838"/>
          <a:ext cx="10180324" cy="1621589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188557">
                  <a:extLst>
                    <a:ext uri="{9D8B030D-6E8A-4147-A177-3AD203B41FA5}">
                      <a16:colId xmlns:a16="http://schemas.microsoft.com/office/drawing/2014/main" val="2838831040"/>
                    </a:ext>
                  </a:extLst>
                </a:gridCol>
                <a:gridCol w="3745592">
                  <a:extLst>
                    <a:ext uri="{9D8B030D-6E8A-4147-A177-3AD203B41FA5}">
                      <a16:colId xmlns:a16="http://schemas.microsoft.com/office/drawing/2014/main" val="555920087"/>
                    </a:ext>
                  </a:extLst>
                </a:gridCol>
                <a:gridCol w="3246175">
                  <a:extLst>
                    <a:ext uri="{9D8B030D-6E8A-4147-A177-3AD203B41FA5}">
                      <a16:colId xmlns:a16="http://schemas.microsoft.com/office/drawing/2014/main" val="195016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sz="1100" b="1" dirty="0">
                          <a:solidFill>
                            <a:schemeClr val="bg1"/>
                          </a:solidFill>
                        </a:rPr>
                        <a:t>Dimension</a:t>
                      </a:r>
                      <a:endParaRPr lang="en-AU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100" b="1" dirty="0">
                          <a:solidFill>
                            <a:schemeClr val="bg1"/>
                          </a:solidFill>
                        </a:rPr>
                        <a:t>Predicted Class</a:t>
                      </a:r>
                      <a:endParaRPr lang="en-AU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100" b="1" dirty="0">
                          <a:solidFill>
                            <a:schemeClr val="bg1"/>
                          </a:solidFill>
                        </a:rPr>
                        <a:t>Rationale</a:t>
                      </a:r>
                      <a:endParaRPr lang="en-AU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367944"/>
                  </a:ext>
                </a:extLst>
              </a:tr>
              <a:tr h="454170">
                <a:tc>
                  <a:txBody>
                    <a:bodyPr/>
                    <a:lstStyle/>
                    <a:p>
                      <a:r>
                        <a:rPr lang="en-AU" sz="1100" b="1" dirty="0"/>
                        <a:t>Psychological Safety</a:t>
                      </a:r>
                      <a:endParaRPr lang="en-AU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b="1" dirty="0"/>
                        <a:t>Medium</a:t>
                      </a:r>
                      <a:endParaRPr lang="en-AU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Expresses concern about being heard; not fearful, but not confident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899221"/>
                  </a:ext>
                </a:extLst>
              </a:tr>
              <a:tr h="586636">
                <a:tc>
                  <a:txBody>
                    <a:bodyPr/>
                    <a:lstStyle/>
                    <a:p>
                      <a:r>
                        <a:rPr lang="en-AU" sz="1100" b="1"/>
                        <a:t>Engagement</a:t>
                      </a:r>
                      <a:endParaRPr lang="en-AU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b="1" dirty="0"/>
                        <a:t>Medium / High</a:t>
                      </a:r>
                      <a:endParaRPr lang="en-AU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The worker followed procedure, used system, and demonstrated emotional follow-up effort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2115503"/>
                  </a:ext>
                </a:extLst>
              </a:tr>
              <a:tr h="321703">
                <a:tc>
                  <a:txBody>
                    <a:bodyPr/>
                    <a:lstStyle/>
                    <a:p>
                      <a:r>
                        <a:rPr lang="en-AU" sz="1100" b="1" dirty="0"/>
                        <a:t>Persona Match</a:t>
                      </a:r>
                      <a:endParaRPr lang="en-AU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b="1"/>
                        <a:t>Concerned Reporter</a:t>
                      </a:r>
                      <a:endParaRPr lang="en-AU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Verbose, polite, emotionally tentative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07858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CFBBFF6-D6A0-2696-5E5A-1611633910DB}"/>
              </a:ext>
            </a:extLst>
          </p:cNvPr>
          <p:cNvSpPr txBox="1"/>
          <p:nvPr/>
        </p:nvSpPr>
        <p:spPr>
          <a:xfrm>
            <a:off x="0" y="5055838"/>
            <a:ext cx="1679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Classification Result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8B477-5C1D-FAE6-288B-BEC5EF45F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60CAEA3-1485-C791-C28A-AECF55EBA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17150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person's body&#10;&#10;AI-generated content may be incorrect.">
            <a:extLst>
              <a:ext uri="{FF2B5EF4-FFF2-40B4-BE49-F238E27FC236}">
                <a16:creationId xmlns:a16="http://schemas.microsoft.com/office/drawing/2014/main" id="{E9611FE1-F002-B884-D44B-E46672067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27" y="2119267"/>
            <a:ext cx="4579414" cy="4195128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6244C36-2AF1-2B71-9DC3-23EF8F8C6365}"/>
              </a:ext>
            </a:extLst>
          </p:cNvPr>
          <p:cNvSpPr txBox="1">
            <a:spLocks/>
          </p:cNvSpPr>
          <p:nvPr/>
        </p:nvSpPr>
        <p:spPr>
          <a:xfrm>
            <a:off x="60532" y="108752"/>
            <a:ext cx="12062387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b="1" dirty="0"/>
              <a:t>Overview of the ‘hybrid’ model – simple example (cont’d)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D4C5808-C8A6-6BB5-3318-483E56B38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9" y="574311"/>
            <a:ext cx="12122921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</a:rPr>
              <a:t>“</a:t>
            </a:r>
            <a:r>
              <a:rPr lang="en-US" sz="2400" b="1" i="1" dirty="0">
                <a:solidFill>
                  <a:schemeClr val="accent2"/>
                </a:solidFill>
              </a:rPr>
              <a:t>The worker submitted a report and hoped someone would review it soon.”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6CB5D5B-0037-9490-4CA1-B1010D013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714242"/>
              </p:ext>
            </p:extLst>
          </p:nvPr>
        </p:nvGraphicFramePr>
        <p:xfrm>
          <a:off x="8141971" y="1519871"/>
          <a:ext cx="3790949" cy="4763817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516108">
                  <a:extLst>
                    <a:ext uri="{9D8B030D-6E8A-4147-A177-3AD203B41FA5}">
                      <a16:colId xmlns:a16="http://schemas.microsoft.com/office/drawing/2014/main" val="2363059941"/>
                    </a:ext>
                  </a:extLst>
                </a:gridCol>
                <a:gridCol w="1274841">
                  <a:extLst>
                    <a:ext uri="{9D8B030D-6E8A-4147-A177-3AD203B41FA5}">
                      <a16:colId xmlns:a16="http://schemas.microsoft.com/office/drawing/2014/main" val="3427852850"/>
                    </a:ext>
                  </a:extLst>
                </a:gridCol>
              </a:tblGrid>
              <a:tr h="529313">
                <a:tc>
                  <a:txBody>
                    <a:bodyPr/>
                    <a:lstStyle/>
                    <a:p>
                      <a:pPr algn="l" fontAlgn="b"/>
                      <a:r>
                        <a:rPr lang="en-AU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Feature</a:t>
                      </a:r>
                      <a:endParaRPr lang="en-AU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160" marR="137160" marT="137160" marB="13716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Score / Value</a:t>
                      </a:r>
                      <a:endParaRPr lang="en-AU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160" marR="137160" marT="137160" marB="137160" anchor="b"/>
                </a:tc>
                <a:extLst>
                  <a:ext uri="{0D108BD9-81ED-4DB2-BD59-A6C34878D82A}">
                    <a16:rowId xmlns:a16="http://schemas.microsoft.com/office/drawing/2014/main" val="3732375183"/>
                  </a:ext>
                </a:extLst>
              </a:tr>
              <a:tr h="529313">
                <a:tc>
                  <a:txBody>
                    <a:bodyPr/>
                    <a:lstStyle/>
                    <a:p>
                      <a:pPr algn="l" fontAlgn="b"/>
                      <a:r>
                        <a:rPr lang="en-A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Hedging Terms</a:t>
                      </a:r>
                      <a:endParaRPr lang="en-AU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160" marR="137160" marT="137160" marB="13716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A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160" marR="137160" marT="137160" marB="137160" anchor="b"/>
                </a:tc>
                <a:extLst>
                  <a:ext uri="{0D108BD9-81ED-4DB2-BD59-A6C34878D82A}">
                    <a16:rowId xmlns:a16="http://schemas.microsoft.com/office/drawing/2014/main" val="926887242"/>
                  </a:ext>
                </a:extLst>
              </a:tr>
              <a:tr h="529313">
                <a:tc>
                  <a:txBody>
                    <a:bodyPr/>
                    <a:lstStyle/>
                    <a:p>
                      <a:pPr algn="l" fontAlgn="b"/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Passive Voice</a:t>
                      </a:r>
                      <a:endParaRPr lang="en-A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160" marR="137160" marT="137160" marB="13716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A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160" marR="137160" marT="137160" marB="137160" anchor="b"/>
                </a:tc>
                <a:extLst>
                  <a:ext uri="{0D108BD9-81ED-4DB2-BD59-A6C34878D82A}">
                    <a16:rowId xmlns:a16="http://schemas.microsoft.com/office/drawing/2014/main" val="3130219539"/>
                  </a:ext>
                </a:extLst>
              </a:tr>
              <a:tr h="529313">
                <a:tc>
                  <a:txBody>
                    <a:bodyPr/>
                    <a:lstStyle/>
                    <a:p>
                      <a:pPr algn="l" fontAlgn="b"/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Specificity Score</a:t>
                      </a:r>
                      <a:endParaRPr lang="en-A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160" marR="137160" marT="137160" marB="13716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</a:t>
                      </a:r>
                      <a:endParaRPr lang="en-A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160" marR="137160" marT="137160" marB="137160" anchor="b"/>
                </a:tc>
                <a:extLst>
                  <a:ext uri="{0D108BD9-81ED-4DB2-BD59-A6C34878D82A}">
                    <a16:rowId xmlns:a16="http://schemas.microsoft.com/office/drawing/2014/main" val="2254605828"/>
                  </a:ext>
                </a:extLst>
              </a:tr>
              <a:tr h="529313">
                <a:tc>
                  <a:txBody>
                    <a:bodyPr/>
                    <a:lstStyle/>
                    <a:p>
                      <a:pPr algn="l" fontAlgn="b"/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Corrective Action</a:t>
                      </a:r>
                      <a:endParaRPr lang="en-A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160" marR="137160" marT="137160" marB="13716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A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160" marR="137160" marT="137160" marB="137160" anchor="b"/>
                </a:tc>
                <a:extLst>
                  <a:ext uri="{0D108BD9-81ED-4DB2-BD59-A6C34878D82A}">
                    <a16:rowId xmlns:a16="http://schemas.microsoft.com/office/drawing/2014/main" val="3021694614"/>
                  </a:ext>
                </a:extLst>
              </a:tr>
              <a:tr h="529313">
                <a:tc>
                  <a:txBody>
                    <a:bodyPr/>
                    <a:lstStyle/>
                    <a:p>
                      <a:pPr algn="l" fontAlgn="b"/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Word Length</a:t>
                      </a:r>
                      <a:endParaRPr lang="en-A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160" marR="137160" marT="137160" marB="13716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0.5</a:t>
                      </a:r>
                      <a:endParaRPr lang="en-A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160" marR="137160" marT="137160" marB="137160" anchor="b"/>
                </a:tc>
                <a:extLst>
                  <a:ext uri="{0D108BD9-81ED-4DB2-BD59-A6C34878D82A}">
                    <a16:rowId xmlns:a16="http://schemas.microsoft.com/office/drawing/2014/main" val="2307878666"/>
                  </a:ext>
                </a:extLst>
              </a:tr>
              <a:tr h="52931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Emotion Score (Top 3 Avg)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160" marR="137160" marT="137160" marB="13716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0.45</a:t>
                      </a:r>
                      <a:endParaRPr lang="en-A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160" marR="137160" marT="137160" marB="137160" anchor="b"/>
                </a:tc>
                <a:extLst>
                  <a:ext uri="{0D108BD9-81ED-4DB2-BD59-A6C34878D82A}">
                    <a16:rowId xmlns:a16="http://schemas.microsoft.com/office/drawing/2014/main" val="4245549705"/>
                  </a:ext>
                </a:extLst>
              </a:tr>
              <a:tr h="529313">
                <a:tc>
                  <a:txBody>
                    <a:bodyPr/>
                    <a:lstStyle/>
                    <a:p>
                      <a:pPr algn="l" fontAlgn="b"/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Psych Safety Index</a:t>
                      </a:r>
                      <a:endParaRPr lang="en-A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160" marR="137160" marT="137160" marB="13716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0.5</a:t>
                      </a:r>
                      <a:endParaRPr lang="en-A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160" marR="137160" marT="137160" marB="137160" anchor="b"/>
                </a:tc>
                <a:extLst>
                  <a:ext uri="{0D108BD9-81ED-4DB2-BD59-A6C34878D82A}">
                    <a16:rowId xmlns:a16="http://schemas.microsoft.com/office/drawing/2014/main" val="381980953"/>
                  </a:ext>
                </a:extLst>
              </a:tr>
              <a:tr h="529313">
                <a:tc>
                  <a:txBody>
                    <a:bodyPr/>
                    <a:lstStyle/>
                    <a:p>
                      <a:pPr algn="l" fontAlgn="b"/>
                      <a:r>
                        <a:rPr lang="en-A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Engagement Index</a:t>
                      </a:r>
                      <a:endParaRPr lang="en-AU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160" marR="137160" marT="137160" marB="13716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0.6</a:t>
                      </a:r>
                      <a:endParaRPr lang="en-AU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160" marR="137160" marT="137160" marB="137160" anchor="b"/>
                </a:tc>
                <a:extLst>
                  <a:ext uri="{0D108BD9-81ED-4DB2-BD59-A6C34878D82A}">
                    <a16:rowId xmlns:a16="http://schemas.microsoft.com/office/drawing/2014/main" val="29957025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81104B1-3420-39B1-6CAE-260061BD26A0}"/>
              </a:ext>
            </a:extLst>
          </p:cNvPr>
          <p:cNvSpPr txBox="1"/>
          <p:nvPr/>
        </p:nvSpPr>
        <p:spPr>
          <a:xfrm>
            <a:off x="4701541" y="1545852"/>
            <a:ext cx="344043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AU" sz="1600" b="1" dirty="0">
                <a:highlight>
                  <a:srgbClr val="FFFF00"/>
                </a:highlight>
              </a:rPr>
              <a:t>Concerned Reporter</a:t>
            </a:r>
          </a:p>
          <a:p>
            <a:pPr>
              <a:spcBef>
                <a:spcPts val="300"/>
              </a:spcBef>
            </a:pPr>
            <a:endParaRPr lang="en-AU" sz="1600" b="1" dirty="0"/>
          </a:p>
          <a:p>
            <a:pPr>
              <a:spcBef>
                <a:spcPts val="300"/>
              </a:spcBef>
            </a:pPr>
            <a:r>
              <a:rPr lang="en-AU" sz="1600" b="1" dirty="0"/>
              <a:t>Analysis of incident report and </a:t>
            </a:r>
            <a:r>
              <a:rPr lang="en-US" sz="1600" b="1" dirty="0"/>
              <a:t>strengths and gaps across the key cultural features: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High on</a:t>
            </a:r>
            <a:r>
              <a:rPr lang="en-US" sz="1600" dirty="0"/>
              <a:t>: Passive voice, hedging terms (signals uncertainty)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Low on</a:t>
            </a:r>
            <a:r>
              <a:rPr lang="en-US" sz="1600" dirty="0"/>
              <a:t>: Corrective action and specificity (signals lack of procedural detail)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Mid-range</a:t>
            </a:r>
            <a:r>
              <a:rPr lang="en-US" sz="1600" dirty="0"/>
              <a:t>: Emotion, psychological safety, and engagement scores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This balanced, slightly hesitant profile aligns with a </a:t>
            </a:r>
            <a:r>
              <a:rPr lang="en-US" sz="1600" b="1" dirty="0"/>
              <a:t>"Medium Psychological Safety" and "Concerned Reporter" persona</a:t>
            </a:r>
            <a:r>
              <a:rPr lang="en-US" sz="1600" dirty="0"/>
              <a:t>.</a:t>
            </a:r>
            <a:endParaRPr lang="en-AU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B1F519-5883-53CA-8417-F1971D980DD0}"/>
              </a:ext>
            </a:extLst>
          </p:cNvPr>
          <p:cNvSpPr txBox="1"/>
          <p:nvPr/>
        </p:nvSpPr>
        <p:spPr>
          <a:xfrm>
            <a:off x="259080" y="1222686"/>
            <a:ext cx="2039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Incident:</a:t>
            </a:r>
          </a:p>
          <a:p>
            <a:r>
              <a:rPr lang="en-AU" dirty="0"/>
              <a:t>Date: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0BBCB7-FB4D-684A-473E-6469401DA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2254D1-D463-B952-6E2F-A88D10AB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46166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B4DA7-22DF-999B-4AA9-18F3DB094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22183-F266-6BD4-73BF-4B38BC197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2" y="108752"/>
            <a:ext cx="12062387" cy="369332"/>
          </a:xfrm>
        </p:spPr>
        <p:txBody>
          <a:bodyPr>
            <a:noAutofit/>
          </a:bodyPr>
          <a:lstStyle/>
          <a:p>
            <a:r>
              <a:rPr lang="en-AU" sz="2800" b="1" dirty="0"/>
              <a:t>Overview of the ‘hybrid’ model– not so-simple example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82B03C-4D1B-75A9-5D87-A863F120D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32" y="543361"/>
            <a:ext cx="12122921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accent5"/>
                </a:solidFill>
              </a:rPr>
              <a:t>“</a:t>
            </a:r>
            <a:r>
              <a:rPr lang="en-US" b="1" dirty="0">
                <a:solidFill>
                  <a:schemeClr val="accent5"/>
                </a:solidFill>
              </a:rPr>
              <a:t>The equipment was inspected following the incident, and corrective measures were taken. The worker noted that similar issues had been raised before but were not escalated.”</a:t>
            </a:r>
            <a:endParaRPr lang="en-US" b="1" i="1" dirty="0">
              <a:solidFill>
                <a:schemeClr val="accent5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FD4EFA4-1158-E84B-5F2A-C886061C4E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222831"/>
              </p:ext>
            </p:extLst>
          </p:nvPr>
        </p:nvGraphicFramePr>
        <p:xfrm>
          <a:off x="1812851" y="1347302"/>
          <a:ext cx="10236717" cy="20574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215874">
                  <a:extLst>
                    <a:ext uri="{9D8B030D-6E8A-4147-A177-3AD203B41FA5}">
                      <a16:colId xmlns:a16="http://schemas.microsoft.com/office/drawing/2014/main" val="3386738514"/>
                    </a:ext>
                  </a:extLst>
                </a:gridCol>
                <a:gridCol w="3775998">
                  <a:extLst>
                    <a:ext uri="{9D8B030D-6E8A-4147-A177-3AD203B41FA5}">
                      <a16:colId xmlns:a16="http://schemas.microsoft.com/office/drawing/2014/main" val="3437428853"/>
                    </a:ext>
                  </a:extLst>
                </a:gridCol>
                <a:gridCol w="3244845">
                  <a:extLst>
                    <a:ext uri="{9D8B030D-6E8A-4147-A177-3AD203B41FA5}">
                      <a16:colId xmlns:a16="http://schemas.microsoft.com/office/drawing/2014/main" val="13606036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sz="11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AU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100" b="1" dirty="0">
                          <a:solidFill>
                            <a:schemeClr val="bg1"/>
                          </a:solidFill>
                        </a:rPr>
                        <a:t>Detected Signal</a:t>
                      </a:r>
                      <a:endParaRPr lang="en-AU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100" b="1" dirty="0">
                          <a:solidFill>
                            <a:schemeClr val="bg1"/>
                          </a:solidFill>
                        </a:rPr>
                        <a:t>Score / Impact</a:t>
                      </a:r>
                      <a:endParaRPr lang="en-AU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519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100" dirty="0"/>
                        <a:t>Hedging terms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None </a:t>
                      </a:r>
                      <a:r>
                        <a:rPr lang="en-US" sz="1100" b="0" dirty="0"/>
                        <a:t>directly (but implied concern)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1458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100" dirty="0"/>
                        <a:t>Passive voice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Indicates low agency (“were taken:, “were not escalated”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380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100" dirty="0"/>
                        <a:t>Specific 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Moderate – provides action detail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~ 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9551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100" dirty="0"/>
                        <a:t>Corrective action 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b="0" dirty="0"/>
                        <a:t>Suggests procedural diligence – (corrective measures were taken)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~  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8906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100" dirty="0"/>
                        <a:t>Average word length (average of 3 fields – incident, proposed corrective action, corrective action taken) – proxy for engagement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formal tone, neutral indicator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 ~ 5.4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979756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4F5B0AA-BCA1-4F7A-9E3D-1B4E42848B8A}"/>
              </a:ext>
            </a:extLst>
          </p:cNvPr>
          <p:cNvSpPr txBox="1"/>
          <p:nvPr/>
        </p:nvSpPr>
        <p:spPr>
          <a:xfrm>
            <a:off x="60532" y="1650208"/>
            <a:ext cx="1534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Hybrid scoring breakdown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704B78-9C21-3452-B6D3-DE6D7C11E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574129"/>
              </p:ext>
            </p:extLst>
          </p:nvPr>
        </p:nvGraphicFramePr>
        <p:xfrm>
          <a:off x="1812851" y="3453299"/>
          <a:ext cx="10196482" cy="161954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203234">
                  <a:extLst>
                    <a:ext uri="{9D8B030D-6E8A-4147-A177-3AD203B41FA5}">
                      <a16:colId xmlns:a16="http://schemas.microsoft.com/office/drawing/2014/main" val="3386738514"/>
                    </a:ext>
                  </a:extLst>
                </a:gridCol>
                <a:gridCol w="3761156">
                  <a:extLst>
                    <a:ext uri="{9D8B030D-6E8A-4147-A177-3AD203B41FA5}">
                      <a16:colId xmlns:a16="http://schemas.microsoft.com/office/drawing/2014/main" val="3437428853"/>
                    </a:ext>
                  </a:extLst>
                </a:gridCol>
                <a:gridCol w="3232092">
                  <a:extLst>
                    <a:ext uri="{9D8B030D-6E8A-4147-A177-3AD203B41FA5}">
                      <a16:colId xmlns:a16="http://schemas.microsoft.com/office/drawing/2014/main" val="1360603642"/>
                    </a:ext>
                  </a:extLst>
                </a:gridCol>
              </a:tblGrid>
              <a:tr h="265499">
                <a:tc>
                  <a:txBody>
                    <a:bodyPr/>
                    <a:lstStyle/>
                    <a:p>
                      <a:r>
                        <a:rPr lang="en-AU" sz="11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AU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100" b="1" dirty="0">
                          <a:solidFill>
                            <a:schemeClr val="bg1"/>
                          </a:solidFill>
                        </a:rPr>
                        <a:t>Detected Signal</a:t>
                      </a:r>
                      <a:endParaRPr lang="en-AU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100" b="1" dirty="0">
                          <a:solidFill>
                            <a:schemeClr val="bg1"/>
                          </a:solidFill>
                        </a:rPr>
                        <a:t>Score / Impact</a:t>
                      </a:r>
                      <a:endParaRPr lang="en-AU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519178"/>
                  </a:ext>
                </a:extLst>
              </a:tr>
              <a:tr h="451347">
                <a:tc>
                  <a:txBody>
                    <a:bodyPr/>
                    <a:lstStyle/>
                    <a:p>
                      <a:r>
                        <a:rPr lang="en-AU" sz="1100" dirty="0"/>
                        <a:t>Dominant emotion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0" dirty="0"/>
                        <a:t>Matches surface tone  detects hope, uncertainty, maybe anxiety, possibly emotional trust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Disappointment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684592"/>
                  </a:ext>
                </a:extLst>
              </a:tr>
              <a:tr h="451347">
                <a:tc>
                  <a:txBody>
                    <a:bodyPr/>
                    <a:lstStyle/>
                    <a:p>
                      <a:r>
                        <a:rPr lang="en-AU" sz="1100" dirty="0"/>
                        <a:t>Average of top 3 emotions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0" dirty="0"/>
                        <a:t>Emotionally rich (affectively clear) – High (Concern, disappointment, fear)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0.72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3581485"/>
                  </a:ext>
                </a:extLst>
              </a:tr>
              <a:tr h="451347">
                <a:tc>
                  <a:txBody>
                    <a:bodyPr/>
                    <a:lstStyle/>
                    <a:p>
                      <a:r>
                        <a:rPr lang="en-AU" sz="1100" dirty="0"/>
                        <a:t>Sentiment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 dirty="0"/>
                        <a:t>Weak signal – model ignored</a:t>
                      </a:r>
                    </a:p>
                    <a:p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Neutral/slightly negative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390172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FBB06FF-31F0-1968-5EC1-8D007FD1B66A}"/>
              </a:ext>
            </a:extLst>
          </p:cNvPr>
          <p:cNvSpPr txBox="1"/>
          <p:nvPr/>
        </p:nvSpPr>
        <p:spPr>
          <a:xfrm>
            <a:off x="60532" y="3503451"/>
            <a:ext cx="18309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Emotion model (</a:t>
            </a:r>
            <a:r>
              <a:rPr lang="en-AU" b="1" dirty="0" err="1"/>
              <a:t>RoBERTa</a:t>
            </a:r>
            <a:r>
              <a:rPr lang="en-AU" b="1" dirty="0"/>
              <a:t>-</a:t>
            </a:r>
          </a:p>
          <a:p>
            <a:r>
              <a:rPr lang="en-AU" b="1" dirty="0" err="1"/>
              <a:t>GoEmotions</a:t>
            </a:r>
            <a:r>
              <a:rPr lang="en-AU" b="1" dirty="0"/>
              <a:t>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9F7A04-DA7E-2B26-B81A-5691F914B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829233"/>
              </p:ext>
            </p:extLst>
          </p:nvPr>
        </p:nvGraphicFramePr>
        <p:xfrm>
          <a:off x="1812852" y="5171588"/>
          <a:ext cx="10196481" cy="1657833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193618">
                  <a:extLst>
                    <a:ext uri="{9D8B030D-6E8A-4147-A177-3AD203B41FA5}">
                      <a16:colId xmlns:a16="http://schemas.microsoft.com/office/drawing/2014/main" val="2838831040"/>
                    </a:ext>
                  </a:extLst>
                </a:gridCol>
                <a:gridCol w="3751536">
                  <a:extLst>
                    <a:ext uri="{9D8B030D-6E8A-4147-A177-3AD203B41FA5}">
                      <a16:colId xmlns:a16="http://schemas.microsoft.com/office/drawing/2014/main" val="555920087"/>
                    </a:ext>
                  </a:extLst>
                </a:gridCol>
                <a:gridCol w="3251327">
                  <a:extLst>
                    <a:ext uri="{9D8B030D-6E8A-4147-A177-3AD203B41FA5}">
                      <a16:colId xmlns:a16="http://schemas.microsoft.com/office/drawing/2014/main" val="195016998"/>
                    </a:ext>
                  </a:extLst>
                </a:gridCol>
              </a:tblGrid>
              <a:tr h="229432">
                <a:tc>
                  <a:txBody>
                    <a:bodyPr/>
                    <a:lstStyle/>
                    <a:p>
                      <a:r>
                        <a:rPr lang="en-AU" sz="1100" b="1" dirty="0">
                          <a:solidFill>
                            <a:schemeClr val="bg1"/>
                          </a:solidFill>
                        </a:rPr>
                        <a:t>Dimension</a:t>
                      </a:r>
                      <a:endParaRPr lang="en-AU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100" b="1" dirty="0">
                          <a:solidFill>
                            <a:schemeClr val="bg1"/>
                          </a:solidFill>
                        </a:rPr>
                        <a:t>Predicted Class</a:t>
                      </a:r>
                      <a:endParaRPr lang="en-AU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100" b="1" dirty="0">
                          <a:solidFill>
                            <a:schemeClr val="bg1"/>
                          </a:solidFill>
                        </a:rPr>
                        <a:t>Rationale</a:t>
                      </a:r>
                      <a:endParaRPr lang="en-AU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367944"/>
                  </a:ext>
                </a:extLst>
              </a:tr>
              <a:tr h="526344">
                <a:tc>
                  <a:txBody>
                    <a:bodyPr/>
                    <a:lstStyle/>
                    <a:p>
                      <a:r>
                        <a:rPr lang="en-AU" sz="1100" b="1" dirty="0"/>
                        <a:t>Psychological Safety</a:t>
                      </a:r>
                      <a:endParaRPr lang="en-AU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b="1" dirty="0"/>
                        <a:t>Medium</a:t>
                      </a:r>
                      <a:endParaRPr lang="en-AU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Trust has been eroded by not withdrawn; historical issues raised/written in report suggests damaged trust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899221"/>
                  </a:ext>
                </a:extLst>
              </a:tr>
              <a:tr h="519504">
                <a:tc>
                  <a:txBody>
                    <a:bodyPr/>
                    <a:lstStyle/>
                    <a:p>
                      <a:r>
                        <a:rPr lang="en-AU" sz="1100" b="1"/>
                        <a:t>Engagement</a:t>
                      </a:r>
                      <a:endParaRPr lang="en-AU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b="1" dirty="0"/>
                        <a:t>High</a:t>
                      </a:r>
                      <a:endParaRPr lang="en-AU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The worker followed process, reported issue again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2115503"/>
                  </a:ext>
                </a:extLst>
              </a:tr>
              <a:tr h="284889">
                <a:tc>
                  <a:txBody>
                    <a:bodyPr/>
                    <a:lstStyle/>
                    <a:p>
                      <a:r>
                        <a:rPr lang="en-AU" sz="1100" b="1" dirty="0"/>
                        <a:t>Persona Match</a:t>
                      </a:r>
                      <a:endParaRPr lang="en-AU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b="1" dirty="0"/>
                        <a:t>Proactive Safety Leader</a:t>
                      </a:r>
                      <a:endParaRPr lang="en-AU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Shows initiative despite cultural barriers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07858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EC4F2E1-58EC-5D91-5324-1BAA28E101A5}"/>
              </a:ext>
            </a:extLst>
          </p:cNvPr>
          <p:cNvSpPr txBox="1"/>
          <p:nvPr/>
        </p:nvSpPr>
        <p:spPr>
          <a:xfrm>
            <a:off x="77625" y="5230722"/>
            <a:ext cx="1937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Classification Result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6B626F-D9F0-FAB6-EA3F-B46C13728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435D97B-860A-9E00-FC09-83D6DFB44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69259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F10DDA0-1DF6-CB63-8FBE-38C324020D2F}"/>
              </a:ext>
            </a:extLst>
          </p:cNvPr>
          <p:cNvSpPr txBox="1">
            <a:spLocks/>
          </p:cNvSpPr>
          <p:nvPr/>
        </p:nvSpPr>
        <p:spPr>
          <a:xfrm>
            <a:off x="60532" y="108752"/>
            <a:ext cx="12062387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b="1" dirty="0"/>
              <a:t>Overview of the ‘hybrid’ model– not so-simple example (cont’d)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59326D6-A1B8-D7BF-F3B6-9722ACAAC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32" y="543361"/>
            <a:ext cx="12122921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accent5"/>
                </a:solidFill>
              </a:rPr>
              <a:t>“</a:t>
            </a:r>
            <a:r>
              <a:rPr lang="en-US" b="1" dirty="0">
                <a:solidFill>
                  <a:schemeClr val="accent5"/>
                </a:solidFill>
              </a:rPr>
              <a:t>The equipment was inspected following the incident, and corrective measures were taken. The worker noted that similar issues had been raised before but were not escalated.”</a:t>
            </a:r>
            <a:endParaRPr lang="en-US" b="1" i="1" dirty="0">
              <a:solidFill>
                <a:schemeClr val="accent5"/>
              </a:solidFill>
            </a:endParaRPr>
          </a:p>
        </p:txBody>
      </p:sp>
      <p:pic>
        <p:nvPicPr>
          <p:cNvPr id="7" name="Picture 6" descr="A diagram of a safety leader&#10;&#10;AI-generated content may be incorrect.">
            <a:extLst>
              <a:ext uri="{FF2B5EF4-FFF2-40B4-BE49-F238E27FC236}">
                <a16:creationId xmlns:a16="http://schemas.microsoft.com/office/drawing/2014/main" id="{6C98F59F-5441-3F79-50EB-2F3A8FB50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4822"/>
            <a:ext cx="4130676" cy="37840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AFFF13-CF7A-F9B7-CFA6-22E146927159}"/>
              </a:ext>
            </a:extLst>
          </p:cNvPr>
          <p:cNvSpPr txBox="1"/>
          <p:nvPr/>
        </p:nvSpPr>
        <p:spPr>
          <a:xfrm>
            <a:off x="7083188" y="4284596"/>
            <a:ext cx="5138381" cy="250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b="1" dirty="0"/>
              <a:t>Moderate to Low on</a:t>
            </a:r>
            <a:r>
              <a:rPr lang="en-US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Passive Voice</a:t>
            </a:r>
            <a:r>
              <a:rPr lang="en-US" sz="1400" dirty="0"/>
              <a:t> – slight use (“were taken”), signals some detachment or reporting habit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Specificity Score</a:t>
            </a:r>
            <a:r>
              <a:rPr lang="en-US" sz="1400" dirty="0"/>
              <a:t> – moderate (0.5), provides some action detail but not highly granular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Hedging Terms</a:t>
            </a:r>
            <a:r>
              <a:rPr lang="en-US" sz="1400" dirty="0"/>
              <a:t> – none used, indicating strong conviction or confidence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Psychological Safety</a:t>
            </a:r>
            <a:r>
              <a:rPr lang="en-US" sz="1400" dirty="0"/>
              <a:t> – scored Medium, suggesting lingering trust concerns due to unresolved prior issues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This balanced, slightly hesitant profile aligns with a </a:t>
            </a:r>
            <a:r>
              <a:rPr lang="en-US" sz="1400" b="1" dirty="0"/>
              <a:t>"Medium Psychological Safety" and "Concerned Reporter" persona</a:t>
            </a:r>
            <a:r>
              <a:rPr lang="en-US" sz="1400" dirty="0"/>
              <a:t>.</a:t>
            </a:r>
            <a:endParaRPr lang="en-AU" sz="14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4B49A55-D467-1ABA-E3BE-1A591D6CC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795648"/>
              </p:ext>
            </p:extLst>
          </p:nvPr>
        </p:nvGraphicFramePr>
        <p:xfrm>
          <a:off x="4024894" y="3969501"/>
          <a:ext cx="2601094" cy="2815780"/>
        </p:xfrm>
        <a:graphic>
          <a:graphicData uri="http://schemas.openxmlformats.org/drawingml/2006/table">
            <a:tbl>
              <a:tblPr/>
              <a:tblGrid>
                <a:gridCol w="1604808">
                  <a:extLst>
                    <a:ext uri="{9D8B030D-6E8A-4147-A177-3AD203B41FA5}">
                      <a16:colId xmlns:a16="http://schemas.microsoft.com/office/drawing/2014/main" val="2651310709"/>
                    </a:ext>
                  </a:extLst>
                </a:gridCol>
                <a:gridCol w="996286">
                  <a:extLst>
                    <a:ext uri="{9D8B030D-6E8A-4147-A177-3AD203B41FA5}">
                      <a16:colId xmlns:a16="http://schemas.microsoft.com/office/drawing/2014/main" val="3049467750"/>
                    </a:ext>
                  </a:extLst>
                </a:gridCol>
              </a:tblGrid>
              <a:tr h="253355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Feature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Score / Value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905394"/>
                  </a:ext>
                </a:extLst>
              </a:tr>
              <a:tr h="253355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Hedging Terms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729890"/>
                  </a:ext>
                </a:extLst>
              </a:tr>
              <a:tr h="253355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Passive Voice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824202"/>
                  </a:ext>
                </a:extLst>
              </a:tr>
              <a:tr h="253355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Specificity Score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761998"/>
                  </a:ext>
                </a:extLst>
              </a:tr>
              <a:tr h="253355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Action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942006"/>
                  </a:ext>
                </a:extLst>
              </a:tr>
              <a:tr h="253355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Word Length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816601"/>
                  </a:ext>
                </a:extLst>
              </a:tr>
              <a:tr h="41729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Emotion Score </a:t>
                      </a:r>
                    </a:p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(Top 3 Avg)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0.45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646502"/>
                  </a:ext>
                </a:extLst>
              </a:tr>
              <a:tr h="41729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Psych Safety Index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981340"/>
                  </a:ext>
                </a:extLst>
              </a:tr>
              <a:tr h="41729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Engagement Index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49024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0AAAD4B-E682-8EC6-FDA1-EA1A24280A04}"/>
              </a:ext>
            </a:extLst>
          </p:cNvPr>
          <p:cNvSpPr txBox="1"/>
          <p:nvPr/>
        </p:nvSpPr>
        <p:spPr>
          <a:xfrm>
            <a:off x="4185255" y="1433129"/>
            <a:ext cx="2601094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AU" sz="1800" b="1" dirty="0">
                <a:solidFill>
                  <a:schemeClr val="bg1"/>
                </a:solidFill>
                <a:highlight>
                  <a:srgbClr val="008080"/>
                </a:highlight>
              </a:rPr>
              <a:t>Proactive Safety Leader</a:t>
            </a:r>
          </a:p>
          <a:p>
            <a:pPr>
              <a:spcBef>
                <a:spcPts val="300"/>
              </a:spcBef>
            </a:pPr>
            <a:r>
              <a:rPr lang="en-US" sz="1800" dirty="0"/>
              <a:t>This report reflects a clear, confident reporting style with procedural detail and emotional clarity.</a:t>
            </a:r>
            <a:endParaRPr lang="en-AU" sz="1800" b="1" dirty="0"/>
          </a:p>
          <a:p>
            <a:pPr>
              <a:spcBef>
                <a:spcPts val="300"/>
              </a:spcBef>
            </a:pPr>
            <a:endParaRPr 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D6DDB4-0630-D38D-9DB8-B3C45C9FA195}"/>
              </a:ext>
            </a:extLst>
          </p:cNvPr>
          <p:cNvSpPr txBox="1"/>
          <p:nvPr/>
        </p:nvSpPr>
        <p:spPr>
          <a:xfrm>
            <a:off x="7083188" y="1822383"/>
            <a:ext cx="503973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AU" sz="1400" b="1" dirty="0"/>
              <a:t>Analysis of incident report and </a:t>
            </a:r>
            <a:r>
              <a:rPr lang="en-US" sz="1400" b="1" dirty="0"/>
              <a:t>strengths and gaps across the key cultural features:</a:t>
            </a:r>
          </a:p>
          <a:p>
            <a:pPr>
              <a:buNone/>
            </a:pPr>
            <a:r>
              <a:rPr lang="en-US" sz="1400" b="1" dirty="0"/>
              <a:t>High on</a:t>
            </a:r>
            <a:r>
              <a:rPr lang="en-US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Engagement Index</a:t>
            </a:r>
            <a:r>
              <a:rPr lang="en-US" sz="1400" dirty="0"/>
              <a:t> (0.6) – strong procedural follow-through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Corrective Action</a:t>
            </a:r>
            <a:r>
              <a:rPr lang="en-US" sz="1400" dirty="0"/>
              <a:t> – multiple steps taken to resolve the issue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Emotion Score (Top 3 Avg)</a:t>
            </a:r>
            <a:r>
              <a:rPr lang="en-US" sz="1400" dirty="0"/>
              <a:t> – affective clarity with concern, disappointment, and fear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Word Length</a:t>
            </a:r>
            <a:r>
              <a:rPr lang="en-US" sz="1400" dirty="0"/>
              <a:t> – longer entries suggesting care and professionalism</a:t>
            </a:r>
            <a:endParaRPr lang="en-AU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5D9DE5-2185-4FCE-202C-04E0AB848BDD}"/>
              </a:ext>
            </a:extLst>
          </p:cNvPr>
          <p:cNvSpPr txBox="1"/>
          <p:nvPr/>
        </p:nvSpPr>
        <p:spPr>
          <a:xfrm>
            <a:off x="69081" y="1433129"/>
            <a:ext cx="2039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Incident:</a:t>
            </a:r>
          </a:p>
          <a:p>
            <a:r>
              <a:rPr lang="en-AU" dirty="0"/>
              <a:t>Date: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95CE55-40F6-6735-2C8B-A8B7345E2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D143E5-3DEE-BE72-A7B9-DFF3B1163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07931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0CD5B-732A-CE3F-6233-09897101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7A11DB-57A0-F705-84B5-C03438AD2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Post project reflection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DA3823-4587-13A5-4667-C91F5D888FD4}"/>
              </a:ext>
            </a:extLst>
          </p:cNvPr>
          <p:cNvSpPr txBox="1"/>
          <p:nvPr/>
        </p:nvSpPr>
        <p:spPr>
          <a:xfrm>
            <a:off x="1350682" y="4870824"/>
            <a:ext cx="10005951" cy="1458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1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Lessons learnt</a:t>
            </a:r>
          </a:p>
          <a:p>
            <a:pPr marL="0" lvl="1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Unexpected insights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49AC09-09C7-7DF5-626C-5B1097B73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BEFCEC-A383-7B53-EA1E-641F2F3DE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129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D1E786-004B-405B-D085-70BF09939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F9D3E76-5A51-BC3D-2A3F-876A92951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038647-94A2-FA9C-27A7-5887CFAB8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572656-6A7C-53D6-D858-3B4FB42EC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A411F0-E0E4-E16D-E47E-825A20DBA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AC5002-84CD-C91A-5567-AE2964A9A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Lessons learned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DBB746A-2F4D-1263-F493-10CCF62DDE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2783639"/>
              </p:ext>
            </p:extLst>
          </p:nvPr>
        </p:nvGraphicFramePr>
        <p:xfrm>
          <a:off x="644745" y="1882074"/>
          <a:ext cx="10902509" cy="4431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D6543-EE1E-80BC-99ED-FDF7253F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34C27C-F6CF-1993-DC5E-BA01929F3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47416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152D74-1BD5-AA63-35F2-43B210181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Unexpected insights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9F6040-351F-7F0E-3856-20EDDF3936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123815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3654FA-787C-5197-2C4A-72F87E222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47F5D7-2831-4EC5-C50D-71DF57BFF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7531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1558B4-E99A-DAE1-FA84-C4BB87AB3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63" y="98659"/>
            <a:ext cx="4977976" cy="1454051"/>
          </a:xfrm>
        </p:spPr>
        <p:txBody>
          <a:bodyPr>
            <a:normAutofit/>
          </a:bodyPr>
          <a:lstStyle/>
          <a:p>
            <a:r>
              <a:rPr lang="en-AU" sz="3600" dirty="0">
                <a:solidFill>
                  <a:schemeClr val="tx2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FEABB-E68B-0A32-AB7B-B8157E8C4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63" y="2544328"/>
            <a:ext cx="7209775" cy="3639289"/>
          </a:xfrm>
        </p:spPr>
        <p:txBody>
          <a:bodyPr anchor="ctr">
            <a:noAutofit/>
          </a:bodyPr>
          <a:lstStyle/>
          <a:p>
            <a:pPr marL="228600">
              <a:spcAft>
                <a:spcPts val="800"/>
              </a:spcAft>
              <a:buNone/>
            </a:pP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Blei, D. M., Ng, A. Y., &amp; Jordan, M. I. (2003). </a:t>
            </a:r>
            <a:r>
              <a:rPr lang="en-AU" sz="1200" i="1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Latent Dirichlet Allocation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AU" sz="1200" i="1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Journal of Machine Learning Research, 3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993–1022.</a:t>
            </a:r>
            <a:endParaRPr lang="en-AU" sz="12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>
              <a:spcAft>
                <a:spcPts val="800"/>
              </a:spcAft>
              <a:buNone/>
            </a:pP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Demszky, D et al. </a:t>
            </a:r>
            <a:r>
              <a:rPr lang="en-AU" sz="1200" i="1" kern="1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GoEmotions</a:t>
            </a:r>
            <a:r>
              <a:rPr lang="en-AU" sz="1200" i="1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 Dataset of Fine-Grained Emotions.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Computer Science submission, submitted 1 May 2020. </a:t>
            </a:r>
            <a:r>
              <a:rPr lang="en-AU" sz="1200" u="sng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arXiv:2005.00547</a:t>
            </a:r>
            <a:r>
              <a:rPr lang="en-AU" sz="1200" b="1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https://doi.org/10.48550/arXiv.2005.00547</a:t>
            </a:r>
            <a:endParaRPr lang="en-AU" sz="12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>
              <a:spcAft>
                <a:spcPts val="800"/>
              </a:spcAft>
              <a:buNone/>
            </a:pP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Doshi-Velez, F., &amp; Kim, B. (2017). </a:t>
            </a:r>
            <a:r>
              <a:rPr lang="en-AU" sz="1200" i="1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Towards a rigorous science of interpretable machine learning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 </a:t>
            </a:r>
            <a:r>
              <a:rPr lang="en-AU" sz="1200" i="1" kern="1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arXiv</a:t>
            </a:r>
            <a:r>
              <a:rPr lang="en-AU" sz="1200" i="1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preprint arXiv:1702.08608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AU" sz="12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>
              <a:spcAft>
                <a:spcPts val="800"/>
              </a:spcAft>
              <a:buNone/>
            </a:pP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Edmondson, A. C. (1999). </a:t>
            </a:r>
            <a:r>
              <a:rPr lang="en-AU" sz="1200" i="1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Psychological safety and learning </a:t>
            </a:r>
            <a:r>
              <a:rPr lang="en-AU" sz="1200" i="1" kern="1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behavior</a:t>
            </a:r>
            <a:r>
              <a:rPr lang="en-AU" sz="1200" i="1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work teams.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AU" sz="1200" i="1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Administrative Science Quarterly, 44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(2), 350–383. </a:t>
            </a:r>
            <a:r>
              <a:rPr lang="en-AU" sz="1200" u="sng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https://doi.org/10.2307/2666999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AU" sz="12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>
              <a:spcAft>
                <a:spcPts val="800"/>
              </a:spcAft>
              <a:buNone/>
            </a:pP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Frazier, M. L., </a:t>
            </a:r>
            <a:r>
              <a:rPr lang="en-AU" sz="1200" kern="1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Fainshmidt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S., Klinger, R. L., </a:t>
            </a:r>
            <a:r>
              <a:rPr lang="en-AU" sz="1200" kern="1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Pezeshkan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A., &amp; </a:t>
            </a:r>
            <a:r>
              <a:rPr lang="en-AU" sz="1200" kern="1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Vracheva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V. (2017). </a:t>
            </a:r>
            <a:r>
              <a:rPr lang="en-AU" sz="1200" i="1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Psychological safety: A meta-analytic review and extensio</a:t>
            </a:r>
            <a:r>
              <a:rPr lang="en-AU" sz="1200" b="1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AU" sz="1200" i="1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Personnel Psychology, 70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(1), 113–165. </a:t>
            </a:r>
            <a:r>
              <a:rPr lang="en-AU" sz="1200" u="sng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https://doi.org/10.1111/peps.12183</a:t>
            </a:r>
            <a:endParaRPr lang="en-AU" sz="12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>
              <a:spcAft>
                <a:spcPts val="800"/>
              </a:spcAft>
              <a:buNone/>
            </a:pP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Hutto, C. J., &amp; Gilbert, E. (2014). </a:t>
            </a:r>
            <a:r>
              <a:rPr lang="en-AU" sz="1200" i="1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VADER: A Parsimonious Rule-based Model for Sentiment Analysis of Social Media Text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AU" sz="1200" i="1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Proceedings of the 8th International AAAI Conference on Weblogs and Social Media (ICWSM-14)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AU" sz="12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>
              <a:spcAft>
                <a:spcPts val="800"/>
              </a:spcAft>
              <a:buNone/>
            </a:pP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Filho, AP (November 2012). </a:t>
            </a:r>
            <a:r>
              <a:rPr lang="en-AU" sz="1200" i="1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Safety Culture Maturity and Risk Management Maturity in Industrial Organisations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Proceedings of the Conference: International Conference on Industrial Engineering and Operations Management Portugal</a:t>
            </a:r>
            <a:endParaRPr lang="en-AU" sz="12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>
              <a:spcAft>
                <a:spcPts val="800"/>
              </a:spcAft>
              <a:buNone/>
            </a:pPr>
            <a:r>
              <a:rPr lang="en-AU" sz="1200" kern="1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Safework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Australia </a:t>
            </a:r>
            <a:r>
              <a:rPr lang="en-AU" sz="1200" u="sng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6"/>
              </a:rPr>
              <a:t>Welcome | Safe Work Australia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Accessed 3 April 2025.</a:t>
            </a:r>
            <a:endParaRPr lang="en-AU" sz="12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Work health and safety data reporting. </a:t>
            </a:r>
            <a:r>
              <a:rPr lang="en-AU" sz="1200" u="sng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7"/>
              </a:rPr>
              <a:t>Work health and safety data reporting | </a:t>
            </a:r>
            <a:r>
              <a:rPr lang="en-AU" sz="1200" u="sng" kern="1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7"/>
              </a:rPr>
              <a:t>dataswa</a:t>
            </a:r>
            <a:r>
              <a:rPr lang="en-AU" sz="12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Accessed 15 April 2025.</a:t>
            </a:r>
            <a:endParaRPr lang="en-AU" sz="12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AU" sz="1200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Books">
            <a:extLst>
              <a:ext uri="{FF2B5EF4-FFF2-40B4-BE49-F238E27FC236}">
                <a16:creationId xmlns:a16="http://schemas.microsoft.com/office/drawing/2014/main" id="{E8C37C9C-E3C2-59A8-7ACD-9FE23F5BC6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AF304-0169-E10E-FE43-563FF5425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AU"/>
              <a:t>K Foster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F122D-46D3-3561-7CF7-ACED74D4F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7325A05-8D1E-408A-9271-307571432256}" type="slidenum">
              <a:rPr lang="en-AU" smtClean="0"/>
              <a:pPr>
                <a:spcAft>
                  <a:spcPts val="600"/>
                </a:spcAft>
              </a:pPr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05501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D786D3-2B5A-0762-BBDB-FC264DAE7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EBAB0FA-9A3A-DBB2-A9A2-88BC88D8C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A57D85-5FA6-8FCD-91F1-42358644C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3CE4DC-BC5B-A519-8C8A-989684A08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482BD6-2522-92CA-298C-459C9301B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4228EB-C42C-A55F-EE1B-202BE7381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85356A-E037-CBBA-C724-2D1290AE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8E7A4-A270-C46A-52E2-1E2CE18D3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6383A-143B-5D76-655A-E8ED79ECB4C2}"/>
              </a:ext>
            </a:extLst>
          </p:cNvPr>
          <p:cNvSpPr txBox="1"/>
          <p:nvPr/>
        </p:nvSpPr>
        <p:spPr>
          <a:xfrm>
            <a:off x="1350682" y="4870824"/>
            <a:ext cx="10005951" cy="1458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1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you!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320F8-BCD9-9CD0-DDB5-4EA5E058E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K Foster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1529C-7028-D8A2-1852-B8E1F9BCF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5A05-8D1E-408A-9271-307571432256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834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3514</TotalTime>
  <Words>6590</Words>
  <Application>Microsoft Office PowerPoint</Application>
  <PresentationFormat>Widescreen</PresentationFormat>
  <Paragraphs>779</Paragraphs>
  <Slides>37</Slides>
  <Notes>14</Notes>
  <HiddenSlides>10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9" baseType="lpstr">
      <vt:lpstr>Aptos</vt:lpstr>
      <vt:lpstr>Aptos Display</vt:lpstr>
      <vt:lpstr>Aptos Narrow</vt:lpstr>
      <vt:lpstr>Arial</vt:lpstr>
      <vt:lpstr>Arial Unicode MS</vt:lpstr>
      <vt:lpstr>Calibri</vt:lpstr>
      <vt:lpstr>Courier New</vt:lpstr>
      <vt:lpstr>Segoe UI Emoji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Culture risk and linguistic signals</vt:lpstr>
      <vt:lpstr>Business value</vt:lpstr>
      <vt:lpstr>Language reveals culture</vt:lpstr>
      <vt:lpstr>Challenges </vt:lpstr>
      <vt:lpstr>Estimated benefits</vt:lpstr>
      <vt:lpstr>Estimated costs</vt:lpstr>
      <vt:lpstr>Overview of the model and prototyping phases</vt:lpstr>
      <vt:lpstr>Key stages of development</vt:lpstr>
      <vt:lpstr>Synthetic data and exemplars (Stages 1 and 2)</vt:lpstr>
      <vt:lpstr>Engineering, modelling and refinement (Stages 3 – 5)</vt:lpstr>
      <vt:lpstr>PowerPoint Presentation</vt:lpstr>
      <vt:lpstr>Feature engineering</vt:lpstr>
      <vt:lpstr>Feature Engineering</vt:lpstr>
      <vt:lpstr>PowerPoint Presentation</vt:lpstr>
      <vt:lpstr>PowerPoint Presentation</vt:lpstr>
      <vt:lpstr>PowerPoint Presentation</vt:lpstr>
      <vt:lpstr>Psychological safety calculations </vt:lpstr>
      <vt:lpstr>Do the categorising of language markers  demonstrate variation in language?  </vt:lpstr>
      <vt:lpstr>Overview of key metrics</vt:lpstr>
      <vt:lpstr>Demonstrating reporting -  psychological risk index features </vt:lpstr>
      <vt:lpstr>Why use personas? </vt:lpstr>
      <vt:lpstr>Sidenote: We think about labels differently in the workplace</vt:lpstr>
      <vt:lpstr>Personas are not a fixed class – they exhibit multiple combinations. </vt:lpstr>
      <vt:lpstr>PowerPoint Presentation</vt:lpstr>
      <vt:lpstr>Prediction accuracy of model</vt:lpstr>
      <vt:lpstr>SHAP value – overall feature impact</vt:lpstr>
      <vt:lpstr>Overview of the ‘hybrid’ model – simple example</vt:lpstr>
      <vt:lpstr>PowerPoint Presentation</vt:lpstr>
      <vt:lpstr>Overview of the ‘hybrid’ model– not so-simple example</vt:lpstr>
      <vt:lpstr>PowerPoint Presentation</vt:lpstr>
      <vt:lpstr>Post project reflection</vt:lpstr>
      <vt:lpstr>Lessons learned</vt:lpstr>
      <vt:lpstr>Unexpected insights</vt:lpstr>
      <vt:lpstr>References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kristen foster</dc:creator>
  <cp:lastModifiedBy>kristen foster</cp:lastModifiedBy>
  <cp:revision>4</cp:revision>
  <dcterms:created xsi:type="dcterms:W3CDTF">2025-05-07T03:15:52Z</dcterms:created>
  <dcterms:modified xsi:type="dcterms:W3CDTF">2025-06-11T22:33:40Z</dcterms:modified>
</cp:coreProperties>
</file>